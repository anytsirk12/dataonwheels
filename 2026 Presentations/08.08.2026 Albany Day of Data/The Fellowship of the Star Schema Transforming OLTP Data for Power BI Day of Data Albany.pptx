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  <p:sldMasterId id="2147483722" r:id="rId2"/>
  </p:sldMasterIdLst>
  <p:notesMasterIdLst>
    <p:notesMasterId r:id="rId22"/>
  </p:notesMasterIdLst>
  <p:sldIdLst>
    <p:sldId id="299" r:id="rId3"/>
    <p:sldId id="300" r:id="rId4"/>
    <p:sldId id="256" r:id="rId5"/>
    <p:sldId id="399" r:id="rId6"/>
    <p:sldId id="401" r:id="rId7"/>
    <p:sldId id="400" r:id="rId8"/>
    <p:sldId id="402" r:id="rId9"/>
    <p:sldId id="2147482362" r:id="rId10"/>
    <p:sldId id="392" r:id="rId11"/>
    <p:sldId id="393" r:id="rId12"/>
    <p:sldId id="404" r:id="rId13"/>
    <p:sldId id="405" r:id="rId14"/>
    <p:sldId id="394" r:id="rId15"/>
    <p:sldId id="398" r:id="rId16"/>
    <p:sldId id="406" r:id="rId17"/>
    <p:sldId id="2147482363" r:id="rId18"/>
    <p:sldId id="403" r:id="rId19"/>
    <p:sldId id="396" r:id="rId20"/>
    <p:sldId id="2147482361" r:id="rId21"/>
  </p:sldIdLst>
  <p:sldSz cx="12192000" cy="6858000"/>
  <p:notesSz cx="6858000" cy="9144000"/>
  <p:custShowLst>
    <p:custShow name="Custom Show 1" id="0">
      <p:sldLst>
        <p:sld r:id="rId3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01DF2A-69A2-4DA6-9C91-0C7C8ADAAF13}" v="1" dt="2026-08-08T14:29:53.4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95884" autoAdjust="0"/>
  </p:normalViewPr>
  <p:slideViewPr>
    <p:cSldViewPr snapToGrid="0">
      <p:cViewPr varScale="1">
        <p:scale>
          <a:sx n="93" d="100"/>
          <a:sy n="93" d="100"/>
        </p:scale>
        <p:origin x="434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yna Ferris" userId="86aeac9f-971e-413b-9f78-ace434bd0a60" providerId="ADAL" clId="{BB1FBCEE-720A-4BC8-B896-5F1AD7000908}"/>
    <pc:docChg chg="undo custSel addSld delSld modSld sldOrd">
      <pc:chgData name="Kristyna Ferris" userId="86aeac9f-971e-413b-9f78-ace434bd0a60" providerId="ADAL" clId="{BB1FBCEE-720A-4BC8-B896-5F1AD7000908}" dt="2026-08-08T14:29:53.480" v="1106"/>
      <pc:docMkLst>
        <pc:docMk/>
      </pc:docMkLst>
      <pc:sldChg chg="add">
        <pc:chgData name="Kristyna Ferris" userId="86aeac9f-971e-413b-9f78-ace434bd0a60" providerId="ADAL" clId="{BB1FBCEE-720A-4BC8-B896-5F1AD7000908}" dt="2026-08-08T14:29:53.480" v="1106"/>
        <pc:sldMkLst>
          <pc:docMk/>
          <pc:sldMk cId="983066425" sldId="25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hyperlink" Target="https://dataonwheels.wordpress.com/" TargetMode="External"/><Relationship Id="rId5" Type="http://schemas.openxmlformats.org/officeDocument/2006/relationships/image" Target="../media/image24.svg"/><Relationship Id="rId4" Type="http://schemas.microsoft.com/office/2007/relationships/hdphoto" Target="../media/hdphoto1.wdp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dataonwheels.wordpress.com/" TargetMode="External"/><Relationship Id="rId1" Type="http://schemas.openxmlformats.org/officeDocument/2006/relationships/image" Target="../media/image22.svg"/><Relationship Id="rId5" Type="http://schemas.openxmlformats.org/officeDocument/2006/relationships/image" Target="../media/image24.svg"/><Relationship Id="rId4" Type="http://schemas.microsoft.com/office/2007/relationships/hdphoto" Target="../media/hdphoto1.wdp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1C9186-53B8-48DE-BF73-99C92B55F469}" type="doc">
      <dgm:prSet loTypeId="urn:microsoft.com/office/officeart/2005/8/layout/vList3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A741F06-3CEC-4081-A5C1-4646B2999E0E}">
      <dgm:prSet custT="1"/>
      <dgm:spPr/>
      <dgm:t>
        <a:bodyPr anchor="ctr"/>
        <a:lstStyle/>
        <a:p>
          <a:pPr algn="r"/>
          <a:r>
            <a:rPr lang="en-US" sz="2400" dirty="0"/>
            <a:t>     </a:t>
          </a:r>
          <a:r>
            <a:rPr lang="en-US" sz="2000" dirty="0"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https://dataonwheels.wordpress.com/</a:t>
          </a:r>
          <a:endParaRPr lang="en-US" sz="2400" dirty="0"/>
        </a:p>
      </dgm:t>
    </dgm:pt>
    <dgm:pt modelId="{CA9E987D-4CED-408C-8214-EB14792CAD7A}" type="parTrans" cxnId="{F1615DFE-2AC1-40E3-95A7-719EEB961071}">
      <dgm:prSet/>
      <dgm:spPr/>
      <dgm:t>
        <a:bodyPr/>
        <a:lstStyle/>
        <a:p>
          <a:endParaRPr lang="en-US"/>
        </a:p>
      </dgm:t>
    </dgm:pt>
    <dgm:pt modelId="{3F65FFCB-2E14-484E-8FC4-3EF9E02677A5}" type="sibTrans" cxnId="{F1615DFE-2AC1-40E3-95A7-719EEB961071}">
      <dgm:prSet/>
      <dgm:spPr/>
      <dgm:t>
        <a:bodyPr/>
        <a:lstStyle/>
        <a:p>
          <a:endParaRPr lang="en-US"/>
        </a:p>
      </dgm:t>
    </dgm:pt>
    <dgm:pt modelId="{11D0A9B0-4F99-450C-A393-AAD54CC7D57B}">
      <dgm:prSet custT="1"/>
      <dgm:spPr/>
      <dgm:t>
        <a:bodyPr anchor="ctr"/>
        <a:lstStyle/>
        <a:p>
          <a:pPr algn="r"/>
          <a:r>
            <a:rPr lang="en-US" sz="2800" dirty="0"/>
            <a:t>   kristyna@dataonwheels.com</a:t>
          </a:r>
        </a:p>
      </dgm:t>
    </dgm:pt>
    <dgm:pt modelId="{D41CEB21-EBD6-47BB-93D7-B72EFBAB65B5}" type="parTrans" cxnId="{3F5EFE0B-4E51-45B0-B616-45D1E0AAD1A6}">
      <dgm:prSet/>
      <dgm:spPr/>
      <dgm:t>
        <a:bodyPr/>
        <a:lstStyle/>
        <a:p>
          <a:endParaRPr lang="en-US"/>
        </a:p>
      </dgm:t>
    </dgm:pt>
    <dgm:pt modelId="{E26448A3-5BA9-4D94-ACDC-6F845B6978B8}" type="sibTrans" cxnId="{3F5EFE0B-4E51-45B0-B616-45D1E0AAD1A6}">
      <dgm:prSet/>
      <dgm:spPr/>
      <dgm:t>
        <a:bodyPr/>
        <a:lstStyle/>
        <a:p>
          <a:endParaRPr lang="en-US"/>
        </a:p>
      </dgm:t>
    </dgm:pt>
    <dgm:pt modelId="{361231F2-7620-401E-B7B2-504A39FE9428}">
      <dgm:prSet custT="1"/>
      <dgm:spPr/>
      <dgm:t>
        <a:bodyPr/>
        <a:lstStyle/>
        <a:p>
          <a:r>
            <a:rPr lang="en-US" sz="2800" dirty="0"/>
            <a:t>@data_dragoness</a:t>
          </a:r>
        </a:p>
      </dgm:t>
    </dgm:pt>
    <dgm:pt modelId="{B6BE5CFA-0405-4CA0-A317-68124E78F770}" type="parTrans" cxnId="{FA4AFA78-33A1-4D5C-A316-CC74E84CAF36}">
      <dgm:prSet/>
      <dgm:spPr/>
      <dgm:t>
        <a:bodyPr/>
        <a:lstStyle/>
        <a:p>
          <a:endParaRPr lang="en-US"/>
        </a:p>
      </dgm:t>
    </dgm:pt>
    <dgm:pt modelId="{A2F560F2-8FB5-4EF1-93CC-39928A0172E4}" type="sibTrans" cxnId="{FA4AFA78-33A1-4D5C-A316-CC74E84CAF36}">
      <dgm:prSet/>
      <dgm:spPr/>
      <dgm:t>
        <a:bodyPr/>
        <a:lstStyle/>
        <a:p>
          <a:endParaRPr lang="en-US"/>
        </a:p>
      </dgm:t>
    </dgm:pt>
    <dgm:pt modelId="{C08BFA66-9B75-4031-B345-700AC29B8191}" type="pres">
      <dgm:prSet presAssocID="{831C9186-53B8-48DE-BF73-99C92B55F469}" presName="linearFlow" presStyleCnt="0">
        <dgm:presLayoutVars>
          <dgm:dir/>
          <dgm:resizeHandles val="exact"/>
        </dgm:presLayoutVars>
      </dgm:prSet>
      <dgm:spPr/>
    </dgm:pt>
    <dgm:pt modelId="{BC29B2E5-8B22-4FD5-95F5-9B2717FBFF02}" type="pres">
      <dgm:prSet presAssocID="{361231F2-7620-401E-B7B2-504A39FE9428}" presName="composite" presStyleCnt="0"/>
      <dgm:spPr/>
    </dgm:pt>
    <dgm:pt modelId="{90975B01-8C93-40D1-9B05-BEEC17814EE0}" type="pres">
      <dgm:prSet presAssocID="{361231F2-7620-401E-B7B2-504A39FE9428}" presName="imgShp" presStyleLbl="fgImgPlace1" presStyleIdx="0" presStyleCnt="3" custLinFactX="-13850" custLinFactNeighborX="-100000" custLinFactNeighborY="298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arrow outline"/>
        </a:ext>
      </dgm:extLst>
    </dgm:pt>
    <dgm:pt modelId="{98D19BCF-6FD4-4E0D-A5EB-2EFCE077C912}" type="pres">
      <dgm:prSet presAssocID="{361231F2-7620-401E-B7B2-504A39FE9428}" presName="txShp" presStyleLbl="node1" presStyleIdx="0" presStyleCnt="3" custScaleX="150376" custLinFactNeighborX="899" custLinFactNeighborY="10665">
        <dgm:presLayoutVars>
          <dgm:bulletEnabled val="1"/>
        </dgm:presLayoutVars>
      </dgm:prSet>
      <dgm:spPr/>
    </dgm:pt>
    <dgm:pt modelId="{7F645754-F307-424E-975B-0EE5BEB2BB9A}" type="pres">
      <dgm:prSet presAssocID="{A2F560F2-8FB5-4EF1-93CC-39928A0172E4}" presName="spacing" presStyleCnt="0"/>
      <dgm:spPr/>
    </dgm:pt>
    <dgm:pt modelId="{8C18EA9B-8166-4E2E-96A8-0F5658B698BD}" type="pres">
      <dgm:prSet presAssocID="{1A741F06-3CEC-4081-A5C1-4646B2999E0E}" presName="composite" presStyleCnt="0"/>
      <dgm:spPr/>
    </dgm:pt>
    <dgm:pt modelId="{9C365CB5-B72D-40DB-8732-528E8FDA5750}" type="pres">
      <dgm:prSet presAssocID="{1A741F06-3CEC-4081-A5C1-4646B2999E0E}" presName="imgShp" presStyleLbl="fgImgPlace1" presStyleIdx="1" presStyleCnt="3" custScaleX="80563" custScaleY="71874" custLinFactNeighborX="-19334" custLinFactNeighborY="-524"/>
      <dgm:spPr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/>
          <a:stretch>
            <a:fillRect t="-6000" b="-6000"/>
          </a:stretch>
        </a:blipFill>
      </dgm:spPr>
    </dgm:pt>
    <dgm:pt modelId="{51BD5739-4267-4BED-BB3F-56D801D622EA}" type="pres">
      <dgm:prSet presAssocID="{1A741F06-3CEC-4081-A5C1-4646B2999E0E}" presName="txShp" presStyleLbl="node1" presStyleIdx="1" presStyleCnt="3" custScaleX="150376" custLinFactNeighborX="11144" custLinFactNeighborY="-524">
        <dgm:presLayoutVars>
          <dgm:bulletEnabled val="1"/>
        </dgm:presLayoutVars>
      </dgm:prSet>
      <dgm:spPr/>
    </dgm:pt>
    <dgm:pt modelId="{8F5CB601-C35E-4D1F-9CD2-CB07F342EFA5}" type="pres">
      <dgm:prSet presAssocID="{3F65FFCB-2E14-484E-8FC4-3EF9E02677A5}" presName="spacing" presStyleCnt="0"/>
      <dgm:spPr/>
    </dgm:pt>
    <dgm:pt modelId="{2A621669-F974-486F-B0CC-D5279C1A8993}" type="pres">
      <dgm:prSet presAssocID="{11D0A9B0-4F99-450C-A393-AAD54CC7D57B}" presName="composite" presStyleCnt="0"/>
      <dgm:spPr/>
    </dgm:pt>
    <dgm:pt modelId="{7495D3D5-9185-4FC6-99EF-F6D4AFA7B3DC}" type="pres">
      <dgm:prSet presAssocID="{11D0A9B0-4F99-450C-A393-AAD54CC7D57B}" presName="imgShp" presStyleLbl="fgImgPlace1" presStyleIdx="2" presStyleCnt="3" custLinFactX="-9219" custLinFactNeighborX="-100000" custLinFactNeighborY="3010"/>
      <dgm:spPr>
        <a:xfrm>
          <a:off x="0" y="3731483"/>
          <a:ext cx="1434053" cy="1434053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nd outline"/>
        </a:ext>
      </dgm:extLst>
    </dgm:pt>
    <dgm:pt modelId="{36DCB59B-7B0E-4CC8-B732-4523363D854A}" type="pres">
      <dgm:prSet presAssocID="{11D0A9B0-4F99-450C-A393-AAD54CC7D57B}" presName="txShp" presStyleLbl="node1" presStyleIdx="2" presStyleCnt="3" custScaleX="148443">
        <dgm:presLayoutVars>
          <dgm:bulletEnabled val="1"/>
        </dgm:presLayoutVars>
      </dgm:prSet>
      <dgm:spPr/>
    </dgm:pt>
  </dgm:ptLst>
  <dgm:cxnLst>
    <dgm:cxn modelId="{3F5EFE0B-4E51-45B0-B616-45D1E0AAD1A6}" srcId="{831C9186-53B8-48DE-BF73-99C92B55F469}" destId="{11D0A9B0-4F99-450C-A393-AAD54CC7D57B}" srcOrd="2" destOrd="0" parTransId="{D41CEB21-EBD6-47BB-93D7-B72EFBAB65B5}" sibTransId="{E26448A3-5BA9-4D94-ACDC-6F845B6978B8}"/>
    <dgm:cxn modelId="{FF10A413-67B3-40E9-A658-956F4DAFBCDF}" type="presOf" srcId="{11D0A9B0-4F99-450C-A393-AAD54CC7D57B}" destId="{36DCB59B-7B0E-4CC8-B732-4523363D854A}" srcOrd="0" destOrd="0" presId="urn:microsoft.com/office/officeart/2005/8/layout/vList3"/>
    <dgm:cxn modelId="{634AA32A-33B7-46B2-B40E-BEB039B75FE0}" type="presOf" srcId="{1A741F06-3CEC-4081-A5C1-4646B2999E0E}" destId="{51BD5739-4267-4BED-BB3F-56D801D622EA}" srcOrd="0" destOrd="0" presId="urn:microsoft.com/office/officeart/2005/8/layout/vList3"/>
    <dgm:cxn modelId="{FA4AFA78-33A1-4D5C-A316-CC74E84CAF36}" srcId="{831C9186-53B8-48DE-BF73-99C92B55F469}" destId="{361231F2-7620-401E-B7B2-504A39FE9428}" srcOrd="0" destOrd="0" parTransId="{B6BE5CFA-0405-4CA0-A317-68124E78F770}" sibTransId="{A2F560F2-8FB5-4EF1-93CC-39928A0172E4}"/>
    <dgm:cxn modelId="{57BD8F7C-EA18-4EB9-BF59-3A9D43780502}" type="presOf" srcId="{361231F2-7620-401E-B7B2-504A39FE9428}" destId="{98D19BCF-6FD4-4E0D-A5EB-2EFCE077C912}" srcOrd="0" destOrd="0" presId="urn:microsoft.com/office/officeart/2005/8/layout/vList3"/>
    <dgm:cxn modelId="{1373BEF1-7F24-4A09-B6DF-9256A58FA283}" type="presOf" srcId="{831C9186-53B8-48DE-BF73-99C92B55F469}" destId="{C08BFA66-9B75-4031-B345-700AC29B8191}" srcOrd="0" destOrd="0" presId="urn:microsoft.com/office/officeart/2005/8/layout/vList3"/>
    <dgm:cxn modelId="{F1615DFE-2AC1-40E3-95A7-719EEB961071}" srcId="{831C9186-53B8-48DE-BF73-99C92B55F469}" destId="{1A741F06-3CEC-4081-A5C1-4646B2999E0E}" srcOrd="1" destOrd="0" parTransId="{CA9E987D-4CED-408C-8214-EB14792CAD7A}" sibTransId="{3F65FFCB-2E14-484E-8FC4-3EF9E02677A5}"/>
    <dgm:cxn modelId="{C1C5AD4A-1AC0-4C0D-9B20-58E02EFD4A00}" type="presParOf" srcId="{C08BFA66-9B75-4031-B345-700AC29B8191}" destId="{BC29B2E5-8B22-4FD5-95F5-9B2717FBFF02}" srcOrd="0" destOrd="0" presId="urn:microsoft.com/office/officeart/2005/8/layout/vList3"/>
    <dgm:cxn modelId="{E859314D-23E5-4580-853C-1676F1D7398D}" type="presParOf" srcId="{BC29B2E5-8B22-4FD5-95F5-9B2717FBFF02}" destId="{90975B01-8C93-40D1-9B05-BEEC17814EE0}" srcOrd="0" destOrd="0" presId="urn:microsoft.com/office/officeart/2005/8/layout/vList3"/>
    <dgm:cxn modelId="{884B07B0-7303-4493-A181-6BC8F2D207F7}" type="presParOf" srcId="{BC29B2E5-8B22-4FD5-95F5-9B2717FBFF02}" destId="{98D19BCF-6FD4-4E0D-A5EB-2EFCE077C912}" srcOrd="1" destOrd="0" presId="urn:microsoft.com/office/officeart/2005/8/layout/vList3"/>
    <dgm:cxn modelId="{D4DF6AF7-1AB0-4C55-9046-2A6D1790F9C7}" type="presParOf" srcId="{C08BFA66-9B75-4031-B345-700AC29B8191}" destId="{7F645754-F307-424E-975B-0EE5BEB2BB9A}" srcOrd="1" destOrd="0" presId="urn:microsoft.com/office/officeart/2005/8/layout/vList3"/>
    <dgm:cxn modelId="{4E203AE4-7FF1-4D9C-BD94-D32CD9E355C3}" type="presParOf" srcId="{C08BFA66-9B75-4031-B345-700AC29B8191}" destId="{8C18EA9B-8166-4E2E-96A8-0F5658B698BD}" srcOrd="2" destOrd="0" presId="urn:microsoft.com/office/officeart/2005/8/layout/vList3"/>
    <dgm:cxn modelId="{5AB81220-F5F6-4140-A3A3-C8713A41951D}" type="presParOf" srcId="{8C18EA9B-8166-4E2E-96A8-0F5658B698BD}" destId="{9C365CB5-B72D-40DB-8732-528E8FDA5750}" srcOrd="0" destOrd="0" presId="urn:microsoft.com/office/officeart/2005/8/layout/vList3"/>
    <dgm:cxn modelId="{79C43560-9ACA-4A2A-96ED-75A871BFA21B}" type="presParOf" srcId="{8C18EA9B-8166-4E2E-96A8-0F5658B698BD}" destId="{51BD5739-4267-4BED-BB3F-56D801D622EA}" srcOrd="1" destOrd="0" presId="urn:microsoft.com/office/officeart/2005/8/layout/vList3"/>
    <dgm:cxn modelId="{7CE7B8C4-3237-4058-B9D3-DA45CC7BEB7A}" type="presParOf" srcId="{C08BFA66-9B75-4031-B345-700AC29B8191}" destId="{8F5CB601-C35E-4D1F-9CD2-CB07F342EFA5}" srcOrd="3" destOrd="0" presId="urn:microsoft.com/office/officeart/2005/8/layout/vList3"/>
    <dgm:cxn modelId="{D7896E66-067E-4D69-B63D-C76089134A54}" type="presParOf" srcId="{C08BFA66-9B75-4031-B345-700AC29B8191}" destId="{2A621669-F974-486F-B0CC-D5279C1A8993}" srcOrd="4" destOrd="0" presId="urn:microsoft.com/office/officeart/2005/8/layout/vList3"/>
    <dgm:cxn modelId="{5A6CCE06-C29A-4244-9178-F1107D263CFB}" type="presParOf" srcId="{2A621669-F974-486F-B0CC-D5279C1A8993}" destId="{7495D3D5-9185-4FC6-99EF-F6D4AFA7B3DC}" srcOrd="0" destOrd="0" presId="urn:microsoft.com/office/officeart/2005/8/layout/vList3"/>
    <dgm:cxn modelId="{103D00E4-EE2D-41E7-A78E-1E4EABB71AC6}" type="presParOf" srcId="{2A621669-F974-486F-B0CC-D5279C1A8993}" destId="{36DCB59B-7B0E-4CC8-B732-4523363D854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D19BCF-6FD4-4E0D-A5EB-2EFCE077C912}">
      <dsp:nvSpPr>
        <dsp:cNvPr id="0" name=""/>
        <dsp:cNvSpPr/>
      </dsp:nvSpPr>
      <dsp:spPr>
        <a:xfrm rot="10800000">
          <a:off x="-1" y="155392"/>
          <a:ext cx="7601599" cy="1447346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8240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@data_dragoness</a:t>
          </a:r>
        </a:p>
      </dsp:txBody>
      <dsp:txXfrm rot="10800000">
        <a:off x="361835" y="155392"/>
        <a:ext cx="7239763" cy="1447346"/>
      </dsp:txXfrm>
    </dsp:sp>
    <dsp:sp modelId="{90975B01-8C93-40D1-9B05-BEEC17814EE0}">
      <dsp:nvSpPr>
        <dsp:cNvPr id="0" name=""/>
        <dsp:cNvSpPr/>
      </dsp:nvSpPr>
      <dsp:spPr>
        <a:xfrm>
          <a:off x="0" y="44265"/>
          <a:ext cx="1447346" cy="1447346"/>
        </a:xfrm>
        <a:prstGeom prst="ellipse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1BD5739-4267-4BED-BB3F-56D801D622EA}">
      <dsp:nvSpPr>
        <dsp:cNvPr id="0" name=""/>
        <dsp:cNvSpPr/>
      </dsp:nvSpPr>
      <dsp:spPr>
        <a:xfrm rot="10800000">
          <a:off x="-1" y="1872839"/>
          <a:ext cx="7601599" cy="1447346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8240" tIns="91440" rIns="170688" bIns="914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     </a:t>
          </a:r>
          <a:r>
            <a:rPr lang="en-US" sz="2000" kern="1200" dirty="0"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https://dataonwheels.wordpress.com/</a:t>
          </a:r>
          <a:endParaRPr lang="en-US" sz="2400" kern="1200" dirty="0"/>
        </a:p>
      </dsp:txBody>
      <dsp:txXfrm rot="10800000">
        <a:off x="361835" y="1872839"/>
        <a:ext cx="7239763" cy="1447346"/>
      </dsp:txXfrm>
    </dsp:sp>
    <dsp:sp modelId="{9C365CB5-B72D-40DB-8732-528E8FDA5750}">
      <dsp:nvSpPr>
        <dsp:cNvPr id="0" name=""/>
        <dsp:cNvSpPr/>
      </dsp:nvSpPr>
      <dsp:spPr>
        <a:xfrm>
          <a:off x="410424" y="2076380"/>
          <a:ext cx="1166026" cy="1040266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/>
          <a:stretch>
            <a:fillRect t="-6000" b="-6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6DCB59B-7B0E-4CC8-B732-4523363D854A}">
      <dsp:nvSpPr>
        <dsp:cNvPr id="0" name=""/>
        <dsp:cNvSpPr/>
      </dsp:nvSpPr>
      <dsp:spPr>
        <a:xfrm rot="10800000">
          <a:off x="48855" y="3759814"/>
          <a:ext cx="7503884" cy="1447346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8240" tIns="106680" rIns="199136" bIns="10668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kristyna@dataonwheels.com</a:t>
          </a:r>
        </a:p>
      </dsp:txBody>
      <dsp:txXfrm rot="10800000">
        <a:off x="410691" y="3759814"/>
        <a:ext cx="7142048" cy="1447346"/>
      </dsp:txXfrm>
    </dsp:sp>
    <dsp:sp modelId="{7495D3D5-9185-4FC6-99EF-F6D4AFA7B3DC}">
      <dsp:nvSpPr>
        <dsp:cNvPr id="0" name=""/>
        <dsp:cNvSpPr/>
      </dsp:nvSpPr>
      <dsp:spPr>
        <a:xfrm>
          <a:off x="0" y="3760848"/>
          <a:ext cx="1447346" cy="1447346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50083-49E5-4F69-BD52-1AB86C4CCD2D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C13D3-B291-44D2-95AA-8F8B205FDB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39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font.com/open-dyslexic.font?psize=xs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imballgroup.com/category/articles-design-tips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learn.microsoft.com/en-us/power-bi/guidance/star-schema" TargetMode="External"/><Relationship Id="rId5" Type="http://schemas.openxmlformats.org/officeDocument/2006/relationships/hyperlink" Target="https://www.youtube.com/watch?v=vZndrBBPiQc" TargetMode="External"/><Relationship Id="rId4" Type="http://schemas.openxmlformats.org/officeDocument/2006/relationships/hyperlink" Target="https://learn.microsoft.com/en-us/fabric/data-warehouse/dimensional-modeling-overview" TargetMode="Externa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Open-Dyslexic Font | dafont.com</a:t>
            </a:r>
            <a:endParaRPr lang="en-US" dirty="0"/>
          </a:p>
          <a:p>
            <a:r>
              <a:rPr lang="en-US" dirty="0"/>
              <a:t>Download the font from </a:t>
            </a:r>
            <a:r>
              <a:rPr lang="en-US" dirty="0">
                <a:hlinkClick r:id="rId3"/>
              </a:rPr>
              <a:t>Open-Dyslexic Font | dafont.com</a:t>
            </a:r>
            <a:endParaRPr lang="en-US" dirty="0"/>
          </a:p>
          <a:p>
            <a:r>
              <a:rPr lang="en-US" dirty="0"/>
              <a:t>Extract the files</a:t>
            </a:r>
          </a:p>
          <a:p>
            <a:r>
              <a:rPr lang="en-US" dirty="0"/>
              <a:t>Go to computer settings &gt; personalization &gt; fonts and drop in the files</a:t>
            </a:r>
          </a:p>
          <a:p>
            <a:r>
              <a:rPr lang="en-US" dirty="0"/>
              <a:t>Navigate to Power Point Master Slide</a:t>
            </a:r>
          </a:p>
          <a:p>
            <a:r>
              <a:rPr lang="en-US" dirty="0"/>
              <a:t>Change the font to use Open Dyslexic for the headers and body</a:t>
            </a:r>
          </a:p>
          <a:p>
            <a:r>
              <a:rPr lang="en-US" dirty="0"/>
              <a:t>Done!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291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8F9C2-7EAA-7139-0460-66AD7454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5C5B1E-DCEA-34AF-692B-26DEFF531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4994A-33A0-084F-D903-153D7A861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8B77D-B1FC-0EBF-E50D-F42DBBD05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23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AFEC5-BA16-8C25-35EA-28AA1BC1C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5C5E4-85ED-7EB0-D06F-D8E16AD04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D6BF4-557D-CA16-DC0E-D9682FB52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F7B84-2D79-F8A4-F19C-1408751BF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85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9F329-D3A8-2DBE-7381-D0B05485E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72B35-05C5-79A8-CC69-52593E3BC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D670E-E250-F918-2556-FFDBDA2D7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9D231-7B1F-EAF3-AF1B-77DC8441C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29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12262-061E-A421-9FFF-74ABA0B20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EE379-C553-C68E-762B-65E46091F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E6065-8FB1-CD42-593B-97A63DA96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2ADD8-4127-7031-39F7-412798B24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46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1CE1-45F6-581C-9AAF-B333EF026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DF98E8-A5D1-5D82-82E3-CAF354BD1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3C940-D038-B278-9F5B-EE26A6AC0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08C61-7FC6-6F4C-23BA-3A379D845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09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290A5-7112-65AE-25D1-EDBEA049C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9C168-B007-BAE7-CC71-E57CF7174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E504B-0F6F-0E51-515C-AC80FDE93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1FDC9-73C8-1430-731E-D74BAD612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78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9968B-6004-6BEC-F862-412D2753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7BEC9-4465-C1F2-0079-A251770B4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D75A2-F413-DF65-1137-260185AE7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out the bus matrix!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32D57-F58E-103F-3BB0-A61DAECC6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11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FB70F-5546-F7D3-4F9F-71966ACF6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6EFA91-476D-0F4A-608B-E407D8C9F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A0B5A-AAD1-2529-6BC6-DC8D073F2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out the bus matrix!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788D3-C0AC-3524-9B36-7B18488E0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12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E1E21-AD5A-3403-8EB6-D6D21C13E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17D4C-62C1-2E74-6EBF-1A1DF7E02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DEA97-E055-6695-08C6-5B3B69A0A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out the bus matrix!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8F087-37C4-FB44-A0CD-D1F3806FD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05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E4703-6AA3-E980-C3E9-1840B933E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13BFD-F557-09E6-C858-4CDFDE5B1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D8105-757A-8A9A-F551-359381244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Benefits: </a:t>
            </a:r>
            <a:br>
              <a:rPr lang="en-US" dirty="0"/>
            </a:br>
            <a:r>
              <a:rPr lang="en-US" b="1" dirty="0"/>
              <a:t>Clarifies Scope</a:t>
            </a:r>
            <a:r>
              <a:rPr lang="en-US" dirty="0"/>
              <a:t>: Stakeholders see </a:t>
            </a:r>
            <a:r>
              <a:rPr lang="en-US" i="1" dirty="0"/>
              <a:t>what data is needed</a:t>
            </a:r>
            <a:r>
              <a:rPr lang="en-US" dirty="0"/>
              <a:t> and </a:t>
            </a:r>
            <a:r>
              <a:rPr lang="en-US" i="1" dirty="0"/>
              <a:t>where it overlaps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Encourages Reuse</a:t>
            </a:r>
            <a:r>
              <a:rPr lang="en-US" dirty="0"/>
              <a:t>: Promotes </a:t>
            </a:r>
            <a:r>
              <a:rPr lang="en-US" b="1" dirty="0"/>
              <a:t>conformed dimensions</a:t>
            </a:r>
            <a:r>
              <a:rPr lang="en-US" dirty="0"/>
              <a:t>—single definitions reused across processes.</a:t>
            </a:r>
          </a:p>
          <a:p>
            <a:pPr>
              <a:buNone/>
            </a:pPr>
            <a:r>
              <a:rPr lang="en-US" b="1" dirty="0"/>
              <a:t>Supports Iteration</a:t>
            </a:r>
            <a:r>
              <a:rPr lang="en-US" dirty="0"/>
              <a:t>: You can build out your data warehouse in increments.</a:t>
            </a:r>
          </a:p>
          <a:p>
            <a:pPr>
              <a:buNone/>
            </a:pPr>
            <a:r>
              <a:rPr lang="en-US" b="1" dirty="0"/>
              <a:t>Bridges Tech &amp; Business</a:t>
            </a:r>
            <a:r>
              <a:rPr lang="en-US" dirty="0"/>
              <a:t>: Translates messy system tables into understandable business concepts.</a:t>
            </a:r>
          </a:p>
          <a:p>
            <a:r>
              <a:rPr lang="en-US" b="1" dirty="0"/>
              <a:t>Facilitates Power BI Modeling</a:t>
            </a:r>
            <a:r>
              <a:rPr lang="en-US" dirty="0"/>
              <a:t>: Leads to semantic models that support consistent slicing/filtering.</a:t>
            </a:r>
          </a:p>
          <a:p>
            <a:endParaRPr lang="en-US" dirty="0"/>
          </a:p>
          <a:p>
            <a:r>
              <a:rPr lang="en-US" dirty="0"/>
              <a:t>Don’t be afraid to include data that doesn’t exist for now.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F72FB-F9F0-B7DF-F2BC-C11528F20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977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C03E6-FC3A-36F2-BECF-D533CD3F7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42923-FE15-DBBB-90EA-C3CA822C6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9C8AF-1251-1311-1EF5-7E2D8E344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0CF5B-8529-C62F-1E11-C0F7D5E5E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22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8147-D0F9-0F2B-3DF2-73D7B8C62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04418-19F4-A005-5CF6-F1F51C865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8F764-8587-C551-34FD-0A29841B7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1451A-6EAD-3BD7-9A4B-C34E85D70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123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E5431-1601-F6F6-173E-5CD2D3078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3F2BA-47E5-BC17-5A64-EC3F9CCA3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239250-0F92-2945-63FA-C4944C363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57693-DD51-7F8D-EB0A-FD4BF8DC1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33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FBF4F-5256-E8BB-B7F3-994A7BCAD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294768-6D14-3D8E-0D76-9A0562017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D3F4F-888F-C0CA-3210-32ADFED2D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15C86-813C-CF46-DD82-1C7E543BF3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84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FC6C0-386C-AA37-DDF3-6EB75BB9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E4323D-F59C-35EA-2C8F-40B2EA706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9D2C4-28B0-D117-AE63-EA73B09B8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 </a:t>
            </a:r>
            <a:r>
              <a:rPr lang="en-US" dirty="0">
                <a:hlinkClick r:id="rId3" tooltip="https://www.kimballgroup.com/category/articles-design-tips/"/>
              </a:rPr>
              <a:t>Article &amp; Design Tips at Kimball Group</a:t>
            </a:r>
            <a:r>
              <a:rPr lang="en-US" dirty="0"/>
              <a:t> https://www.kimballgroup.com/category/articles-design-tips/ for free articles covering 20 years. </a:t>
            </a:r>
          </a:p>
          <a:p>
            <a:r>
              <a:rPr lang="en-US" dirty="0"/>
              <a:t>Dimensional Modeling in Fabric Warehouse (Microsoft Learn) </a:t>
            </a:r>
            <a:r>
              <a:rPr lang="en-US" dirty="0">
                <a:hlinkClick r:id="rId4" tooltip="https://learn.microsoft.com/en-us/fabric/data-warehouse/dimensional-modeling-overview"/>
              </a:rPr>
              <a:t>https://learn.microsoft.com/en-us/fabric/data-warehouse/dimensional-modeling-overview</a:t>
            </a:r>
            <a:endParaRPr lang="en-US" dirty="0"/>
          </a:p>
          <a:p>
            <a:r>
              <a:rPr lang="en-US" dirty="0">
                <a:hlinkClick r:id="rId5" tooltip="https://www.youtube.com/watch?v=vzndrbbpiqc"/>
              </a:rPr>
              <a:t>Why Power BI Loves a Star Schema: https://www.youtube.com/watch?v=vZndrBBPiQc</a:t>
            </a:r>
            <a:r>
              <a:rPr lang="en-US" dirty="0"/>
              <a:t> </a:t>
            </a:r>
          </a:p>
          <a:p>
            <a:r>
              <a:rPr lang="en-US" dirty="0">
                <a:hlinkClick r:id="rId6" tooltip="https://learn.microsoft.com/en-us/power-bi/guidance/star-schema"/>
              </a:rPr>
              <a:t>https://learn.microsoft.com/en-us/power-bi/guidance/star-schema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A305F-032D-DE9B-A0F8-93F8E58D9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374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32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936B-A28C-1A96-2381-A23072DF1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78032-CBC2-17AF-8475-0D33CAB70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7EBB5-F1E4-119A-DD99-CE9E784D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9F3E4-6AED-C2C1-22CD-6DDF37FF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7511-ADC3-08D3-1C96-595B954DC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43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8FE2-1D11-C9BB-4769-50F159D33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0C1D-8C1D-E41D-896E-AFEDECCA6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4D424-5FE7-A9C9-0449-0A770C34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B0E69-3B14-7DDA-99FF-908BA5F68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AA6B6-7DB8-CBA4-FA58-5B136CED3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745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FA54C-E0BB-9B2A-671F-D82E225B4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187F9-6B3C-D7A8-E1DC-115DE531A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0942B-25D8-59D9-AB2A-662BD452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26278-764A-0F92-7100-CBDA0E72D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43A11-2135-7C94-3D70-D4463174B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012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60A3-3D76-B6EB-ED61-B6A187F5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F76AA-8BFE-18BF-422A-C954F62FF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BA4C6-D0DE-F4E8-9F3F-710B6FDFB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927C0-DD26-DFA5-E0C9-559B12F06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E5FC7-F4B0-AED8-BE74-4688FD705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00CAD-E7B9-6EEA-F476-FAF9D19D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07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A497B-CD00-1E21-D503-C48003C5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A4DA8-C321-24CF-2130-972E5AF5A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85477-42D0-8931-1243-28CEDE8CB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A838D-5752-53BB-C302-81B5A57B4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3D6A8A-FD6A-FAF8-3349-7211853807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F40C4D-1EEC-4B8B-60D2-CE53F4895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76F80-8361-624D-BE87-0E4C7036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95192-C85F-66B8-F7F5-946B11817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39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C73F1-0C8A-BB78-70BE-BEF5C51A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565667-B36F-ABE7-D0C2-FED12A44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1C30D-B797-0348-2377-952FA3C8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C6FAB-F92A-9A45-3823-03213ED9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685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76E47C-A774-A701-1858-FDDDFEED5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F9C858-D4F6-0CF3-682C-3AC192F2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9881C-16D8-60B0-A68D-3908D2AE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87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80326-0548-4D72-9AD7-829ED8108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FA056-63B4-541B-2EAA-3918E38B7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113B2-8F9F-76CB-24A6-B8E68CF8F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FFE3D-B9AD-70A9-CAC2-4780DFF0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35816-0555-80E6-A6C3-DF4B7B2F0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19928-5761-43BB-1133-6AAC630F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885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9D3C7-1E53-0AA0-2FFF-D31088CF9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A0A5E-EFB3-B7A4-0C90-89522A1DD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92035-1084-4AC5-BA26-CE4F8F86F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E00CD-18DD-749A-86D4-152CA9C4E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7A577-5634-E4A1-F9BE-AB24F831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39290-53C2-44F4-7123-42262B3C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18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5B169-1BEB-4423-E532-5842DE8C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F9D34-67D8-4706-993C-2BC74A005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A5E2C-C6C4-F9E5-72CC-585444379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ABECA-9F8E-C9F3-088C-BF7C26A53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On Wheels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43473-F376-ABA2-DF25-4732CA36C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574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6FF99-3A97-0EDC-F194-43D6D0A87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26A4F-DA34-5362-3A56-A7BBAB769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544A2-C13B-43C4-D44B-340EB55FA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73F04-3778-D19D-1A5A-314AB038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On Wheels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68A62-3E12-37BA-8280-A1E4C4DE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440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F226-2A68-7BDB-2666-8CD10DC73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BDE2A-07B6-6043-0BA6-2ED3B4C08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998BB-B146-7371-4C42-4D5558E5B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ED98E-ECBF-4280-110F-55764B53F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4BAFB-A7C7-B56D-0CA7-D8934F61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044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73414-2819-10D3-66AC-65BEC6CE2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2C186-1ECD-7646-144A-3E08BFD13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3F05B-6963-5E4D-AB37-8F3A8B4A6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8F4E6-444A-7F3B-5476-F83A859B8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2619C-5A0E-F8D0-3CC2-656E1B4C2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27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C96E1-E188-FF71-7D50-07BE9B732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04A89-04BE-AEB8-5402-B5620FBC1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57F7D-87D2-0AC1-D88F-170BACB61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EB1C3-F9BB-6408-372B-55CBCF3D3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952FD-FCAE-C504-5215-71C9A5C6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689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10D8D-6BF1-D817-9FEC-746219323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6C650-0C01-AC88-69E7-DF8AB398F7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3F974-0844-A00B-874A-51795F8A0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A07A4-1656-E9B0-F5E9-08325FD99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6779F-E3F0-14F9-8ABE-EFED18E4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CCA8E-5F2B-539F-8A12-4F2785179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68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5305F-8F25-ABF1-964A-E5A9B33EB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46C5C-926C-54FE-3302-1044DD481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47D6A-95CD-236F-C307-0540879C9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FD429A-B530-D6D2-1D62-FE602C66A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2BABFF-048B-09FA-794D-446091A18C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CE0053-F140-DB1F-899C-209B5A28E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7101D-6740-9EE5-8C0E-A75D88A2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93BE83-0061-FCE6-3201-9785A1B7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264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A329-C6B3-1856-F4AF-324264AE8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792CC9-79F1-7604-D8AE-1A35A727A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3EB56-1B76-D1CD-294A-EDA2A6C8C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9E60F-72EB-8EA7-DE49-27B2EB61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22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2D33C1-5E97-E904-6E27-A8E5E9C65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F7F8C5-FC61-B84E-95ED-8419599BC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D24C9-EF55-33F5-05EF-E3BE39FD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253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4965-427D-33EE-F08B-469377E7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8788F-34CB-79DD-6E41-A46EE975B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16FF0-825B-1D1E-985E-BD537B65C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CF983-4443-BE2F-6E33-6FF3B1EE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1F5BB-B03A-26DE-05A6-570E6AE15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810EE-BE1D-9B1F-58A4-62C063AE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225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DF801-8ECD-F3D1-FF9E-F48250D7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C4E782-0EB4-C692-1586-3E3C1C0AC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EAB63-CB9E-4D39-A708-EA6ADE877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EA5B8-E648-FE0F-BDC0-3A4D1D76B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61708-C411-A30C-F400-5124F833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90854-E740-362C-F240-72C000C0D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418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13BE-F312-44C4-C84E-38517967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D7CE71-F10E-BF53-2F6C-7E9259958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F2D87-C46B-D105-1C4C-F2421B7F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BAE63-BA98-7877-C940-306C27B0C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F5549-7AEA-5B26-C2A1-55C873E9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884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25720-EC27-5733-6B6B-69668008D7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4F55C-28D0-DDAD-D82A-C3CC072CB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18752-0C09-5ADF-3676-4FFEDAB26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1DB43-66A1-DB92-FC61-578FE264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B6F08-0A21-6E68-74D0-72A0AFA8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82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B1EDD6-DF08-D054-8CB4-B5219E9FD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12819-8CF0-6ED2-8F6B-1CEE1EF57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B0FD5-D308-B238-09AE-9D3F591D9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24AB6-689F-4D94-89E3-667E6F78A9F8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640B5-0807-F9FE-DC39-61BF57B64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Data On Wheels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4B08E-A102-F055-7747-2596A0391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51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6729E4-7499-F553-1646-BFE043E63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72E63-CD56-EF49-98CC-A595D3C6E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569E1-FB11-E2D6-B7DF-0D265A5BC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37C9F-8A78-4A1B-A60C-F9B49BD8F51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0B6FF-03E7-8996-ABB7-B6BFE99D37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7224F-E8C0-79FB-9243-8567E23E1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52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onwheels.wordpress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kristyna-ferris-dataonwheel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-ZqToc85Yc&amp;list=PLv2BtOtLblH3Zz07fWYWit-nAV6et0LSX" TargetMode="Externa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air7T8wCYkU" TargetMode="External"/><Relationship Id="rId5" Type="http://schemas.openxmlformats.org/officeDocument/2006/relationships/hyperlink" Target="https://storybi.com/learn/" TargetMode="External"/><Relationship Id="rId4" Type="http://schemas.openxmlformats.org/officeDocument/2006/relationships/hyperlink" Target="https://www.kimballgroup.com/data-warehouse-business-intelligence-resources/kimball-techniques/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2E92-41AE-89A9-2018-F418DEE61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293914"/>
            <a:ext cx="10909640" cy="177688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cs typeface="Arial" panose="020B0604020202020204" pitchFamily="34" charset="0"/>
              </a:rPr>
              <a:t>The Fellowship of the Star Schema </a:t>
            </a:r>
            <a:br>
              <a:rPr lang="en-US" sz="2400" dirty="0">
                <a:cs typeface="Arial" panose="020B0604020202020204" pitchFamily="34" charset="0"/>
              </a:rPr>
            </a:br>
            <a:br>
              <a:rPr lang="en-US" sz="2400" dirty="0">
                <a:cs typeface="Arial" panose="020B0604020202020204" pitchFamily="34" charset="0"/>
              </a:rPr>
            </a:br>
            <a:r>
              <a:rPr lang="en-US" sz="2800" i="1" dirty="0">
                <a:cs typeface="Arial" panose="020B0604020202020204" pitchFamily="34" charset="0"/>
              </a:rPr>
              <a:t>Transforming OLTP Data for PBI</a:t>
            </a:r>
            <a:endParaRPr lang="en-US" sz="44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814C2-A141-3245-72A9-BB4B623F7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78" y="2407970"/>
            <a:ext cx="10909643" cy="687406"/>
          </a:xfrm>
        </p:spPr>
        <p:txBody>
          <a:bodyPr anchor="ctr">
            <a:normAutofit/>
          </a:bodyPr>
          <a:lstStyle/>
          <a:p>
            <a:r>
              <a:rPr lang="en-US" dirty="0">
                <a:cs typeface="Arial" panose="020B0604020202020204" pitchFamily="34" charset="0"/>
              </a:rPr>
              <a:t>Kristyna Ferris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6B98EF1-60D6-3385-EDAB-FC60A760F0D8}"/>
              </a:ext>
            </a:extLst>
          </p:cNvPr>
          <p:cNvSpPr txBox="1">
            <a:spLocks/>
          </p:cNvSpPr>
          <p:nvPr/>
        </p:nvSpPr>
        <p:spPr>
          <a:xfrm>
            <a:off x="638878" y="5876679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cs typeface="Arial" panose="020B0604020202020204" pitchFamily="34" charset="0"/>
              </a:rPr>
              <a:t>Please grab some swag! </a:t>
            </a:r>
          </a:p>
        </p:txBody>
      </p:sp>
      <p:pic>
        <p:nvPicPr>
          <p:cNvPr id="5" name="Picture 4" descr="A road with bushes and trees in the background&#10;&#10;AI-generated content may be incorrect.">
            <a:extLst>
              <a:ext uri="{FF2B5EF4-FFF2-40B4-BE49-F238E27FC236}">
                <a16:creationId xmlns:a16="http://schemas.microsoft.com/office/drawing/2014/main" id="{CA17D96A-CD00-52C5-672F-6C7B029FA3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24" b="24271"/>
          <a:stretch>
            <a:fillRect/>
          </a:stretch>
        </p:blipFill>
        <p:spPr>
          <a:xfrm>
            <a:off x="7388" y="3543300"/>
            <a:ext cx="12190476" cy="2210656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68CD641-6630-0D09-C170-B8CCEE3F7EEA}"/>
              </a:ext>
            </a:extLst>
          </p:cNvPr>
          <p:cNvSpPr txBox="1">
            <a:spLocks/>
          </p:cNvSpPr>
          <p:nvPr/>
        </p:nvSpPr>
        <p:spPr>
          <a:xfrm>
            <a:off x="557711" y="5937593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cs typeface="Arial" panose="020B0604020202020204" pitchFamily="34" charset="0"/>
              </a:rPr>
              <a:t>Fun Fact: this font is dyslexic friendly! Ask me how to use it for free after the session.</a:t>
            </a:r>
          </a:p>
        </p:txBody>
      </p:sp>
    </p:spTree>
    <p:extLst>
      <p:ext uri="{BB962C8B-B14F-4D97-AF65-F5344CB8AC3E}">
        <p14:creationId xmlns:p14="http://schemas.microsoft.com/office/powerpoint/2010/main" val="65413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6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9C578-1F08-216A-5403-706BD3D8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365125"/>
            <a:ext cx="5435144" cy="1283255"/>
          </a:xfrm>
        </p:spPr>
        <p:txBody>
          <a:bodyPr>
            <a:normAutofit fontScale="90000"/>
          </a:bodyPr>
          <a:lstStyle/>
          <a:p>
            <a:r>
              <a:rPr lang="en-US" dirty="0"/>
              <a:t>About Me ~ Kristyna Ferris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806B51-3439-9831-D29B-A4B1640509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6" r="5406"/>
          <a:stretch/>
        </p:blipFill>
        <p:spPr>
          <a:xfrm>
            <a:off x="458525" y="857692"/>
            <a:ext cx="4478416" cy="50212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26FB5-B0F0-A0DD-57F2-76101BA66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160" y="1873905"/>
            <a:ext cx="7048670" cy="4898684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100" dirty="0"/>
              <a:t>Microsoft MVP, Data Platform &amp; Fabric</a:t>
            </a:r>
            <a:br>
              <a:rPr lang="en-US" sz="2100" dirty="0"/>
            </a:br>
            <a:r>
              <a:rPr lang="en-US" sz="2100" dirty="0"/>
              <a:t>Solution Architect, P3 Adaptive</a:t>
            </a:r>
            <a:br>
              <a:rPr lang="en-US" sz="2100" dirty="0"/>
            </a:br>
            <a:r>
              <a:rPr lang="en-US" sz="2100" dirty="0"/>
              <a:t>Lexington Data Tech Group co-organizer </a:t>
            </a:r>
            <a:br>
              <a:rPr lang="en-US" sz="2100" dirty="0"/>
            </a:br>
            <a:r>
              <a:rPr lang="en-US" sz="2100" dirty="0" err="1"/>
              <a:t>DataOnWheels</a:t>
            </a:r>
            <a:r>
              <a:rPr lang="en-US" sz="2100" dirty="0"/>
              <a:t> Author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000" b="1" dirty="0"/>
              <a:t>Blog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https://dataonwheels.wordpress.com/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LinkedIn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b="0" i="0" dirty="0"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https://www.linkedin.com/in/kristyna-ferris-dataonwheels/</a:t>
            </a:r>
            <a:br>
              <a:rPr lang="en-US" sz="2000" b="0" i="0" dirty="0">
                <a:effectLst/>
              </a:rPr>
            </a:b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/>
              <a:t>Twitter &amp; Bluesky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@data_dragoness</a:t>
            </a:r>
          </a:p>
        </p:txBody>
      </p:sp>
    </p:spTree>
    <p:extLst>
      <p:ext uri="{BB962C8B-B14F-4D97-AF65-F5344CB8AC3E}">
        <p14:creationId xmlns:p14="http://schemas.microsoft.com/office/powerpoint/2010/main" val="1187558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CDF4-EC4C-51E0-3320-FB1F76263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7107"/>
            <a:ext cx="9144000" cy="88017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Thank You to Our Sponsors!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66B70-7A83-6DE2-E532-A0D60B449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8904" y="1097280"/>
            <a:ext cx="2072479" cy="384048"/>
          </a:xfrm>
        </p:spPr>
        <p:txBody>
          <a:bodyPr>
            <a:normAutofit fontScale="85000" lnSpcReduction="10000"/>
          </a:bodyPr>
          <a:lstStyle/>
          <a:p>
            <a:r>
              <a:rPr lang="en-US" i="1" dirty="0"/>
              <a:t>Global Sponsors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870AD6-AC82-E672-CFB2-A9C509EC4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05" y="1430894"/>
            <a:ext cx="4978668" cy="1236961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92F22B1D-76D3-0AF5-0502-DCDC651A0325}"/>
              </a:ext>
            </a:extLst>
          </p:cNvPr>
          <p:cNvSpPr txBox="1">
            <a:spLocks/>
          </p:cNvSpPr>
          <p:nvPr/>
        </p:nvSpPr>
        <p:spPr>
          <a:xfrm>
            <a:off x="7203260" y="1593115"/>
            <a:ext cx="2651600" cy="384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Platinum Sponsor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A5BAB1-0664-F7D8-5DAB-C558847A42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13070"/>
            <a:ext cx="4772025" cy="1209675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2537F85-97FB-6D4D-6555-D97D0F8609EE}"/>
              </a:ext>
            </a:extLst>
          </p:cNvPr>
          <p:cNvSpPr txBox="1">
            <a:spLocks/>
          </p:cNvSpPr>
          <p:nvPr/>
        </p:nvSpPr>
        <p:spPr>
          <a:xfrm>
            <a:off x="1817981" y="4308098"/>
            <a:ext cx="2072479" cy="384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Silver Sponsors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0783BE1-0079-C790-8548-1118AE97DEC8}"/>
              </a:ext>
            </a:extLst>
          </p:cNvPr>
          <p:cNvSpPr txBox="1">
            <a:spLocks/>
          </p:cNvSpPr>
          <p:nvPr/>
        </p:nvSpPr>
        <p:spPr>
          <a:xfrm>
            <a:off x="7690498" y="4308098"/>
            <a:ext cx="2072479" cy="384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Bronze Sponsor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5B76FE-FAF9-B10E-CF0F-866D504C0E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" y="5261103"/>
            <a:ext cx="2857500" cy="752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663F18-5D1E-A92A-4BD2-38CF6D8051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414" y="4538536"/>
            <a:ext cx="2197608" cy="21976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53A00E-EA93-EACD-3083-D2BD3ED89B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260" y="4850775"/>
            <a:ext cx="3146259" cy="15731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CA1CA31-7662-2DBE-0298-C82DFA362E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981" y="2667855"/>
            <a:ext cx="1947019" cy="140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66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9B183B-E2DB-245C-980A-6B4B4368F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722FB6F3-1E1E-B811-A98A-FA67C5311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B3B81A-D87B-6E81-1159-C5DA674F0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A Quiet Start in the Shire: Life in OLTP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832FF713-7373-00B4-4670-CB7607B1A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0B974-B3FB-0558-2621-D55727B9044F}"/>
              </a:ext>
            </a:extLst>
          </p:cNvPr>
          <p:cNvSpPr txBox="1"/>
          <p:nvPr/>
        </p:nvSpPr>
        <p:spPr>
          <a:xfrm>
            <a:off x="4924640" y="1873424"/>
            <a:ext cx="663862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"In a hole in the ground there lived a hobbit </a:t>
            </a:r>
          </a:p>
          <a:p>
            <a:r>
              <a:rPr lang="en-US" sz="2000" i="1" dirty="0"/>
              <a:t>and a very efficient transaction system.“</a:t>
            </a:r>
          </a:p>
          <a:p>
            <a:endParaRPr lang="en-US" sz="2000" dirty="0"/>
          </a:p>
          <a:p>
            <a:r>
              <a:rPr lang="en-US" sz="2000" dirty="0"/>
              <a:t>Built for </a:t>
            </a:r>
            <a:r>
              <a:rPr lang="en-US" sz="2000" b="1" dirty="0"/>
              <a:t>doing</a:t>
            </a:r>
            <a:r>
              <a:rPr lang="en-US" sz="2000" dirty="0"/>
              <a:t>, not </a:t>
            </a:r>
            <a:r>
              <a:rPr lang="en-US" sz="2000" b="1" dirty="0"/>
              <a:t>analyzing. </a:t>
            </a:r>
          </a:p>
          <a:p>
            <a:endParaRPr lang="en-US" sz="2000" b="1" dirty="0"/>
          </a:p>
          <a:p>
            <a:r>
              <a:rPr lang="en-US" sz="2000" dirty="0"/>
              <a:t>Every table has one job.</a:t>
            </a:r>
          </a:p>
          <a:p>
            <a:endParaRPr lang="en-US" sz="2000" dirty="0"/>
          </a:p>
          <a:p>
            <a:r>
              <a:rPr lang="en-US" sz="2000" dirty="0"/>
              <a:t>Dozens of normalized tables, optimized for speed.</a:t>
            </a:r>
          </a:p>
          <a:p>
            <a:endParaRPr lang="en-US" sz="2000" dirty="0"/>
          </a:p>
          <a:p>
            <a:r>
              <a:rPr lang="en-US" sz="2000" dirty="0"/>
              <a:t>Powers the front line like order entry, banking, point of sale, etc.</a:t>
            </a:r>
          </a:p>
          <a:p>
            <a:endParaRPr lang="en-US" sz="2000" dirty="0"/>
          </a:p>
          <a:p>
            <a:r>
              <a:rPr lang="en-US" sz="2000" dirty="0"/>
              <a:t>Writes fast, reads hard making it terrible for reports.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490AE5-F61A-E7BD-2562-A95283912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76" y="1873424"/>
            <a:ext cx="3908432" cy="338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941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A2EE8-C282-5E9E-A33E-44C90F1E1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58606AD9-FB2C-AB8E-1352-0643636A2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75B0A-5D74-5652-4FC1-4A496DBD3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Sample OLTP Sales Table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208F7747-16D1-D814-C234-93B16EBAC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458331-DBEA-E92A-BDC6-8D3955CE9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6" y="1875237"/>
            <a:ext cx="10489556" cy="479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590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021793-359F-6A14-4381-6D7E5306E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16DB85CD-FF67-11D6-7F4B-756373AF1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FB56D-C834-586C-4ED6-42CC8861D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Arriving in Gondor: OLAP Citadel of Insight</a:t>
            </a: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A3EF674B-B785-E4AF-E349-9B7D0682D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A7A9F-EFFF-BEDC-67E3-329284E95449}"/>
              </a:ext>
            </a:extLst>
          </p:cNvPr>
          <p:cNvSpPr txBox="1"/>
          <p:nvPr/>
        </p:nvSpPr>
        <p:spPr>
          <a:xfrm>
            <a:off x="4994346" y="1958473"/>
            <a:ext cx="710558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"The beacons are lit! The analysts call for data!“</a:t>
            </a:r>
          </a:p>
          <a:p>
            <a:endParaRPr lang="en-US" sz="2000" dirty="0"/>
          </a:p>
          <a:p>
            <a:r>
              <a:rPr lang="en-US" sz="2000" dirty="0"/>
              <a:t>Built for </a:t>
            </a:r>
            <a:r>
              <a:rPr lang="en-US" sz="2000" b="1" dirty="0"/>
              <a:t>analyzing</a:t>
            </a:r>
            <a:r>
              <a:rPr lang="en-US" sz="2000" dirty="0"/>
              <a:t>, not doing.</a:t>
            </a:r>
          </a:p>
          <a:p>
            <a:endParaRPr lang="en-US" sz="2000" dirty="0"/>
          </a:p>
          <a:p>
            <a:r>
              <a:rPr lang="en-US" sz="2000" dirty="0"/>
              <a:t>Fewer, wider, organized tables.</a:t>
            </a:r>
          </a:p>
          <a:p>
            <a:endParaRPr lang="en-US" sz="2000" dirty="0"/>
          </a:p>
          <a:p>
            <a:r>
              <a:rPr lang="en-US" sz="2000" dirty="0"/>
              <a:t>Designed for query speed across millions of rows</a:t>
            </a:r>
          </a:p>
          <a:p>
            <a:r>
              <a:rPr lang="en-US" sz="2000" dirty="0"/>
              <a:t>Serves analysts, executives, and Power BI.</a:t>
            </a:r>
          </a:p>
          <a:p>
            <a:endParaRPr lang="en-US" sz="2000" dirty="0"/>
          </a:p>
          <a:p>
            <a:r>
              <a:rPr lang="en-US" sz="2000" dirty="0"/>
              <a:t>Data refreshed hourly or daily and prioritizing accuracy over immediacy.</a:t>
            </a:r>
          </a:p>
          <a:p>
            <a:endParaRPr lang="en-US" sz="2000" dirty="0"/>
          </a:p>
          <a:p>
            <a:r>
              <a:rPr lang="en-US" sz="2000" dirty="0"/>
              <a:t>Use cases: forecasting, sales analysis, executive reporting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D9335-C579-52B4-66E7-07B68A662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98" y="1958473"/>
            <a:ext cx="3867690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548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B76B2-1524-E18C-C5BE-59EDA60D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89733960-AD37-6665-8719-6A0CF6155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978AEB-D968-1131-25D8-FF75DD2F1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Sample OLAP Star Schema</a:t>
            </a: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79124128-CD62-55C1-229F-D5D346F45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Understanding Star Schema | Databricks">
            <a:extLst>
              <a:ext uri="{FF2B5EF4-FFF2-40B4-BE49-F238E27FC236}">
                <a16:creationId xmlns:a16="http://schemas.microsoft.com/office/drawing/2014/main" id="{56ED72A8-C173-9439-71F7-DB53CAE91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784" y="2004477"/>
            <a:ext cx="5971024" cy="4488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849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51BF68-C5C6-35B6-6E77-6EF14FFE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699A5869-EBDA-FDDA-40EA-00F5A71A5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B70341-1CAF-6DE8-E5E7-952BF52B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22" y="365125"/>
            <a:ext cx="1180235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Demo Time!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B5712DD0-9C12-EDA8-D0C2-43E99EB00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B28A4-753D-7E3F-0CBC-CE9190A26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192" y="1846492"/>
            <a:ext cx="4420217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025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DF9CAA-F5FF-94FD-4DFF-2DC3EE252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79117886-C591-9BDD-EA83-217349713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96853-745F-8769-9D67-9E669EE8B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5125"/>
            <a:ext cx="12267447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Journey to OLAP: Following the Star Schema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D83A0A3F-138A-2ADF-8169-6999D193C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E94C9-1C38-4DFB-7952-F840B456B1BD}"/>
              </a:ext>
            </a:extLst>
          </p:cNvPr>
          <p:cNvSpPr txBox="1"/>
          <p:nvPr/>
        </p:nvSpPr>
        <p:spPr>
          <a:xfrm>
            <a:off x="5042781" y="1914032"/>
            <a:ext cx="722466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"One fact table to rule them all, and in the darkness, dimensions bind them.“</a:t>
            </a:r>
          </a:p>
          <a:p>
            <a:endParaRPr lang="en-US" sz="2000" dirty="0"/>
          </a:p>
          <a:p>
            <a:r>
              <a:rPr lang="en-US" sz="2000" dirty="0"/>
              <a:t>A </a:t>
            </a:r>
            <a:r>
              <a:rPr lang="en-US" sz="2000" b="1" dirty="0"/>
              <a:t>proven design pattern</a:t>
            </a:r>
            <a:r>
              <a:rPr lang="en-US" sz="2000" dirty="0"/>
              <a:t> for analytics.</a:t>
            </a:r>
          </a:p>
          <a:p>
            <a:endParaRPr lang="en-US" sz="2000" dirty="0"/>
          </a:p>
          <a:p>
            <a:r>
              <a:rPr lang="en-US" sz="2000" dirty="0"/>
              <a:t>Central </a:t>
            </a:r>
            <a:r>
              <a:rPr lang="en-US" sz="2000" b="1" dirty="0"/>
              <a:t>fact table</a:t>
            </a:r>
            <a:r>
              <a:rPr lang="en-US" sz="2000" dirty="0"/>
              <a:t> holds the numbers: sales, revenue, inventory.</a:t>
            </a:r>
          </a:p>
          <a:p>
            <a:endParaRPr lang="en-US" sz="2000" dirty="0"/>
          </a:p>
          <a:p>
            <a:r>
              <a:rPr lang="en-US" sz="2000" dirty="0"/>
              <a:t>Surrounding </a:t>
            </a:r>
            <a:r>
              <a:rPr lang="en-US" sz="2000" b="1" dirty="0"/>
              <a:t>dimension tables</a:t>
            </a:r>
            <a:r>
              <a:rPr lang="en-US" sz="2000" dirty="0"/>
              <a:t> give context: who, what, when, where.</a:t>
            </a:r>
          </a:p>
          <a:p>
            <a:endParaRPr lang="en-US" sz="2000" dirty="0"/>
          </a:p>
          <a:p>
            <a:r>
              <a:rPr lang="en-US" sz="2000" dirty="0"/>
              <a:t>Purpose-built for Power BI's Vertipaq engine with fewer tables, faster queries.</a:t>
            </a:r>
          </a:p>
          <a:p>
            <a:endParaRPr lang="en-US" sz="2000" dirty="0"/>
          </a:p>
          <a:p>
            <a:r>
              <a:rPr lang="en-US" sz="2000" dirty="0"/>
              <a:t>Unlocks slicers, hierarchies, and time intelligence out of the box.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8997A5-1BE5-D6B9-38A3-730D8576F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6" y="2262789"/>
            <a:ext cx="4276092" cy="271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308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E47D4-753E-4B83-6E23-607963349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0EEB09B8-D2BC-2CD9-E0E6-6C46A4A1C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1CFFE4-0916-F328-BDCF-AF8584F0B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600" dirty="0"/>
              <a:t>The Council of Stakeholders: Defining the Quest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F2E8E8C4-DA0E-5179-33B3-90B05C19D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FB7528-7ECD-58A1-F4AC-1D3C0097815C}"/>
              </a:ext>
            </a:extLst>
          </p:cNvPr>
          <p:cNvSpPr txBox="1"/>
          <p:nvPr/>
        </p:nvSpPr>
        <p:spPr>
          <a:xfrm>
            <a:off x="5451716" y="2147980"/>
            <a:ext cx="62340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"You cannot pass... until you've answered these questions.“</a:t>
            </a:r>
          </a:p>
          <a:p>
            <a:endParaRPr lang="en-US" sz="2400" dirty="0"/>
          </a:p>
          <a:p>
            <a:r>
              <a:rPr lang="en-US" sz="2400" dirty="0"/>
              <a:t>Before a single table is touched, the council must convene.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76FA65-D4C6-D94A-5BD5-7273B148A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86" y="2228642"/>
            <a:ext cx="4305883" cy="332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26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8195F8-8E28-A1C3-2FFA-BC20748BB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1A048F2B-83F0-BEEA-BDA4-EE72E3405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A8AAB8-E9C4-972A-EA6A-723E1FB64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dirty="0"/>
              <a:t>The Council of Stakeholders: Defining the Quest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9CE258BC-92E1-C8A9-12C3-0EB8930DB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94ED3-A6B9-0E99-068F-C963F4CB927A}"/>
              </a:ext>
            </a:extLst>
          </p:cNvPr>
          <p:cNvSpPr txBox="1"/>
          <p:nvPr/>
        </p:nvSpPr>
        <p:spPr>
          <a:xfrm>
            <a:off x="4925895" y="2081539"/>
            <a:ext cx="7137176" cy="467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decisions will this data drive?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are the "make more money" metrics that matter most?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grain and scope does the data need?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Who uses this report -- and how do they slice it?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dimensions give context to the metrics?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Where does the data live today?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Are there data quality landmines waiting to explode?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How often do these questions need answering?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C0430C3-38C3-414D-828B-F696BF4AB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64" y="2163322"/>
            <a:ext cx="4536950" cy="276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28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BCD0F-E909-403F-589C-B3D8396E3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6368779D-9A48-2586-75B6-6C1F90546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B8EE7C-CE65-5EC0-2A1A-4DB60344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dirty="0"/>
              <a:t>Pro Tip: Hold the Council Accountable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A2169B08-4276-1744-7ECE-CB0AA9F16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57934-F9B5-097B-8218-5AE3B061B6A7}"/>
              </a:ext>
            </a:extLst>
          </p:cNvPr>
          <p:cNvSpPr txBox="1"/>
          <p:nvPr/>
        </p:nvSpPr>
        <p:spPr>
          <a:xfrm>
            <a:off x="4925895" y="2081539"/>
            <a:ext cx="71371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"A wizard is never late, but a stakeholder will absolutely forget what they asked for.“</a:t>
            </a:r>
          </a:p>
          <a:p>
            <a:endParaRPr lang="en-US" sz="2000" dirty="0"/>
          </a:p>
          <a:p>
            <a:r>
              <a:rPr lang="en-US" sz="2000" dirty="0"/>
              <a:t>Write the answers down and email them to stakeholders.</a:t>
            </a:r>
          </a:p>
          <a:p>
            <a:endParaRPr lang="en-US" sz="2000" dirty="0"/>
          </a:p>
          <a:p>
            <a:r>
              <a:rPr lang="en-US" sz="2000" dirty="0"/>
              <a:t>Creates a paper trail when scope creep shows up uninvited.</a:t>
            </a:r>
          </a:p>
          <a:p>
            <a:endParaRPr lang="en-US" sz="2000" dirty="0"/>
          </a:p>
          <a:p>
            <a:r>
              <a:rPr lang="en-US" sz="2000" dirty="0"/>
              <a:t>Even better: put the answers on a </a:t>
            </a:r>
            <a:r>
              <a:rPr lang="en-US" sz="2000" b="1" dirty="0"/>
              <a:t>hidden page in the report itself.</a:t>
            </a:r>
          </a:p>
          <a:p>
            <a:endParaRPr lang="en-US" sz="2000" dirty="0"/>
          </a:p>
          <a:p>
            <a:r>
              <a:rPr lang="en-US" sz="2000" dirty="0"/>
              <a:t>The purpose of the report travels with the report.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C1EA4B-54E4-0765-71EA-42B3E318A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6" y="2055813"/>
            <a:ext cx="3831454" cy="453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759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C0BCC-9DE7-7BD6-A2FF-5B0126C56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BB736905-40D8-C621-DF07-F3807118F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1EAED5-D985-FD2D-7340-8FE42CC53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22" y="365125"/>
            <a:ext cx="11802358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600" dirty="0"/>
              <a:t>Mapping the Star Schema: Bus Matrix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67FAC966-D66B-03ED-E210-05021B8BB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0C9427-6DC9-6DD7-62CB-80B5F644E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800133"/>
              </p:ext>
            </p:extLst>
          </p:nvPr>
        </p:nvGraphicFramePr>
        <p:xfrm>
          <a:off x="221424" y="3150749"/>
          <a:ext cx="11887199" cy="3183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320">
                  <a:extLst>
                    <a:ext uri="{9D8B030D-6E8A-4147-A177-3AD203B41FA5}">
                      <a16:colId xmlns:a16="http://schemas.microsoft.com/office/drawing/2014/main" val="619992955"/>
                    </a:ext>
                  </a:extLst>
                </a:gridCol>
                <a:gridCol w="1754215">
                  <a:extLst>
                    <a:ext uri="{9D8B030D-6E8A-4147-A177-3AD203B41FA5}">
                      <a16:colId xmlns:a16="http://schemas.microsoft.com/office/drawing/2014/main" val="1706523620"/>
                    </a:ext>
                  </a:extLst>
                </a:gridCol>
                <a:gridCol w="1449064">
                  <a:extLst>
                    <a:ext uri="{9D8B030D-6E8A-4147-A177-3AD203B41FA5}">
                      <a16:colId xmlns:a16="http://schemas.microsoft.com/office/drawing/2014/main" val="281015308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84617543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4430318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903103149"/>
                    </a:ext>
                  </a:extLst>
                </a:gridCol>
              </a:tblGrid>
              <a:tr h="819361">
                <a:tc>
                  <a:txBody>
                    <a:bodyPr/>
                    <a:lstStyle/>
                    <a:p>
                      <a:r>
                        <a:rPr lang="en-US" sz="1800" b="0" dirty="0"/>
                        <a:t>Dimensions →</a:t>
                      </a:r>
                    </a:p>
                    <a:p>
                      <a:endParaRPr lang="en-US" sz="1800" b="0" dirty="0"/>
                    </a:p>
                    <a:p>
                      <a:r>
                        <a:rPr lang="en-US" sz="1800" b="0" dirty="0"/>
                        <a:t>Business Process / Facts ↓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Territory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Store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612140"/>
                  </a:ext>
                </a:extLst>
              </a:tr>
              <a:tr h="664973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709652"/>
                  </a:ext>
                </a:extLst>
              </a:tr>
              <a:tr h="664973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Inventory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71576"/>
                  </a:ext>
                </a:extLst>
              </a:tr>
              <a:tr h="664973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Returns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24928"/>
                  </a:ext>
                </a:extLst>
              </a:tr>
            </a:tbl>
          </a:graphicData>
        </a:graphic>
      </p:graphicFrame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0F89F95A-86EE-E01F-8447-26C37F9E45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5582" y="4368762"/>
            <a:ext cx="580114" cy="5801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E91A19-62AC-0923-8772-6E16AA6C6F0B}"/>
              </a:ext>
            </a:extLst>
          </p:cNvPr>
          <p:cNvSpPr txBox="1"/>
          <p:nvPr/>
        </p:nvSpPr>
        <p:spPr>
          <a:xfrm>
            <a:off x="113122" y="1970202"/>
            <a:ext cx="119645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Focus on </a:t>
            </a:r>
            <a:r>
              <a:rPr lang="en-US" sz="2000" b="1" dirty="0"/>
              <a:t>measurable</a:t>
            </a:r>
            <a:r>
              <a:rPr lang="en-US" sz="2000" dirty="0"/>
              <a:t>, event-based processes.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May result in the need for multiple reports and highlight missing data. </a:t>
            </a:r>
          </a:p>
        </p:txBody>
      </p: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3E23C250-AEF1-28FF-4E6A-FFC95231DE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7575" y="4368762"/>
            <a:ext cx="580114" cy="580114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8CE05C78-55BC-87A7-4D60-43CD3AD7A0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1415" y="4368762"/>
            <a:ext cx="580114" cy="580114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0748A839-BB08-5987-61C4-EF2F25E567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3146" y="4368762"/>
            <a:ext cx="580114" cy="580114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9DFC08BA-0B71-5464-F674-339E9EFAEC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7575" y="5716606"/>
            <a:ext cx="580114" cy="580114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3847CC43-6F7C-7B79-59F8-C40A2BB946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1415" y="5042989"/>
            <a:ext cx="580114" cy="580114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6C07E711-A6E4-CB4B-EF8B-863C7A85A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1415" y="5716606"/>
            <a:ext cx="580114" cy="580114"/>
          </a:xfrm>
          <a:prstGeom prst="rect">
            <a:avLst/>
          </a:prstGeom>
        </p:spPr>
      </p:pic>
      <p:pic>
        <p:nvPicPr>
          <p:cNvPr id="14" name="Graphic 13" descr="Checkmark with solid fill">
            <a:extLst>
              <a:ext uri="{FF2B5EF4-FFF2-40B4-BE49-F238E27FC236}">
                <a16:creationId xmlns:a16="http://schemas.microsoft.com/office/drawing/2014/main" id="{344FD629-48F6-C31D-548A-B5F6A5CFFB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8585" y="5042989"/>
            <a:ext cx="580114" cy="580114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14A029F9-3D20-3932-5A74-EC1FA64F2A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2092" y="5716606"/>
            <a:ext cx="580114" cy="580114"/>
          </a:xfrm>
          <a:prstGeom prst="rect">
            <a:avLst/>
          </a:prstGeom>
        </p:spPr>
      </p:pic>
      <p:pic>
        <p:nvPicPr>
          <p:cNvPr id="16" name="Graphic 15" descr="Checkmark with solid fill">
            <a:extLst>
              <a:ext uri="{FF2B5EF4-FFF2-40B4-BE49-F238E27FC236}">
                <a16:creationId xmlns:a16="http://schemas.microsoft.com/office/drawing/2014/main" id="{DE4EFB9C-C253-5966-D188-9F2C54BC5E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5380" y="5042989"/>
            <a:ext cx="580114" cy="580114"/>
          </a:xfrm>
          <a:prstGeom prst="rect">
            <a:avLst/>
          </a:prstGeom>
        </p:spPr>
      </p:pic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3199D2B1-6C68-65C6-E911-822B810A73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7717" y="4368762"/>
            <a:ext cx="580114" cy="580114"/>
          </a:xfrm>
          <a:prstGeom prst="rect">
            <a:avLst/>
          </a:prstGeom>
        </p:spPr>
      </p:pic>
      <p:pic>
        <p:nvPicPr>
          <p:cNvPr id="18" name="Graphic 17" descr="Checkmark with solid fill">
            <a:extLst>
              <a:ext uri="{FF2B5EF4-FFF2-40B4-BE49-F238E27FC236}">
                <a16:creationId xmlns:a16="http://schemas.microsoft.com/office/drawing/2014/main" id="{17F4C889-E1FE-A204-9AA5-A611FE628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759" y="5716606"/>
            <a:ext cx="580114" cy="58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09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C65D9-AD3D-6600-4BB8-B5A38DE31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4B4E503A-F2EA-6D0E-0307-DE6F9ACC5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74C085-AC61-2835-17F4-27E9A41BC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9" y="365125"/>
            <a:ext cx="12000320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dirty="0"/>
              <a:t>Guidance from the White Council: Best Practices 1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C6B45F2A-30BA-C5B5-4771-E27ED6054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BD613A-A3C7-5A2B-8910-B9AA52E97AA5}"/>
              </a:ext>
            </a:extLst>
          </p:cNvPr>
          <p:cNvSpPr txBox="1"/>
          <p:nvPr/>
        </p:nvSpPr>
        <p:spPr>
          <a:xfrm>
            <a:off x="4838529" y="1999337"/>
            <a:ext cx="69975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"Even the smallest column can change the course of the future.“</a:t>
            </a:r>
          </a:p>
          <a:p>
            <a:endParaRPr lang="en-US" sz="2000" dirty="0"/>
          </a:p>
          <a:p>
            <a:r>
              <a:rPr lang="en-US" sz="2000" b="1" dirty="0"/>
              <a:t>Create an integer key</a:t>
            </a:r>
            <a:r>
              <a:rPr lang="en-US" sz="2000" dirty="0"/>
              <a:t> for dimensions. If one doesn't exist, make one</a:t>
            </a:r>
          </a:p>
          <a:p>
            <a:endParaRPr lang="en-US" sz="2000" dirty="0"/>
          </a:p>
          <a:p>
            <a:r>
              <a:rPr lang="en-US" sz="2000" b="1" dirty="0"/>
              <a:t>Each column lives in exactly one place. </a:t>
            </a:r>
            <a:r>
              <a:rPr lang="en-US" sz="2000" dirty="0"/>
              <a:t>Customer Name belongs in the Customer dimension.</a:t>
            </a:r>
          </a:p>
          <a:p>
            <a:endParaRPr lang="en-US" sz="2000" dirty="0"/>
          </a:p>
          <a:p>
            <a:r>
              <a:rPr lang="en-US" sz="2000" b="1" dirty="0"/>
              <a:t>Names must be specific.</a:t>
            </a:r>
            <a:r>
              <a:rPr lang="en-US" sz="2000" dirty="0"/>
              <a:t> "Name" in both Product and Customer dimensions helps no one, call it what it 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9ACD2-51F4-C063-6214-0F46C0D4E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14" y="2139123"/>
            <a:ext cx="3818055" cy="230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86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7628F-2F1E-542E-FDA5-FF522CD5E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CE0DC640-41D5-C9BE-5DD2-0CFC4A147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1D73A-3141-65C4-4080-2EB32123A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9" y="365125"/>
            <a:ext cx="12000320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dirty="0"/>
              <a:t>Guidance from the White Council: Best Practices 2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60621B1E-EDB9-CF5B-F662-B4A217BC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2FD186-BAFE-F46B-C487-41CC55B0E157}"/>
              </a:ext>
            </a:extLst>
          </p:cNvPr>
          <p:cNvSpPr txBox="1"/>
          <p:nvPr/>
        </p:nvSpPr>
        <p:spPr>
          <a:xfrm>
            <a:off x="4526895" y="2139124"/>
            <a:ext cx="70855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"Speak, friend, and enter. Name your columns like a friend would.“</a:t>
            </a:r>
          </a:p>
          <a:p>
            <a:endParaRPr lang="en-US" sz="2000" dirty="0"/>
          </a:p>
          <a:p>
            <a:r>
              <a:rPr lang="en-US" sz="2000" b="1" dirty="0"/>
              <a:t>Use friendly column names.</a:t>
            </a:r>
            <a:r>
              <a:rPr lang="en-US" sz="2000" dirty="0"/>
              <a:t> Spaces are fine in Power BI. "Customer Name" beats "</a:t>
            </a:r>
            <a:r>
              <a:rPr lang="en-US" sz="2000" dirty="0" err="1"/>
              <a:t>cust_nm</a:t>
            </a:r>
            <a:r>
              <a:rPr lang="en-US" sz="2000" dirty="0"/>
              <a:t>" every time.</a:t>
            </a:r>
          </a:p>
          <a:p>
            <a:endParaRPr lang="en-US" sz="2000" dirty="0"/>
          </a:p>
          <a:p>
            <a:r>
              <a:rPr lang="en-US" sz="2000" b="1" dirty="0"/>
              <a:t>Don't import what you don't need.</a:t>
            </a:r>
            <a:r>
              <a:rPr lang="en-US" sz="2000" dirty="0"/>
              <a:t> Every unused column is dead weight on the journey.</a:t>
            </a:r>
          </a:p>
          <a:p>
            <a:endParaRPr lang="en-US" sz="2000" dirty="0"/>
          </a:p>
          <a:p>
            <a:r>
              <a:rPr lang="en-US" sz="2000" b="1" dirty="0"/>
              <a:t>One row per thing.</a:t>
            </a:r>
            <a:r>
              <a:rPr lang="en-US" sz="2000" dirty="0"/>
              <a:t> Each dimension row represents exactly one customer, product, date. No doubles.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FA6A75-CE12-00D1-5084-B670242F6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14" y="2139123"/>
            <a:ext cx="3818055" cy="230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158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363F37-8C4D-45CF-4A9E-DD7F2085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AC19CC5B-E1A9-CF77-D003-8A919117A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42FBA-1331-0B93-D3DA-6C9D889F3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9" y="365125"/>
            <a:ext cx="12000320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dirty="0"/>
              <a:t>Guidance from the White Council: Best Practices 3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C98C6ECE-DEB5-392C-DED4-316A90245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C6BEBA-2194-1D48-2614-8BA2CB671C50}"/>
              </a:ext>
            </a:extLst>
          </p:cNvPr>
          <p:cNvSpPr txBox="1"/>
          <p:nvPr/>
        </p:nvSpPr>
        <p:spPr>
          <a:xfrm>
            <a:off x="4654009" y="2139124"/>
            <a:ext cx="747267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"All we have to decide is what to do with the columns we are given.“</a:t>
            </a:r>
          </a:p>
          <a:p>
            <a:endParaRPr lang="en-US" sz="2000" dirty="0"/>
          </a:p>
          <a:p>
            <a:r>
              <a:rPr lang="en-US" sz="2000" b="1" dirty="0"/>
              <a:t>Relationships run one way: dimension to fact.</a:t>
            </a:r>
            <a:r>
              <a:rPr lang="en-US" sz="2000" dirty="0"/>
              <a:t> One-to-many, every time. Fact-to-fact relationships are the dark path through Mirkwood forest of poor performance. Do not go there.</a:t>
            </a:r>
          </a:p>
          <a:p>
            <a:endParaRPr lang="en-US" sz="2000" dirty="0"/>
          </a:p>
          <a:p>
            <a:r>
              <a:rPr lang="en-US" sz="2000" b="1" dirty="0"/>
              <a:t>Roche's Maxim: transform as far upstream as possible, as far downstream as necessary.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000" dirty="0"/>
              <a:t>Do the heavy lifting in SQL or your ETL. DAX is for reporting logic, not data shaping.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4EA103-C154-01C9-7188-B118597BD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14" y="2139123"/>
            <a:ext cx="3818055" cy="230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0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54FFE-67A0-4E18-D0E5-CA3186A49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D9520E2A-A1F3-D2F7-56A9-321FD3EFF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48B658-F3E6-B51A-94DC-0CA951222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22" y="365125"/>
            <a:ext cx="1180235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Demo Time!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AB601871-7103-7CDA-4432-0014719EA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5BCD26-0965-4E8D-A4AF-EFBB98B05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156" y="1699881"/>
            <a:ext cx="3927970" cy="504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21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0E5383-D3BC-52FB-CA0D-6A5D514C7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10A6A20B-A07A-7045-5ADF-7E44F0735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BCFB63-E9CE-34C3-6666-A744C1DC0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91" y="365125"/>
            <a:ext cx="1187777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/>
              <a:t>Light the Beacons!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5771CA42-23B3-CDAC-8A9A-33602B96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554ED-CCEB-6E90-5765-F2C839C00D6F}"/>
              </a:ext>
            </a:extLst>
          </p:cNvPr>
          <p:cNvSpPr txBox="1"/>
          <p:nvPr/>
        </p:nvSpPr>
        <p:spPr>
          <a:xfrm>
            <a:off x="4928649" y="1783894"/>
            <a:ext cx="672131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Trusted Allies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Guy in a Cube </a:t>
            </a:r>
            <a:endParaRPr lang="en-US" sz="20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Kimball Group </a:t>
            </a:r>
            <a:endParaRPr lang="en-US" sz="20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Story BI training</a:t>
            </a:r>
            <a:r>
              <a:rPr lang="en-US" sz="2000" dirty="0">
                <a:solidFill>
                  <a:schemeClr val="tx2"/>
                </a:solidFill>
              </a:rPr>
              <a:t> (hands-on course)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Pragmatic Works</a:t>
            </a:r>
            <a:endParaRPr lang="en-US" sz="20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Local user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Stalk the speaker list at conferences, they usually have other resources.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Additional Topics to Explore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Slowly changing dimension type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Measures versus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Vertipaq engine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Cardinality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Creating a date table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74928-B79E-1BDB-0FFA-C101831AC1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036" y="1943874"/>
            <a:ext cx="3233661" cy="351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94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9C578-1F08-216A-5403-706BD3D8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739" y="330974"/>
            <a:ext cx="10197494" cy="1099457"/>
          </a:xfrm>
        </p:spPr>
        <p:txBody>
          <a:bodyPr>
            <a:noAutofit/>
          </a:bodyPr>
          <a:lstStyle/>
          <a:p>
            <a:r>
              <a:rPr lang="en-US" sz="3200" dirty="0"/>
              <a:t>Don’t forget to connect, thanks for listening!</a:t>
            </a:r>
          </a:p>
        </p:txBody>
      </p: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3C5312A1-6D86-AB24-BBF8-296AC20E4D4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66024" y="1430431"/>
          <a:ext cx="7601596" cy="520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5E3BFC27-6733-8963-13C2-165A3C03425F}"/>
              </a:ext>
            </a:extLst>
          </p:cNvPr>
          <p:cNvSpPr txBox="1">
            <a:spLocks/>
          </p:cNvSpPr>
          <p:nvPr/>
        </p:nvSpPr>
        <p:spPr>
          <a:xfrm>
            <a:off x="1096767" y="2165956"/>
            <a:ext cx="2493297" cy="62318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368141-E5EF-4BB5-7A12-57480E4EC4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6766" y="2789135"/>
            <a:ext cx="2560833" cy="256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02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D671B"/>
      </a:dk2>
      <a:lt2>
        <a:srgbClr val="EBEBEB"/>
      </a:lt2>
      <a:accent1>
        <a:srgbClr val="2A5010"/>
      </a:accent1>
      <a:accent2>
        <a:srgbClr val="2A5010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Custom 1">
      <a:majorFont>
        <a:latin typeface="OpenDyslexic"/>
        <a:ea typeface=""/>
        <a:cs typeface=""/>
      </a:majorFont>
      <a:minorFont>
        <a:latin typeface="OpenDyslexicAl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16731</TotalTime>
  <Words>1197</Words>
  <Application>Microsoft Office PowerPoint</Application>
  <PresentationFormat>Widescreen</PresentationFormat>
  <Paragraphs>180</Paragraphs>
  <Slides>19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  <vt:variant>
        <vt:lpstr>Custom Shows</vt:lpstr>
      </vt:variant>
      <vt:variant>
        <vt:i4>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OpenDyslexic</vt:lpstr>
      <vt:lpstr>OpenDyslexicAlta</vt:lpstr>
      <vt:lpstr>Office Theme</vt:lpstr>
      <vt:lpstr>1_Office Theme</vt:lpstr>
      <vt:lpstr>The Fellowship of the Star Schema   Transforming OLTP Data for PBI</vt:lpstr>
      <vt:lpstr>About Me ~ Kristyna Ferris</vt:lpstr>
      <vt:lpstr>Thank You to Our Sponsors!</vt:lpstr>
      <vt:lpstr>A Quiet Start in the Shire: Life in OLTP</vt:lpstr>
      <vt:lpstr>Sample OLTP Sales Table</vt:lpstr>
      <vt:lpstr>Arriving in Gondor: OLAP Citadel of Insight</vt:lpstr>
      <vt:lpstr>Sample OLAP Star Schema</vt:lpstr>
      <vt:lpstr>Demo Time!</vt:lpstr>
      <vt:lpstr>Journey to OLAP: Following the Star Schema</vt:lpstr>
      <vt:lpstr>The Council of Stakeholders: Defining the Quest</vt:lpstr>
      <vt:lpstr>The Council of Stakeholders: Defining the Quest</vt:lpstr>
      <vt:lpstr>Pro Tip: Hold the Council Accountable</vt:lpstr>
      <vt:lpstr>Mapping the Star Schema: Bus Matrix</vt:lpstr>
      <vt:lpstr>Guidance from the White Council: Best Practices 1</vt:lpstr>
      <vt:lpstr>Guidance from the White Council: Best Practices 2</vt:lpstr>
      <vt:lpstr>Guidance from the White Council: Best Practices 3</vt:lpstr>
      <vt:lpstr>Demo Time!</vt:lpstr>
      <vt:lpstr>Light the Beacons!</vt:lpstr>
      <vt:lpstr>Don’t forget to connect, thanks for listening!</vt:lpstr>
      <vt:lpstr>Custom Show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Meets Programmability</dc:title>
  <dc:creator>Kristyna Hughes</dc:creator>
  <cp:lastModifiedBy>Kristyna Ferris</cp:lastModifiedBy>
  <cp:revision>7</cp:revision>
  <dcterms:created xsi:type="dcterms:W3CDTF">2022-08-06T02:37:56Z</dcterms:created>
  <dcterms:modified xsi:type="dcterms:W3CDTF">2026-08-08T14:30:04Z</dcterms:modified>
</cp:coreProperties>
</file>