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2" r:id="rId4"/>
  </p:sldMasterIdLst>
  <p:notesMasterIdLst>
    <p:notesMasterId r:id="rId31"/>
  </p:notesMasterIdLst>
  <p:sldIdLst>
    <p:sldId id="2147482363" r:id="rId5"/>
    <p:sldId id="2147482364" r:id="rId6"/>
    <p:sldId id="405" r:id="rId7"/>
    <p:sldId id="301" r:id="rId8"/>
    <p:sldId id="409" r:id="rId9"/>
    <p:sldId id="256" r:id="rId10"/>
    <p:sldId id="257" r:id="rId11"/>
    <p:sldId id="258" r:id="rId12"/>
    <p:sldId id="259" r:id="rId13"/>
    <p:sldId id="2147482365" r:id="rId14"/>
    <p:sldId id="2147482366" r:id="rId15"/>
    <p:sldId id="309" r:id="rId16"/>
    <p:sldId id="310" r:id="rId17"/>
    <p:sldId id="303" r:id="rId18"/>
    <p:sldId id="408" r:id="rId19"/>
    <p:sldId id="414" r:id="rId20"/>
    <p:sldId id="305" r:id="rId21"/>
    <p:sldId id="311" r:id="rId22"/>
    <p:sldId id="314" r:id="rId23"/>
    <p:sldId id="317" r:id="rId24"/>
    <p:sldId id="315" r:id="rId25"/>
    <p:sldId id="316" r:id="rId26"/>
    <p:sldId id="318" r:id="rId27"/>
    <p:sldId id="2147482362" r:id="rId28"/>
    <p:sldId id="319" r:id="rId29"/>
    <p:sldId id="2147482361" r:id="rId30"/>
  </p:sldIdLst>
  <p:sldSz cx="12192000" cy="6858000"/>
  <p:notesSz cx="6858000" cy="9144000"/>
  <p:custShowLst>
    <p:custShow name="Conf Specific Slides"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ference Specific Slides" id="{FDDF7CE9-7A3D-4CF3-BBE3-7ECBCDA00229}">
          <p14:sldIdLst/>
        </p14:section>
        <p14:section name="Presentation" id="{A3FBBF94-EA0E-44AA-8EF2-63E16E2B6518}">
          <p14:sldIdLst>
            <p14:sldId id="2147482363"/>
            <p14:sldId id="2147482364"/>
            <p14:sldId id="405"/>
            <p14:sldId id="301"/>
            <p14:sldId id="409"/>
            <p14:sldId id="256"/>
            <p14:sldId id="257"/>
            <p14:sldId id="258"/>
            <p14:sldId id="259"/>
            <p14:sldId id="2147482365"/>
            <p14:sldId id="2147482366"/>
            <p14:sldId id="309"/>
            <p14:sldId id="310"/>
            <p14:sldId id="303"/>
            <p14:sldId id="408"/>
            <p14:sldId id="414"/>
            <p14:sldId id="305"/>
            <p14:sldId id="311"/>
            <p14:sldId id="314"/>
            <p14:sldId id="317"/>
            <p14:sldId id="315"/>
            <p14:sldId id="316"/>
            <p14:sldId id="318"/>
            <p14:sldId id="2147482362"/>
            <p14:sldId id="319"/>
            <p14:sldId id="214748236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323FE0-A9D6-59E3-1D7B-3E39783FD7CA}" name="Kristyna Ferris" initials="KF" userId="S::kferris@p3adaptive.com::94226f18-af35-4770-afa7-870236380a3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2687"/>
    <a:srgbClr val="C07200"/>
    <a:srgbClr val="407A18"/>
    <a:srgbClr val="F5CFE8"/>
    <a:srgbClr val="D1FFF6"/>
    <a:srgbClr val="FFD28F"/>
    <a:srgbClr val="80009F"/>
    <a:srgbClr val="D940FF"/>
    <a:srgbClr val="FF9900"/>
    <a:srgbClr val="0D3B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23" autoAdjust="0"/>
    <p:restoredTop sz="78974" autoAdjust="0"/>
  </p:normalViewPr>
  <p:slideViewPr>
    <p:cSldViewPr snapToGrid="0">
      <p:cViewPr varScale="1">
        <p:scale>
          <a:sx n="76" d="100"/>
          <a:sy n="76" d="100"/>
        </p:scale>
        <p:origin x="1056" y="43"/>
      </p:cViewPr>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yna Ferris" userId="86aeac9f-971e-413b-9f78-ace434bd0a60" providerId="ADAL" clId="{BB1FBCEE-720A-4BC8-B896-5F1AD7000908}"/>
    <pc:docChg chg="undo custSel addSld delSld modSld sldOrd delMainMaster modMainMaster addSection modSection modShowInfo">
      <pc:chgData name="Kristyna Ferris" userId="86aeac9f-971e-413b-9f78-ace434bd0a60" providerId="ADAL" clId="{BB1FBCEE-720A-4BC8-B896-5F1AD7000908}" dt="2026-08-27T17:55:18.887" v="2618" actId="22"/>
      <pc:docMkLst>
        <pc:docMk/>
      </pc:docMkLst>
      <pc:sldChg chg="modSp mod">
        <pc:chgData name="Kristyna Ferris" userId="86aeac9f-971e-413b-9f78-ace434bd0a60" providerId="ADAL" clId="{BB1FBCEE-720A-4BC8-B896-5F1AD7000908}" dt="2026-08-27T17:50:41.139" v="2535" actId="404"/>
        <pc:sldMkLst>
          <pc:docMk/>
          <pc:sldMk cId="0" sldId="256"/>
        </pc:sldMkLst>
        <pc:spChg chg="mod">
          <ac:chgData name="Kristyna Ferris" userId="86aeac9f-971e-413b-9f78-ace434bd0a60" providerId="ADAL" clId="{BB1FBCEE-720A-4BC8-B896-5F1AD7000908}" dt="2026-08-27T17:50:41.139" v="2535" actId="404"/>
          <ac:spMkLst>
            <pc:docMk/>
            <pc:sldMk cId="0" sldId="256"/>
            <ac:spMk id="4" creationId="{00000000-0000-0000-0000-000000000000}"/>
          </ac:spMkLst>
        </pc:spChg>
        <pc:spChg chg="mod">
          <ac:chgData name="Kristyna Ferris" userId="86aeac9f-971e-413b-9f78-ace434bd0a60" providerId="ADAL" clId="{BB1FBCEE-720A-4BC8-B896-5F1AD7000908}" dt="2026-08-27T17:45:32.609" v="2376" actId="403"/>
          <ac:spMkLst>
            <pc:docMk/>
            <pc:sldMk cId="0" sldId="256"/>
            <ac:spMk id="6" creationId="{00000000-0000-0000-0000-000000000000}"/>
          </ac:spMkLst>
        </pc:spChg>
        <pc:spChg chg="mod">
          <ac:chgData name="Kristyna Ferris" userId="86aeac9f-971e-413b-9f78-ace434bd0a60" providerId="ADAL" clId="{BB1FBCEE-720A-4BC8-B896-5F1AD7000908}" dt="2026-08-27T17:48:04.991" v="2492" actId="14100"/>
          <ac:spMkLst>
            <pc:docMk/>
            <pc:sldMk cId="0" sldId="256"/>
            <ac:spMk id="8" creationId="{00000000-0000-0000-0000-000000000000}"/>
          </ac:spMkLst>
        </pc:spChg>
        <pc:spChg chg="mod">
          <ac:chgData name="Kristyna Ferris" userId="86aeac9f-971e-413b-9f78-ace434bd0a60" providerId="ADAL" clId="{BB1FBCEE-720A-4BC8-B896-5F1AD7000908}" dt="2026-08-27T17:47:50.158" v="2488" actId="403"/>
          <ac:spMkLst>
            <pc:docMk/>
            <pc:sldMk cId="0" sldId="256"/>
            <ac:spMk id="9" creationId="{00000000-0000-0000-0000-000000000000}"/>
          </ac:spMkLst>
        </pc:spChg>
        <pc:spChg chg="mod">
          <ac:chgData name="Kristyna Ferris" userId="86aeac9f-971e-413b-9f78-ace434bd0a60" providerId="ADAL" clId="{BB1FBCEE-720A-4BC8-B896-5F1AD7000908}" dt="2026-08-27T17:47:53.292" v="2489" actId="403"/>
          <ac:spMkLst>
            <pc:docMk/>
            <pc:sldMk cId="0" sldId="256"/>
            <ac:spMk id="13"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16"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17"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22" creationId="{00000000-0000-0000-0000-000000000000}"/>
          </ac:spMkLst>
        </pc:spChg>
        <pc:spChg chg="mod">
          <ac:chgData name="Kristyna Ferris" userId="86aeac9f-971e-413b-9f78-ace434bd0a60" providerId="ADAL" clId="{BB1FBCEE-720A-4BC8-B896-5F1AD7000908}" dt="2026-08-27T17:48:33.374" v="2499" actId="14100"/>
          <ac:spMkLst>
            <pc:docMk/>
            <pc:sldMk cId="0" sldId="256"/>
            <ac:spMk id="23" creationId="{00000000-0000-0000-0000-000000000000}"/>
          </ac:spMkLst>
        </pc:spChg>
        <pc:spChg chg="mod">
          <ac:chgData name="Kristyna Ferris" userId="86aeac9f-971e-413b-9f78-ace434bd0a60" providerId="ADAL" clId="{BB1FBCEE-720A-4BC8-B896-5F1AD7000908}" dt="2026-08-27T17:48:36.907" v="2500" actId="14100"/>
          <ac:spMkLst>
            <pc:docMk/>
            <pc:sldMk cId="0" sldId="256"/>
            <ac:spMk id="24" creationId="{00000000-0000-0000-0000-000000000000}"/>
          </ac:spMkLst>
        </pc:spChg>
        <pc:spChg chg="mod">
          <ac:chgData name="Kristyna Ferris" userId="86aeac9f-971e-413b-9f78-ace434bd0a60" providerId="ADAL" clId="{BB1FBCEE-720A-4BC8-B896-5F1AD7000908}" dt="2026-08-27T17:48:44.957" v="2502" actId="403"/>
          <ac:spMkLst>
            <pc:docMk/>
            <pc:sldMk cId="0" sldId="256"/>
            <ac:spMk id="25"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26" creationId="{00000000-0000-0000-0000-000000000000}"/>
          </ac:spMkLst>
        </pc:spChg>
        <pc:spChg chg="mod">
          <ac:chgData name="Kristyna Ferris" userId="86aeac9f-971e-413b-9f78-ace434bd0a60" providerId="ADAL" clId="{BB1FBCEE-720A-4BC8-B896-5F1AD7000908}" dt="2026-08-27T17:45:45.626" v="2380" actId="255"/>
          <ac:spMkLst>
            <pc:docMk/>
            <pc:sldMk cId="0" sldId="256"/>
            <ac:spMk id="28"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30" creationId="{00000000-0000-0000-0000-000000000000}"/>
          </ac:spMkLst>
        </pc:spChg>
        <pc:spChg chg="mod">
          <ac:chgData name="Kristyna Ferris" userId="86aeac9f-971e-413b-9f78-ace434bd0a60" providerId="ADAL" clId="{BB1FBCEE-720A-4BC8-B896-5F1AD7000908}" dt="2026-08-27T17:46:13.522" v="2442" actId="1038"/>
          <ac:spMkLst>
            <pc:docMk/>
            <pc:sldMk cId="0" sldId="256"/>
            <ac:spMk id="31" creationId="{00000000-0000-0000-0000-000000000000}"/>
          </ac:spMkLst>
        </pc:spChg>
        <pc:spChg chg="mod">
          <ac:chgData name="Kristyna Ferris" userId="86aeac9f-971e-413b-9f78-ace434bd0a60" providerId="ADAL" clId="{BB1FBCEE-720A-4BC8-B896-5F1AD7000908}" dt="2026-08-27T17:46:13.522" v="2442" actId="1038"/>
          <ac:spMkLst>
            <pc:docMk/>
            <pc:sldMk cId="0" sldId="256"/>
            <ac:spMk id="33" creationId="{00000000-0000-0000-0000-000000000000}"/>
          </ac:spMkLst>
        </pc:spChg>
        <pc:spChg chg="mod">
          <ac:chgData name="Kristyna Ferris" userId="86aeac9f-971e-413b-9f78-ace434bd0a60" providerId="ADAL" clId="{BB1FBCEE-720A-4BC8-B896-5F1AD7000908}" dt="2026-08-27T17:47:39.058" v="2486" actId="1038"/>
          <ac:spMkLst>
            <pc:docMk/>
            <pc:sldMk cId="0" sldId="256"/>
            <ac:spMk id="34" creationId="{00000000-0000-0000-0000-000000000000}"/>
          </ac:spMkLst>
        </pc:spChg>
        <pc:spChg chg="mod">
          <ac:chgData name="Kristyna Ferris" userId="86aeac9f-971e-413b-9f78-ace434bd0a60" providerId="ADAL" clId="{BB1FBCEE-720A-4BC8-B896-5F1AD7000908}" dt="2026-08-27T17:47:39.058" v="2486" actId="1038"/>
          <ac:spMkLst>
            <pc:docMk/>
            <pc:sldMk cId="0" sldId="256"/>
            <ac:spMk id="36" creationId="{00000000-0000-0000-0000-000000000000}"/>
          </ac:spMkLst>
        </pc:spChg>
        <pc:spChg chg="mod">
          <ac:chgData name="Kristyna Ferris" userId="86aeac9f-971e-413b-9f78-ace434bd0a60" providerId="ADAL" clId="{BB1FBCEE-720A-4BC8-B896-5F1AD7000908}" dt="2026-08-27T17:47:31.673" v="2478" actId="1038"/>
          <ac:spMkLst>
            <pc:docMk/>
            <pc:sldMk cId="0" sldId="256"/>
            <ac:spMk id="37" creationId="{00000000-0000-0000-0000-000000000000}"/>
          </ac:spMkLst>
        </pc:spChg>
        <pc:spChg chg="mod">
          <ac:chgData name="Kristyna Ferris" userId="86aeac9f-971e-413b-9f78-ace434bd0a60" providerId="ADAL" clId="{BB1FBCEE-720A-4BC8-B896-5F1AD7000908}" dt="2026-08-27T17:47:31.673" v="2478" actId="1038"/>
          <ac:spMkLst>
            <pc:docMk/>
            <pc:sldMk cId="0" sldId="256"/>
            <ac:spMk id="39"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40"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42" creationId="{00000000-0000-0000-0000-000000000000}"/>
          </ac:spMkLst>
        </pc:spChg>
        <pc:spChg chg="mod">
          <ac:chgData name="Kristyna Ferris" userId="86aeac9f-971e-413b-9f78-ace434bd0a60" providerId="ADAL" clId="{BB1FBCEE-720A-4BC8-B896-5F1AD7000908}" dt="2026-08-27T17:47:00.341" v="2448" actId="408"/>
          <ac:spMkLst>
            <pc:docMk/>
            <pc:sldMk cId="0" sldId="256"/>
            <ac:spMk id="43" creationId="{00000000-0000-0000-0000-000000000000}"/>
          </ac:spMkLst>
        </pc:spChg>
        <pc:spChg chg="mod">
          <ac:chgData name="Kristyna Ferris" userId="86aeac9f-971e-413b-9f78-ace434bd0a60" providerId="ADAL" clId="{BB1FBCEE-720A-4BC8-B896-5F1AD7000908}" dt="2026-08-27T17:47:00.341" v="2448" actId="408"/>
          <ac:spMkLst>
            <pc:docMk/>
            <pc:sldMk cId="0" sldId="256"/>
            <ac:spMk id="45"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46" creationId="{00000000-0000-0000-0000-000000000000}"/>
          </ac:spMkLst>
        </pc:spChg>
        <pc:spChg chg="mod">
          <ac:chgData name="Kristyna Ferris" userId="86aeac9f-971e-413b-9f78-ace434bd0a60" providerId="ADAL" clId="{BB1FBCEE-720A-4BC8-B896-5F1AD7000908}" dt="2026-08-27T17:47:39.058" v="2486" actId="1038"/>
          <ac:spMkLst>
            <pc:docMk/>
            <pc:sldMk cId="0" sldId="256"/>
            <ac:spMk id="48"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49" creationId="{00000000-0000-0000-0000-000000000000}"/>
          </ac:spMkLst>
        </pc:spChg>
        <pc:spChg chg="mod">
          <ac:chgData name="Kristyna Ferris" userId="86aeac9f-971e-413b-9f78-ace434bd0a60" providerId="ADAL" clId="{BB1FBCEE-720A-4BC8-B896-5F1AD7000908}" dt="2026-08-27T17:48:53.791" v="2511" actId="1036"/>
          <ac:spMkLst>
            <pc:docMk/>
            <pc:sldMk cId="0" sldId="256"/>
            <ac:spMk id="51" creationId="{00000000-0000-0000-0000-000000000000}"/>
          </ac:spMkLst>
        </pc:spChg>
        <pc:picChg chg="mod">
          <ac:chgData name="Kristyna Ferris" userId="86aeac9f-971e-413b-9f78-ace434bd0a60" providerId="ADAL" clId="{BB1FBCEE-720A-4BC8-B896-5F1AD7000908}" dt="2026-08-27T17:46:13.522" v="2442" actId="1038"/>
          <ac:picMkLst>
            <pc:docMk/>
            <pc:sldMk cId="0" sldId="256"/>
            <ac:picMk id="32" creationId="{00000000-0000-0000-0000-000000000000}"/>
          </ac:picMkLst>
        </pc:picChg>
        <pc:picChg chg="mod">
          <ac:chgData name="Kristyna Ferris" userId="86aeac9f-971e-413b-9f78-ace434bd0a60" providerId="ADAL" clId="{BB1FBCEE-720A-4BC8-B896-5F1AD7000908}" dt="2026-08-27T17:47:39.058" v="2486" actId="1038"/>
          <ac:picMkLst>
            <pc:docMk/>
            <pc:sldMk cId="0" sldId="256"/>
            <ac:picMk id="35" creationId="{00000000-0000-0000-0000-000000000000}"/>
          </ac:picMkLst>
        </pc:picChg>
        <pc:picChg chg="mod">
          <ac:chgData name="Kristyna Ferris" userId="86aeac9f-971e-413b-9f78-ace434bd0a60" providerId="ADAL" clId="{BB1FBCEE-720A-4BC8-B896-5F1AD7000908}" dt="2026-08-27T17:47:31.673" v="2478" actId="1038"/>
          <ac:picMkLst>
            <pc:docMk/>
            <pc:sldMk cId="0" sldId="256"/>
            <ac:picMk id="38" creationId="{00000000-0000-0000-0000-000000000000}"/>
          </ac:picMkLst>
        </pc:picChg>
        <pc:picChg chg="mod">
          <ac:chgData name="Kristyna Ferris" userId="86aeac9f-971e-413b-9f78-ace434bd0a60" providerId="ADAL" clId="{BB1FBCEE-720A-4BC8-B896-5F1AD7000908}" dt="2026-08-27T17:47:00.341" v="2448" actId="408"/>
          <ac:picMkLst>
            <pc:docMk/>
            <pc:sldMk cId="0" sldId="256"/>
            <ac:picMk id="41" creationId="{00000000-0000-0000-0000-000000000000}"/>
          </ac:picMkLst>
        </pc:picChg>
        <pc:picChg chg="mod">
          <ac:chgData name="Kristyna Ferris" userId="86aeac9f-971e-413b-9f78-ace434bd0a60" providerId="ADAL" clId="{BB1FBCEE-720A-4BC8-B896-5F1AD7000908}" dt="2026-08-27T17:47:00.341" v="2448" actId="408"/>
          <ac:picMkLst>
            <pc:docMk/>
            <pc:sldMk cId="0" sldId="256"/>
            <ac:picMk id="44" creationId="{00000000-0000-0000-0000-000000000000}"/>
          </ac:picMkLst>
        </pc:picChg>
        <pc:picChg chg="mod">
          <ac:chgData name="Kristyna Ferris" userId="86aeac9f-971e-413b-9f78-ace434bd0a60" providerId="ADAL" clId="{BB1FBCEE-720A-4BC8-B896-5F1AD7000908}" dt="2026-08-27T17:47:39.058" v="2486" actId="1038"/>
          <ac:picMkLst>
            <pc:docMk/>
            <pc:sldMk cId="0" sldId="256"/>
            <ac:picMk id="47" creationId="{00000000-0000-0000-0000-000000000000}"/>
          </ac:picMkLst>
        </pc:picChg>
        <pc:picChg chg="mod">
          <ac:chgData name="Kristyna Ferris" userId="86aeac9f-971e-413b-9f78-ace434bd0a60" providerId="ADAL" clId="{BB1FBCEE-720A-4BC8-B896-5F1AD7000908}" dt="2026-08-27T17:47:31.673" v="2478" actId="1038"/>
          <ac:picMkLst>
            <pc:docMk/>
            <pc:sldMk cId="0" sldId="256"/>
            <ac:picMk id="50" creationId="{00000000-0000-0000-0000-000000000000}"/>
          </ac:picMkLst>
        </pc:picChg>
      </pc:sldChg>
      <pc:sldChg chg="modSp mod">
        <pc:chgData name="Kristyna Ferris" userId="86aeac9f-971e-413b-9f78-ace434bd0a60" providerId="ADAL" clId="{BB1FBCEE-720A-4BC8-B896-5F1AD7000908}" dt="2026-08-27T17:50:48.940" v="2537" actId="207"/>
        <pc:sldMkLst>
          <pc:docMk/>
          <pc:sldMk cId="0" sldId="257"/>
        </pc:sldMkLst>
        <pc:spChg chg="mod">
          <ac:chgData name="Kristyna Ferris" userId="86aeac9f-971e-413b-9f78-ace434bd0a60" providerId="ADAL" clId="{BB1FBCEE-720A-4BC8-B896-5F1AD7000908}" dt="2026-08-27T17:50:48.940" v="2537" actId="207"/>
          <ac:spMkLst>
            <pc:docMk/>
            <pc:sldMk cId="0" sldId="257"/>
            <ac:spMk id="2" creationId="{00000000-0000-0000-0000-000000000000}"/>
          </ac:spMkLst>
        </pc:spChg>
        <pc:spChg chg="mod">
          <ac:chgData name="Kristyna Ferris" userId="86aeac9f-971e-413b-9f78-ace434bd0a60" providerId="ADAL" clId="{BB1FBCEE-720A-4BC8-B896-5F1AD7000908}" dt="2026-08-27T17:50:26.254" v="2531" actId="403"/>
          <ac:spMkLst>
            <pc:docMk/>
            <pc:sldMk cId="0" sldId="257"/>
            <ac:spMk id="6" creationId="{00000000-0000-0000-0000-000000000000}"/>
          </ac:spMkLst>
        </pc:spChg>
        <pc:spChg chg="mod">
          <ac:chgData name="Kristyna Ferris" userId="86aeac9f-971e-413b-9f78-ace434bd0a60" providerId="ADAL" clId="{BB1FBCEE-720A-4BC8-B896-5F1AD7000908}" dt="2026-08-27T17:49:34.514" v="2516" actId="403"/>
          <ac:spMkLst>
            <pc:docMk/>
            <pc:sldMk cId="0" sldId="257"/>
            <ac:spMk id="7" creationId="{00000000-0000-0000-0000-000000000000}"/>
          </ac:spMkLst>
        </pc:spChg>
        <pc:spChg chg="mod">
          <ac:chgData name="Kristyna Ferris" userId="86aeac9f-971e-413b-9f78-ace434bd0a60" providerId="ADAL" clId="{BB1FBCEE-720A-4BC8-B896-5F1AD7000908}" dt="2026-08-27T17:49:26.840" v="2515" actId="242"/>
          <ac:spMkLst>
            <pc:docMk/>
            <pc:sldMk cId="0" sldId="257"/>
            <ac:spMk id="9" creationId="{00000000-0000-0000-0000-000000000000}"/>
          </ac:spMkLst>
        </pc:spChg>
        <pc:spChg chg="mod">
          <ac:chgData name="Kristyna Ferris" userId="86aeac9f-971e-413b-9f78-ace434bd0a60" providerId="ADAL" clId="{BB1FBCEE-720A-4BC8-B896-5F1AD7000908}" dt="2026-08-27T17:49:52.856" v="2524" actId="403"/>
          <ac:spMkLst>
            <pc:docMk/>
            <pc:sldMk cId="0" sldId="257"/>
            <ac:spMk id="11" creationId="{00000000-0000-0000-0000-000000000000}"/>
          </ac:spMkLst>
        </pc:spChg>
        <pc:spChg chg="mod">
          <ac:chgData name="Kristyna Ferris" userId="86aeac9f-971e-413b-9f78-ace434bd0a60" providerId="ADAL" clId="{BB1FBCEE-720A-4BC8-B896-5F1AD7000908}" dt="2026-08-27T17:50:04.806" v="2528" actId="14100"/>
          <ac:spMkLst>
            <pc:docMk/>
            <pc:sldMk cId="0" sldId="257"/>
            <ac:spMk id="12" creationId="{00000000-0000-0000-0000-000000000000}"/>
          </ac:spMkLst>
        </pc:spChg>
        <pc:spChg chg="mod">
          <ac:chgData name="Kristyna Ferris" userId="86aeac9f-971e-413b-9f78-ace434bd0a60" providerId="ADAL" clId="{BB1FBCEE-720A-4BC8-B896-5F1AD7000908}" dt="2026-08-27T17:50:01.272" v="2527" actId="1076"/>
          <ac:spMkLst>
            <pc:docMk/>
            <pc:sldMk cId="0" sldId="257"/>
            <ac:spMk id="13" creationId="{00000000-0000-0000-0000-000000000000}"/>
          </ac:spMkLst>
        </pc:spChg>
        <pc:spChg chg="mod">
          <ac:chgData name="Kristyna Ferris" userId="86aeac9f-971e-413b-9f78-ace434bd0a60" providerId="ADAL" clId="{BB1FBCEE-720A-4BC8-B896-5F1AD7000908}" dt="2026-08-27T17:50:14.873" v="2530" actId="1076"/>
          <ac:spMkLst>
            <pc:docMk/>
            <pc:sldMk cId="0" sldId="257"/>
            <ac:spMk id="14" creationId="{00000000-0000-0000-0000-000000000000}"/>
          </ac:spMkLst>
        </pc:spChg>
      </pc:sldChg>
      <pc:sldChg chg="modSp mod">
        <pc:chgData name="Kristyna Ferris" userId="86aeac9f-971e-413b-9f78-ace434bd0a60" providerId="ADAL" clId="{BB1FBCEE-720A-4BC8-B896-5F1AD7000908}" dt="2026-08-27T17:51:26.322" v="2551" actId="1076"/>
        <pc:sldMkLst>
          <pc:docMk/>
          <pc:sldMk cId="0" sldId="258"/>
        </pc:sldMkLst>
        <pc:spChg chg="mod">
          <ac:chgData name="Kristyna Ferris" userId="86aeac9f-971e-413b-9f78-ace434bd0a60" providerId="ADAL" clId="{BB1FBCEE-720A-4BC8-B896-5F1AD7000908}" dt="2026-08-27T17:50:55.177" v="2540" actId="207"/>
          <ac:spMkLst>
            <pc:docMk/>
            <pc:sldMk cId="0" sldId="258"/>
            <ac:spMk id="2" creationId="{00000000-0000-0000-0000-000000000000}"/>
          </ac:spMkLst>
        </pc:spChg>
        <pc:spChg chg="mod">
          <ac:chgData name="Kristyna Ferris" userId="86aeac9f-971e-413b-9f78-ace434bd0a60" providerId="ADAL" clId="{BB1FBCEE-720A-4BC8-B896-5F1AD7000908}" dt="2026-08-27T17:51:05.456" v="2543" actId="14100"/>
          <ac:spMkLst>
            <pc:docMk/>
            <pc:sldMk cId="0" sldId="258"/>
            <ac:spMk id="9" creationId="{00000000-0000-0000-0000-000000000000}"/>
          </ac:spMkLst>
        </pc:spChg>
        <pc:spChg chg="mod">
          <ac:chgData name="Kristyna Ferris" userId="86aeac9f-971e-413b-9f78-ace434bd0a60" providerId="ADAL" clId="{BB1FBCEE-720A-4BC8-B896-5F1AD7000908}" dt="2026-08-27T17:51:18.520" v="2549" actId="403"/>
          <ac:spMkLst>
            <pc:docMk/>
            <pc:sldMk cId="0" sldId="258"/>
            <ac:spMk id="11" creationId="{00000000-0000-0000-0000-000000000000}"/>
          </ac:spMkLst>
        </pc:spChg>
        <pc:spChg chg="mod">
          <ac:chgData name="Kristyna Ferris" userId="86aeac9f-971e-413b-9f78-ace434bd0a60" providerId="ADAL" clId="{BB1FBCEE-720A-4BC8-B896-5F1AD7000908}" dt="2026-08-27T17:51:26.322" v="2551" actId="1076"/>
          <ac:spMkLst>
            <pc:docMk/>
            <pc:sldMk cId="0" sldId="258"/>
            <ac:spMk id="12" creationId="{00000000-0000-0000-0000-000000000000}"/>
          </ac:spMkLst>
        </pc:spChg>
        <pc:spChg chg="mod">
          <ac:chgData name="Kristyna Ferris" userId="86aeac9f-971e-413b-9f78-ace434bd0a60" providerId="ADAL" clId="{BB1FBCEE-720A-4BC8-B896-5F1AD7000908}" dt="2026-08-27T17:51:23.039" v="2550" actId="1076"/>
          <ac:spMkLst>
            <pc:docMk/>
            <pc:sldMk cId="0" sldId="258"/>
            <ac:spMk id="13" creationId="{00000000-0000-0000-0000-000000000000}"/>
          </ac:spMkLst>
        </pc:spChg>
        <pc:spChg chg="mod">
          <ac:chgData name="Kristyna Ferris" userId="86aeac9f-971e-413b-9f78-ace434bd0a60" providerId="ADAL" clId="{BB1FBCEE-720A-4BC8-B896-5F1AD7000908}" dt="2026-08-27T17:51:14.806" v="2547" actId="14100"/>
          <ac:spMkLst>
            <pc:docMk/>
            <pc:sldMk cId="0" sldId="258"/>
            <ac:spMk id="14" creationId="{00000000-0000-0000-0000-000000000000}"/>
          </ac:spMkLst>
        </pc:spChg>
      </pc:sldChg>
      <pc:sldChg chg="modSp mod">
        <pc:chgData name="Kristyna Ferris" userId="86aeac9f-971e-413b-9f78-ace434bd0a60" providerId="ADAL" clId="{BB1FBCEE-720A-4BC8-B896-5F1AD7000908}" dt="2026-08-27T17:53:01.754" v="2593" actId="14100"/>
        <pc:sldMkLst>
          <pc:docMk/>
          <pc:sldMk cId="0" sldId="259"/>
        </pc:sldMkLst>
        <pc:spChg chg="mod">
          <ac:chgData name="Kristyna Ferris" userId="86aeac9f-971e-413b-9f78-ace434bd0a60" providerId="ADAL" clId="{BB1FBCEE-720A-4BC8-B896-5F1AD7000908}" dt="2026-08-27T17:51:37.332" v="2554" actId="207"/>
          <ac:spMkLst>
            <pc:docMk/>
            <pc:sldMk cId="0" sldId="259"/>
            <ac:spMk id="2" creationId="{00000000-0000-0000-0000-000000000000}"/>
          </ac:spMkLst>
        </pc:spChg>
        <pc:spChg chg="mod">
          <ac:chgData name="Kristyna Ferris" userId="86aeac9f-971e-413b-9f78-ace434bd0a60" providerId="ADAL" clId="{BB1FBCEE-720A-4BC8-B896-5F1AD7000908}" dt="2026-08-27T17:53:01.754" v="2593" actId="14100"/>
          <ac:spMkLst>
            <pc:docMk/>
            <pc:sldMk cId="0" sldId="259"/>
            <ac:spMk id="9" creationId="{00000000-0000-0000-0000-000000000000}"/>
          </ac:spMkLst>
        </pc:spChg>
        <pc:spChg chg="mod">
          <ac:chgData name="Kristyna Ferris" userId="86aeac9f-971e-413b-9f78-ace434bd0a60" providerId="ADAL" clId="{BB1FBCEE-720A-4BC8-B896-5F1AD7000908}" dt="2026-08-27T17:52:28.138" v="2587" actId="404"/>
          <ac:spMkLst>
            <pc:docMk/>
            <pc:sldMk cId="0" sldId="259"/>
            <ac:spMk id="11" creationId="{00000000-0000-0000-0000-000000000000}"/>
          </ac:spMkLst>
        </pc:spChg>
        <pc:spChg chg="mod">
          <ac:chgData name="Kristyna Ferris" userId="86aeac9f-971e-413b-9f78-ace434bd0a60" providerId="ADAL" clId="{BB1FBCEE-720A-4BC8-B896-5F1AD7000908}" dt="2026-08-27T17:52:28.138" v="2587" actId="404"/>
          <ac:spMkLst>
            <pc:docMk/>
            <pc:sldMk cId="0" sldId="259"/>
            <ac:spMk id="12" creationId="{00000000-0000-0000-0000-000000000000}"/>
          </ac:spMkLst>
        </pc:spChg>
        <pc:spChg chg="mod">
          <ac:chgData name="Kristyna Ferris" userId="86aeac9f-971e-413b-9f78-ace434bd0a60" providerId="ADAL" clId="{BB1FBCEE-720A-4BC8-B896-5F1AD7000908}" dt="2026-08-27T17:52:28.138" v="2587" actId="404"/>
          <ac:spMkLst>
            <pc:docMk/>
            <pc:sldMk cId="0" sldId="259"/>
            <ac:spMk id="13" creationId="{00000000-0000-0000-0000-000000000000}"/>
          </ac:spMkLst>
        </pc:spChg>
        <pc:spChg chg="mod">
          <ac:chgData name="Kristyna Ferris" userId="86aeac9f-971e-413b-9f78-ace434bd0a60" providerId="ADAL" clId="{BB1FBCEE-720A-4BC8-B896-5F1AD7000908}" dt="2026-08-27T17:52:13.743" v="2584" actId="1036"/>
          <ac:spMkLst>
            <pc:docMk/>
            <pc:sldMk cId="0" sldId="259"/>
            <ac:spMk id="14" creationId="{00000000-0000-0000-0000-000000000000}"/>
          </ac:spMkLst>
        </pc:spChg>
      </pc:sldChg>
      <pc:sldChg chg="modSp mod">
        <pc:chgData name="Kristyna Ferris" userId="86aeac9f-971e-413b-9f78-ace434bd0a60" providerId="ADAL" clId="{BB1FBCEE-720A-4BC8-B896-5F1AD7000908}" dt="2026-08-27T17:37:38.121" v="2374" actId="14100"/>
        <pc:sldMkLst>
          <pc:docMk/>
          <pc:sldMk cId="3191924136" sldId="301"/>
        </pc:sldMkLst>
        <pc:spChg chg="mod">
          <ac:chgData name="Kristyna Ferris" userId="86aeac9f-971e-413b-9f78-ace434bd0a60" providerId="ADAL" clId="{BB1FBCEE-720A-4BC8-B896-5F1AD7000908}" dt="2026-08-27T17:37:38.121" v="2374" actId="14100"/>
          <ac:spMkLst>
            <pc:docMk/>
            <pc:sldMk cId="3191924136" sldId="301"/>
            <ac:spMk id="2" creationId="{1ACC833C-F9DE-4F86-BD1A-8E5E46965699}"/>
          </ac:spMkLst>
        </pc:spChg>
      </pc:sldChg>
      <pc:sldChg chg="modSp mod">
        <pc:chgData name="Kristyna Ferris" userId="86aeac9f-971e-413b-9f78-ace434bd0a60" providerId="ADAL" clId="{BB1FBCEE-720A-4BC8-B896-5F1AD7000908}" dt="2026-08-27T17:54:23.437" v="2612" actId="403"/>
        <pc:sldMkLst>
          <pc:docMk/>
          <pc:sldMk cId="1899300546" sldId="303"/>
        </pc:sldMkLst>
        <pc:spChg chg="mod">
          <ac:chgData name="Kristyna Ferris" userId="86aeac9f-971e-413b-9f78-ace434bd0a60" providerId="ADAL" clId="{BB1FBCEE-720A-4BC8-B896-5F1AD7000908}" dt="2026-08-27T17:54:23.437" v="2612" actId="403"/>
          <ac:spMkLst>
            <pc:docMk/>
            <pc:sldMk cId="1899300546" sldId="303"/>
            <ac:spMk id="4" creationId="{35065010-101B-A31C-F40D-A3351F0A6F5F}"/>
          </ac:spMkLst>
        </pc:spChg>
        <pc:spChg chg="mod">
          <ac:chgData name="Kristyna Ferris" userId="86aeac9f-971e-413b-9f78-ace434bd0a60" providerId="ADAL" clId="{BB1FBCEE-720A-4BC8-B896-5F1AD7000908}" dt="2026-08-27T17:53:46.577" v="2602" actId="27636"/>
          <ac:spMkLst>
            <pc:docMk/>
            <pc:sldMk cId="1899300546" sldId="303"/>
            <ac:spMk id="9" creationId="{B6A5E241-A85F-AB7B-B43E-2A65CAE1E13F}"/>
          </ac:spMkLst>
        </pc:spChg>
        <pc:spChg chg="mod">
          <ac:chgData name="Kristyna Ferris" userId="86aeac9f-971e-413b-9f78-ace434bd0a60" providerId="ADAL" clId="{BB1FBCEE-720A-4BC8-B896-5F1AD7000908}" dt="2026-08-27T17:53:43.254" v="2600" actId="403"/>
          <ac:spMkLst>
            <pc:docMk/>
            <pc:sldMk cId="1899300546" sldId="303"/>
            <ac:spMk id="10" creationId="{4BB3AE77-A36C-83C1-8EA8-760E45C41234}"/>
          </ac:spMkLst>
        </pc:spChg>
      </pc:sldChg>
      <pc:sldChg chg="modSp mod">
        <pc:chgData name="Kristyna Ferris" userId="86aeac9f-971e-413b-9f78-ace434bd0a60" providerId="ADAL" clId="{BB1FBCEE-720A-4BC8-B896-5F1AD7000908}" dt="2026-08-27T17:54:42.943" v="2613" actId="403"/>
        <pc:sldMkLst>
          <pc:docMk/>
          <pc:sldMk cId="2916825466" sldId="305"/>
        </pc:sldMkLst>
        <pc:spChg chg="mod">
          <ac:chgData name="Kristyna Ferris" userId="86aeac9f-971e-413b-9f78-ace434bd0a60" providerId="ADAL" clId="{BB1FBCEE-720A-4BC8-B896-5F1AD7000908}" dt="2026-08-27T17:54:42.943" v="2613" actId="403"/>
          <ac:spMkLst>
            <pc:docMk/>
            <pc:sldMk cId="2916825466" sldId="305"/>
            <ac:spMk id="2" creationId="{D548FB7B-D82F-45C8-6B1E-BB4560AE574D}"/>
          </ac:spMkLst>
        </pc:spChg>
        <pc:spChg chg="mod">
          <ac:chgData name="Kristyna Ferris" userId="86aeac9f-971e-413b-9f78-ace434bd0a60" providerId="ADAL" clId="{BB1FBCEE-720A-4BC8-B896-5F1AD7000908}" dt="2026-08-27T17:54:42.943" v="2613" actId="403"/>
          <ac:spMkLst>
            <pc:docMk/>
            <pc:sldMk cId="2916825466" sldId="305"/>
            <ac:spMk id="3" creationId="{39F1C964-D653-9011-022E-DDD46B6AAC2D}"/>
          </ac:spMkLst>
        </pc:spChg>
        <pc:spChg chg="mod">
          <ac:chgData name="Kristyna Ferris" userId="86aeac9f-971e-413b-9f78-ace434bd0a60" providerId="ADAL" clId="{BB1FBCEE-720A-4BC8-B896-5F1AD7000908}" dt="2026-08-27T17:54:02.687" v="2604" actId="403"/>
          <ac:spMkLst>
            <pc:docMk/>
            <pc:sldMk cId="2916825466" sldId="305"/>
            <ac:spMk id="4" creationId="{22B2CC76-997C-61A7-EF72-B9A87C251693}"/>
          </ac:spMkLst>
        </pc:spChg>
        <pc:spChg chg="mod">
          <ac:chgData name="Kristyna Ferris" userId="86aeac9f-971e-413b-9f78-ace434bd0a60" providerId="ADAL" clId="{BB1FBCEE-720A-4BC8-B896-5F1AD7000908}" dt="2026-08-27T17:54:42.943" v="2613" actId="403"/>
          <ac:spMkLst>
            <pc:docMk/>
            <pc:sldMk cId="2916825466" sldId="305"/>
            <ac:spMk id="5" creationId="{815552CE-D616-2DC0-5EC5-B0E1AE932462}"/>
          </ac:spMkLst>
        </pc:spChg>
        <pc:spChg chg="mod">
          <ac:chgData name="Kristyna Ferris" userId="86aeac9f-971e-413b-9f78-ace434bd0a60" providerId="ADAL" clId="{BB1FBCEE-720A-4BC8-B896-5F1AD7000908}" dt="2026-08-27T17:54:42.943" v="2613" actId="403"/>
          <ac:spMkLst>
            <pc:docMk/>
            <pc:sldMk cId="2916825466" sldId="305"/>
            <ac:spMk id="6" creationId="{9C505FB0-6A10-2745-BCE0-3C40C0C8B63F}"/>
          </ac:spMkLst>
        </pc:spChg>
        <pc:spChg chg="mod">
          <ac:chgData name="Kristyna Ferris" userId="86aeac9f-971e-413b-9f78-ace434bd0a60" providerId="ADAL" clId="{BB1FBCEE-720A-4BC8-B896-5F1AD7000908}" dt="2026-08-27T17:54:42.943" v="2613" actId="403"/>
          <ac:spMkLst>
            <pc:docMk/>
            <pc:sldMk cId="2916825466" sldId="305"/>
            <ac:spMk id="7" creationId="{54FB029F-6F89-E988-90E1-1723B13A4A2A}"/>
          </ac:spMkLst>
        </pc:spChg>
        <pc:spChg chg="mod">
          <ac:chgData name="Kristyna Ferris" userId="86aeac9f-971e-413b-9f78-ace434bd0a60" providerId="ADAL" clId="{BB1FBCEE-720A-4BC8-B896-5F1AD7000908}" dt="2026-08-27T17:54:42.943" v="2613" actId="403"/>
          <ac:spMkLst>
            <pc:docMk/>
            <pc:sldMk cId="2916825466" sldId="305"/>
            <ac:spMk id="8" creationId="{451D558B-0597-6D94-C0FB-C35B3EA03948}"/>
          </ac:spMkLst>
        </pc:spChg>
        <pc:spChg chg="mod">
          <ac:chgData name="Kristyna Ferris" userId="86aeac9f-971e-413b-9f78-ace434bd0a60" providerId="ADAL" clId="{BB1FBCEE-720A-4BC8-B896-5F1AD7000908}" dt="2026-08-27T17:53:57.991" v="2603" actId="403"/>
          <ac:spMkLst>
            <pc:docMk/>
            <pc:sldMk cId="2916825466" sldId="305"/>
            <ac:spMk id="10" creationId="{C39A1C6B-580C-4F2F-757C-C23F5D313946}"/>
          </ac:spMkLst>
        </pc:spChg>
        <pc:spChg chg="mod">
          <ac:chgData name="Kristyna Ferris" userId="86aeac9f-971e-413b-9f78-ace434bd0a60" providerId="ADAL" clId="{BB1FBCEE-720A-4BC8-B896-5F1AD7000908}" dt="2026-08-27T17:54:42.943" v="2613" actId="403"/>
          <ac:spMkLst>
            <pc:docMk/>
            <pc:sldMk cId="2916825466" sldId="305"/>
            <ac:spMk id="13" creationId="{65F5A33D-BF9A-CC99-8349-22775415DFF4}"/>
          </ac:spMkLst>
        </pc:spChg>
        <pc:spChg chg="mod">
          <ac:chgData name="Kristyna Ferris" userId="86aeac9f-971e-413b-9f78-ace434bd0a60" providerId="ADAL" clId="{BB1FBCEE-720A-4BC8-B896-5F1AD7000908}" dt="2026-08-27T17:54:42.943" v="2613" actId="403"/>
          <ac:spMkLst>
            <pc:docMk/>
            <pc:sldMk cId="2916825466" sldId="305"/>
            <ac:spMk id="15" creationId="{84845400-83B1-7124-8839-6065202970C0}"/>
          </ac:spMkLst>
        </pc:spChg>
        <pc:spChg chg="mod">
          <ac:chgData name="Kristyna Ferris" userId="86aeac9f-971e-413b-9f78-ace434bd0a60" providerId="ADAL" clId="{BB1FBCEE-720A-4BC8-B896-5F1AD7000908}" dt="2026-08-27T17:54:42.943" v="2613" actId="403"/>
          <ac:spMkLst>
            <pc:docMk/>
            <pc:sldMk cId="2916825466" sldId="305"/>
            <ac:spMk id="32" creationId="{DE86AC42-2B32-73B3-06CE-5D7931BFFA31}"/>
          </ac:spMkLst>
        </pc:spChg>
        <pc:spChg chg="mod">
          <ac:chgData name="Kristyna Ferris" userId="86aeac9f-971e-413b-9f78-ace434bd0a60" providerId="ADAL" clId="{BB1FBCEE-720A-4BC8-B896-5F1AD7000908}" dt="2026-08-27T17:54:42.943" v="2613" actId="403"/>
          <ac:spMkLst>
            <pc:docMk/>
            <pc:sldMk cId="2916825466" sldId="305"/>
            <ac:spMk id="33" creationId="{E40A7034-CBB2-07AC-19EA-A61DB67C262D}"/>
          </ac:spMkLst>
        </pc:spChg>
      </pc:sldChg>
      <pc:sldChg chg="modSp mod">
        <pc:chgData name="Kristyna Ferris" userId="86aeac9f-971e-413b-9f78-ace434bd0a60" providerId="ADAL" clId="{BB1FBCEE-720A-4BC8-B896-5F1AD7000908}" dt="2026-08-27T17:53:24.438" v="2597" actId="27636"/>
        <pc:sldMkLst>
          <pc:docMk/>
          <pc:sldMk cId="1322471373" sldId="309"/>
        </pc:sldMkLst>
        <pc:spChg chg="mod">
          <ac:chgData name="Kristyna Ferris" userId="86aeac9f-971e-413b-9f78-ace434bd0a60" providerId="ADAL" clId="{BB1FBCEE-720A-4BC8-B896-5F1AD7000908}" dt="2026-08-27T17:53:24.438" v="2597" actId="27636"/>
          <ac:spMkLst>
            <pc:docMk/>
            <pc:sldMk cId="1322471373" sldId="309"/>
            <ac:spMk id="10" creationId="{7CF1C055-4267-AD1C-EE3C-C0B915ACE389}"/>
          </ac:spMkLst>
        </pc:spChg>
      </pc:sldChg>
      <pc:sldChg chg="modSp mod">
        <pc:chgData name="Kristyna Ferris" userId="86aeac9f-971e-413b-9f78-ace434bd0a60" providerId="ADAL" clId="{BB1FBCEE-720A-4BC8-B896-5F1AD7000908}" dt="2026-08-27T17:53:35.202" v="2599" actId="27636"/>
        <pc:sldMkLst>
          <pc:docMk/>
          <pc:sldMk cId="3560228028" sldId="310"/>
        </pc:sldMkLst>
        <pc:spChg chg="mod">
          <ac:chgData name="Kristyna Ferris" userId="86aeac9f-971e-413b-9f78-ace434bd0a60" providerId="ADAL" clId="{BB1FBCEE-720A-4BC8-B896-5F1AD7000908}" dt="2026-08-24T19:22:27.687" v="2365" actId="27636"/>
          <ac:spMkLst>
            <pc:docMk/>
            <pc:sldMk cId="3560228028" sldId="310"/>
            <ac:spMk id="7" creationId="{8B0BBDFE-5741-2BAD-EB66-4AE07AD4139C}"/>
          </ac:spMkLst>
        </pc:spChg>
        <pc:spChg chg="mod">
          <ac:chgData name="Kristyna Ferris" userId="86aeac9f-971e-413b-9f78-ace434bd0a60" providerId="ADAL" clId="{BB1FBCEE-720A-4BC8-B896-5F1AD7000908}" dt="2026-08-27T17:53:35.202" v="2599" actId="27636"/>
          <ac:spMkLst>
            <pc:docMk/>
            <pc:sldMk cId="3560228028" sldId="310"/>
            <ac:spMk id="10" creationId="{5E149D8E-7DFF-2261-C034-BF9A5432AB2B}"/>
          </ac:spMkLst>
        </pc:spChg>
        <pc:spChg chg="mod">
          <ac:chgData name="Kristyna Ferris" userId="86aeac9f-971e-413b-9f78-ace434bd0a60" providerId="ADAL" clId="{BB1FBCEE-720A-4BC8-B896-5F1AD7000908}" dt="2026-08-24T19:22:27.684" v="2364" actId="27636"/>
          <ac:spMkLst>
            <pc:docMk/>
            <pc:sldMk cId="3560228028" sldId="310"/>
            <ac:spMk id="28" creationId="{98487582-5D07-7F43-1E15-39E165EFAAEA}"/>
          </ac:spMkLst>
        </pc:spChg>
        <pc:spChg chg="mod">
          <ac:chgData name="Kristyna Ferris" userId="86aeac9f-971e-413b-9f78-ace434bd0a60" providerId="ADAL" clId="{BB1FBCEE-720A-4BC8-B896-5F1AD7000908}" dt="2026-08-24T19:22:27.683" v="2363" actId="27636"/>
          <ac:spMkLst>
            <pc:docMk/>
            <pc:sldMk cId="3560228028" sldId="310"/>
            <ac:spMk id="35" creationId="{379C1A01-D09E-E668-B538-FF2F547E20D2}"/>
          </ac:spMkLst>
        </pc:spChg>
      </pc:sldChg>
      <pc:sldChg chg="modSp mod">
        <pc:chgData name="Kristyna Ferris" userId="86aeac9f-971e-413b-9f78-ace434bd0a60" providerId="ADAL" clId="{BB1FBCEE-720A-4BC8-B896-5F1AD7000908}" dt="2026-08-27T17:55:01.253" v="2614" actId="14100"/>
        <pc:sldMkLst>
          <pc:docMk/>
          <pc:sldMk cId="466001282" sldId="311"/>
        </pc:sldMkLst>
        <pc:spChg chg="mod">
          <ac:chgData name="Kristyna Ferris" userId="86aeac9f-971e-413b-9f78-ace434bd0a60" providerId="ADAL" clId="{BB1FBCEE-720A-4BC8-B896-5F1AD7000908}" dt="2026-08-27T17:55:01.253" v="2614" actId="14100"/>
          <ac:spMkLst>
            <pc:docMk/>
            <pc:sldMk cId="466001282" sldId="311"/>
            <ac:spMk id="2" creationId="{476E1242-257A-D7C8-8071-5D330580D89D}"/>
          </ac:spMkLst>
        </pc:spChg>
        <pc:spChg chg="mod">
          <ac:chgData name="Kristyna Ferris" userId="86aeac9f-971e-413b-9f78-ace434bd0a60" providerId="ADAL" clId="{BB1FBCEE-720A-4BC8-B896-5F1AD7000908}" dt="2026-08-24T19:22:27.701" v="2366" actId="27636"/>
          <ac:spMkLst>
            <pc:docMk/>
            <pc:sldMk cId="466001282" sldId="311"/>
            <ac:spMk id="13" creationId="{62A673F0-1E69-A63F-54D6-92F60AB2852D}"/>
          </ac:spMkLst>
        </pc:spChg>
      </pc:sldChg>
      <pc:sldChg chg="modSp mod">
        <pc:chgData name="Kristyna Ferris" userId="86aeac9f-971e-413b-9f78-ace434bd0a60" providerId="ADAL" clId="{BB1FBCEE-720A-4BC8-B896-5F1AD7000908}" dt="2026-08-24T19:22:27.705" v="2367" actId="27636"/>
        <pc:sldMkLst>
          <pc:docMk/>
          <pc:sldMk cId="1966224340" sldId="314"/>
        </pc:sldMkLst>
        <pc:spChg chg="mod">
          <ac:chgData name="Kristyna Ferris" userId="86aeac9f-971e-413b-9f78-ace434bd0a60" providerId="ADAL" clId="{BB1FBCEE-720A-4BC8-B896-5F1AD7000908}" dt="2026-08-24T19:22:27.705" v="2367" actId="27636"/>
          <ac:spMkLst>
            <pc:docMk/>
            <pc:sldMk cId="1966224340" sldId="314"/>
            <ac:spMk id="7" creationId="{EE34352D-E92F-9433-B17A-756CDD333598}"/>
          </ac:spMkLst>
        </pc:spChg>
      </pc:sldChg>
      <pc:sldChg chg="addSp delSp modSp mod">
        <pc:chgData name="Kristyna Ferris" userId="86aeac9f-971e-413b-9f78-ace434bd0a60" providerId="ADAL" clId="{BB1FBCEE-720A-4BC8-B896-5F1AD7000908}" dt="2026-08-27T17:55:15.426" v="2616" actId="22"/>
        <pc:sldMkLst>
          <pc:docMk/>
          <pc:sldMk cId="1264232687" sldId="315"/>
        </pc:sldMkLst>
        <pc:spChg chg="mod">
          <ac:chgData name="Kristyna Ferris" userId="86aeac9f-971e-413b-9f78-ace434bd0a60" providerId="ADAL" clId="{BB1FBCEE-720A-4BC8-B896-5F1AD7000908}" dt="2026-08-24T19:22:27.718" v="2369" actId="27636"/>
          <ac:spMkLst>
            <pc:docMk/>
            <pc:sldMk cId="1264232687" sldId="315"/>
            <ac:spMk id="7" creationId="{5DDE761C-53DA-4B10-FF92-8B12220E0E4D}"/>
          </ac:spMkLst>
        </pc:spChg>
        <pc:picChg chg="del">
          <ac:chgData name="Kristyna Ferris" userId="86aeac9f-971e-413b-9f78-ace434bd0a60" providerId="ADAL" clId="{BB1FBCEE-720A-4BC8-B896-5F1AD7000908}" dt="2026-08-27T17:55:15.099" v="2615" actId="478"/>
          <ac:picMkLst>
            <pc:docMk/>
            <pc:sldMk cId="1264232687" sldId="315"/>
            <ac:picMk id="5" creationId="{7B87159B-9BF1-F95F-F24A-559CFCBC12AC}"/>
          </ac:picMkLst>
        </pc:picChg>
        <pc:picChg chg="add">
          <ac:chgData name="Kristyna Ferris" userId="86aeac9f-971e-413b-9f78-ace434bd0a60" providerId="ADAL" clId="{BB1FBCEE-720A-4BC8-B896-5F1AD7000908}" dt="2026-08-27T17:55:15.426" v="2616" actId="22"/>
          <ac:picMkLst>
            <pc:docMk/>
            <pc:sldMk cId="1264232687" sldId="315"/>
            <ac:picMk id="10" creationId="{4A43A5F1-48F2-9478-931A-1D8468A30079}"/>
          </ac:picMkLst>
        </pc:picChg>
      </pc:sldChg>
      <pc:sldChg chg="addSp delSp modSp mod">
        <pc:chgData name="Kristyna Ferris" userId="86aeac9f-971e-413b-9f78-ace434bd0a60" providerId="ADAL" clId="{BB1FBCEE-720A-4BC8-B896-5F1AD7000908}" dt="2026-08-27T17:55:18.887" v="2618" actId="22"/>
        <pc:sldMkLst>
          <pc:docMk/>
          <pc:sldMk cId="2737249404" sldId="316"/>
        </pc:sldMkLst>
        <pc:spChg chg="mod">
          <ac:chgData name="Kristyna Ferris" userId="86aeac9f-971e-413b-9f78-ace434bd0a60" providerId="ADAL" clId="{BB1FBCEE-720A-4BC8-B896-5F1AD7000908}" dt="2026-08-24T19:22:27.723" v="2370" actId="27636"/>
          <ac:spMkLst>
            <pc:docMk/>
            <pc:sldMk cId="2737249404" sldId="316"/>
            <ac:spMk id="7" creationId="{11B066CB-D101-F828-51FB-C7EC6D8C9993}"/>
          </ac:spMkLst>
        </pc:spChg>
        <pc:picChg chg="add">
          <ac:chgData name="Kristyna Ferris" userId="86aeac9f-971e-413b-9f78-ace434bd0a60" providerId="ADAL" clId="{BB1FBCEE-720A-4BC8-B896-5F1AD7000908}" dt="2026-08-27T17:55:18.887" v="2618" actId="22"/>
          <ac:picMkLst>
            <pc:docMk/>
            <pc:sldMk cId="2737249404" sldId="316"/>
            <ac:picMk id="10" creationId="{E16B4641-DAD2-0084-B39D-6903B4AB91FF}"/>
          </ac:picMkLst>
        </pc:picChg>
        <pc:picChg chg="del">
          <ac:chgData name="Kristyna Ferris" userId="86aeac9f-971e-413b-9f78-ace434bd0a60" providerId="ADAL" clId="{BB1FBCEE-720A-4BC8-B896-5F1AD7000908}" dt="2026-08-27T17:55:18.637" v="2617" actId="478"/>
          <ac:picMkLst>
            <pc:docMk/>
            <pc:sldMk cId="2737249404" sldId="316"/>
            <ac:picMk id="168" creationId="{B3BB1E35-E5F3-354A-38BB-0852FEA42E8F}"/>
          </ac:picMkLst>
        </pc:picChg>
      </pc:sldChg>
      <pc:sldChg chg="modSp mod">
        <pc:chgData name="Kristyna Ferris" userId="86aeac9f-971e-413b-9f78-ace434bd0a60" providerId="ADAL" clId="{BB1FBCEE-720A-4BC8-B896-5F1AD7000908}" dt="2026-08-24T19:22:27.711" v="2368" actId="27636"/>
        <pc:sldMkLst>
          <pc:docMk/>
          <pc:sldMk cId="4273620165" sldId="317"/>
        </pc:sldMkLst>
        <pc:spChg chg="mod">
          <ac:chgData name="Kristyna Ferris" userId="86aeac9f-971e-413b-9f78-ace434bd0a60" providerId="ADAL" clId="{BB1FBCEE-720A-4BC8-B896-5F1AD7000908}" dt="2026-08-24T19:22:27.711" v="2368" actId="27636"/>
          <ac:spMkLst>
            <pc:docMk/>
            <pc:sldMk cId="4273620165" sldId="317"/>
            <ac:spMk id="7" creationId="{C3DF9DF7-CFDB-4406-F059-B2E69A77893E}"/>
          </ac:spMkLst>
        </pc:spChg>
      </pc:sldChg>
      <pc:sldChg chg="modSp mod">
        <pc:chgData name="Kristyna Ferris" userId="86aeac9f-971e-413b-9f78-ace434bd0a60" providerId="ADAL" clId="{BB1FBCEE-720A-4BC8-B896-5F1AD7000908}" dt="2026-08-24T19:22:27.728" v="2371" actId="27636"/>
        <pc:sldMkLst>
          <pc:docMk/>
          <pc:sldMk cId="1525605879" sldId="318"/>
        </pc:sldMkLst>
        <pc:spChg chg="mod">
          <ac:chgData name="Kristyna Ferris" userId="86aeac9f-971e-413b-9f78-ace434bd0a60" providerId="ADAL" clId="{BB1FBCEE-720A-4BC8-B896-5F1AD7000908}" dt="2026-08-24T19:22:27.728" v="2371" actId="27636"/>
          <ac:spMkLst>
            <pc:docMk/>
            <pc:sldMk cId="1525605879" sldId="318"/>
            <ac:spMk id="7" creationId="{F6D8152C-346A-FC9C-359E-38D6FD0BC7D8}"/>
          </ac:spMkLst>
        </pc:spChg>
      </pc:sldChg>
      <pc:sldChg chg="modSp mod">
        <pc:chgData name="Kristyna Ferris" userId="86aeac9f-971e-413b-9f78-ace434bd0a60" providerId="ADAL" clId="{BB1FBCEE-720A-4BC8-B896-5F1AD7000908}" dt="2026-08-27T17:54:12.715" v="2608" actId="404"/>
        <pc:sldMkLst>
          <pc:docMk/>
          <pc:sldMk cId="1109808523" sldId="408"/>
        </pc:sldMkLst>
        <pc:spChg chg="mod">
          <ac:chgData name="Kristyna Ferris" userId="86aeac9f-971e-413b-9f78-ace434bd0a60" providerId="ADAL" clId="{BB1FBCEE-720A-4BC8-B896-5F1AD7000908}" dt="2026-08-27T17:54:12.715" v="2608" actId="404"/>
          <ac:spMkLst>
            <pc:docMk/>
            <pc:sldMk cId="1109808523" sldId="408"/>
            <ac:spMk id="2" creationId="{B5092310-8189-7D57-9FF1-BAD04B711EA6}"/>
          </ac:spMkLst>
        </pc:spChg>
      </pc:sldChg>
      <pc:sldChg chg="modSp mod">
        <pc:chgData name="Kristyna Ferris" userId="86aeac9f-971e-413b-9f78-ace434bd0a60" providerId="ADAL" clId="{BB1FBCEE-720A-4BC8-B896-5F1AD7000908}" dt="2026-08-27T17:39:49.684" v="2375" actId="403"/>
        <pc:sldMkLst>
          <pc:docMk/>
          <pc:sldMk cId="1096399675" sldId="409"/>
        </pc:sldMkLst>
        <pc:spChg chg="mod">
          <ac:chgData name="Kristyna Ferris" userId="86aeac9f-971e-413b-9f78-ace434bd0a60" providerId="ADAL" clId="{BB1FBCEE-720A-4BC8-B896-5F1AD7000908}" dt="2026-08-27T17:39:49.684" v="2375" actId="403"/>
          <ac:spMkLst>
            <pc:docMk/>
            <pc:sldMk cId="1096399675" sldId="409"/>
            <ac:spMk id="2" creationId="{EAD1BDB9-6595-E32C-55BA-9B2150066E2B}"/>
          </ac:spMkLst>
        </pc:spChg>
      </pc:sldChg>
      <pc:sldChg chg="modSp mod">
        <pc:chgData name="Kristyna Ferris" userId="86aeac9f-971e-413b-9f78-ace434bd0a60" providerId="ADAL" clId="{BB1FBCEE-720A-4BC8-B896-5F1AD7000908}" dt="2026-08-27T17:54:09.238" v="2606" actId="404"/>
        <pc:sldMkLst>
          <pc:docMk/>
          <pc:sldMk cId="3313276984" sldId="414"/>
        </pc:sldMkLst>
        <pc:spChg chg="mod">
          <ac:chgData name="Kristyna Ferris" userId="86aeac9f-971e-413b-9f78-ace434bd0a60" providerId="ADAL" clId="{BB1FBCEE-720A-4BC8-B896-5F1AD7000908}" dt="2026-08-27T17:54:09.238" v="2606" actId="404"/>
          <ac:spMkLst>
            <pc:docMk/>
            <pc:sldMk cId="3313276984" sldId="414"/>
            <ac:spMk id="2" creationId="{B360AA04-1755-4E13-8AA8-2D3B42D81FC2}"/>
          </ac:spMkLst>
        </pc:spChg>
      </pc:sldChg>
      <pc:sldChg chg="modSp mod">
        <pc:chgData name="Kristyna Ferris" userId="86aeac9f-971e-413b-9f78-ace434bd0a60" providerId="ADAL" clId="{BB1FBCEE-720A-4BC8-B896-5F1AD7000908}" dt="2026-08-24T19:23:43.745" v="2372" actId="14100"/>
        <pc:sldMkLst>
          <pc:docMk/>
          <pc:sldMk cId="3133497683" sldId="2147482364"/>
        </pc:sldMkLst>
        <pc:spChg chg="mod">
          <ac:chgData name="Kristyna Ferris" userId="86aeac9f-971e-413b-9f78-ace434bd0a60" providerId="ADAL" clId="{BB1FBCEE-720A-4BC8-B896-5F1AD7000908}" dt="2026-08-24T19:23:43.745" v="2372" actId="14100"/>
          <ac:spMkLst>
            <pc:docMk/>
            <pc:sldMk cId="3133497683" sldId="2147482364"/>
            <ac:spMk id="2" creationId="{2020CC65-2D84-3E12-28E3-8CF5E276244D}"/>
          </ac:spMkLst>
        </pc:spChg>
        <pc:spChg chg="mod">
          <ac:chgData name="Kristyna Ferris" userId="86aeac9f-971e-413b-9f78-ace434bd0a60" providerId="ADAL" clId="{BB1FBCEE-720A-4BC8-B896-5F1AD7000908}" dt="2026-08-24T19:22:27.669" v="2362" actId="27636"/>
          <ac:spMkLst>
            <pc:docMk/>
            <pc:sldMk cId="3133497683" sldId="2147482364"/>
            <ac:spMk id="3" creationId="{DAF38228-38FE-B0FF-35BD-580808EBDC9A}"/>
          </ac:spMkLst>
        </pc:spChg>
      </pc:sldChg>
      <pc:sldChg chg="modSp mod">
        <pc:chgData name="Kristyna Ferris" userId="86aeac9f-971e-413b-9f78-ace434bd0a60" providerId="ADAL" clId="{BB1FBCEE-720A-4BC8-B896-5F1AD7000908}" dt="2026-08-27T17:53:13.427" v="2595" actId="403"/>
        <pc:sldMkLst>
          <pc:docMk/>
          <pc:sldMk cId="1520760052" sldId="2147482365"/>
        </pc:sldMkLst>
        <pc:spChg chg="mod">
          <ac:chgData name="Kristyna Ferris" userId="86aeac9f-971e-413b-9f78-ace434bd0a60" providerId="ADAL" clId="{BB1FBCEE-720A-4BC8-B896-5F1AD7000908}" dt="2026-08-27T17:53:10.550" v="2594" actId="403"/>
          <ac:spMkLst>
            <pc:docMk/>
            <pc:sldMk cId="1520760052" sldId="2147482365"/>
            <ac:spMk id="10" creationId="{78DE9982-7B58-3CBE-FA8D-CEF706C57BC5}"/>
          </ac:spMkLst>
        </pc:spChg>
        <pc:spChg chg="mod">
          <ac:chgData name="Kristyna Ferris" userId="86aeac9f-971e-413b-9f78-ace434bd0a60" providerId="ADAL" clId="{BB1FBCEE-720A-4BC8-B896-5F1AD7000908}" dt="2026-08-27T17:53:13.427" v="2595" actId="403"/>
          <ac:spMkLst>
            <pc:docMk/>
            <pc:sldMk cId="1520760052" sldId="2147482365"/>
            <ac:spMk id="17" creationId="{999884F9-9605-5DF8-FEEF-D5F7E0559303}"/>
          </ac:spMkLst>
        </pc:spChg>
      </pc:sldChg>
      <pc:sldMasterChg chg="modTransition delSldLayout modSldLayout">
        <pc:chgData name="Kristyna Ferris" userId="86aeac9f-971e-413b-9f78-ace434bd0a60" providerId="ADAL" clId="{BB1FBCEE-720A-4BC8-B896-5F1AD7000908}" dt="2026-08-18T15:38:33.706" v="2361" actId="2696"/>
        <pc:sldMasterMkLst>
          <pc:docMk/>
          <pc:sldMasterMk cId="3793594815" sldId="2147483702"/>
        </pc:sldMasterMkLst>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hyperlink" Target="https://dataonwheels.wordpress.com/" TargetMode="External"/><Relationship Id="rId5" Type="http://schemas.openxmlformats.org/officeDocument/2006/relationships/image" Target="../media/image42.svg"/><Relationship Id="rId4" Type="http://schemas.microsoft.com/office/2007/relationships/hdphoto" Target="../media/hdphoto1.wdp"/></Relationships>
</file>

<file path=ppt/diagrams/_rels/drawing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dataonwheels.wordpress.com/" TargetMode="External"/><Relationship Id="rId1" Type="http://schemas.openxmlformats.org/officeDocument/2006/relationships/image" Target="../media/image40.svg"/><Relationship Id="rId5" Type="http://schemas.openxmlformats.org/officeDocument/2006/relationships/image" Target="../media/image42.svg"/><Relationship Id="rId4" Type="http://schemas.microsoft.com/office/2007/relationships/hdphoto" Target="../media/hdphoto1.wdp"/></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1C9186-53B8-48DE-BF73-99C92B55F469}" type="doc">
      <dgm:prSet loTypeId="urn:microsoft.com/office/officeart/2005/8/layout/vList3" loCatId="list" qsTypeId="urn:microsoft.com/office/officeart/2005/8/quickstyle/simple4#1" qsCatId="simple" csTypeId="urn:microsoft.com/office/officeart/2005/8/colors/accent2_2#1" csCatId="accent2" phldr="1"/>
      <dgm:spPr/>
      <dgm:t>
        <a:bodyPr/>
        <a:lstStyle/>
        <a:p>
          <a:endParaRPr lang="en-US"/>
        </a:p>
      </dgm:t>
    </dgm:pt>
    <dgm:pt modelId="{1A741F06-3CEC-4081-A5C1-4646B2999E0E}">
      <dgm:prSet custT="1"/>
      <dgm:spPr/>
      <dgm:t>
        <a:bodyPr anchor="ctr"/>
        <a:lstStyle/>
        <a:p>
          <a:pPr algn="r"/>
          <a:r>
            <a:rPr lang="en-US" sz="2400" dirty="0"/>
            <a:t>     </a:t>
          </a:r>
          <a:r>
            <a:rPr lang="en-US" sz="2000" dirty="0">
              <a:hlinkClick xmlns:r="http://schemas.openxmlformats.org/officeDocument/2006/relationships" r:id="rId1">
                <a:extLst>
                  <a:ext uri="{A12FA001-AC4F-418D-AE19-62706E023703}">
                    <ahyp:hlinkClr xmlns:ahyp="http://schemas.microsoft.com/office/drawing/2018/hyperlinkcolor" val="tx"/>
                  </a:ext>
                </a:extLst>
              </a:hlinkClick>
            </a:rPr>
            <a:t>https://dataonwheels.wordpress.com/</a:t>
          </a:r>
          <a:endParaRPr lang="en-US" sz="2400" dirty="0"/>
        </a:p>
      </dgm:t>
    </dgm:pt>
    <dgm:pt modelId="{CA9E987D-4CED-408C-8214-EB14792CAD7A}" type="parTrans" cxnId="{F1615DFE-2AC1-40E3-95A7-719EEB961071}">
      <dgm:prSet/>
      <dgm:spPr/>
      <dgm:t>
        <a:bodyPr/>
        <a:lstStyle/>
        <a:p>
          <a:endParaRPr lang="en-US"/>
        </a:p>
      </dgm:t>
    </dgm:pt>
    <dgm:pt modelId="{3F65FFCB-2E14-484E-8FC4-3EF9E02677A5}" type="sibTrans" cxnId="{F1615DFE-2AC1-40E3-95A7-719EEB961071}">
      <dgm:prSet/>
      <dgm:spPr/>
      <dgm:t>
        <a:bodyPr/>
        <a:lstStyle/>
        <a:p>
          <a:endParaRPr lang="en-US"/>
        </a:p>
      </dgm:t>
    </dgm:pt>
    <dgm:pt modelId="{11D0A9B0-4F99-450C-A393-AAD54CC7D57B}">
      <dgm:prSet custT="1"/>
      <dgm:spPr/>
      <dgm:t>
        <a:bodyPr anchor="ctr"/>
        <a:lstStyle/>
        <a:p>
          <a:pPr algn="r"/>
          <a:r>
            <a:rPr lang="en-US" sz="2800" dirty="0"/>
            <a:t>   kristyna@dataonwheels.com</a:t>
          </a:r>
        </a:p>
      </dgm:t>
    </dgm:pt>
    <dgm:pt modelId="{D41CEB21-EBD6-47BB-93D7-B72EFBAB65B5}" type="parTrans" cxnId="{3F5EFE0B-4E51-45B0-B616-45D1E0AAD1A6}">
      <dgm:prSet/>
      <dgm:spPr/>
      <dgm:t>
        <a:bodyPr/>
        <a:lstStyle/>
        <a:p>
          <a:endParaRPr lang="en-US"/>
        </a:p>
      </dgm:t>
    </dgm:pt>
    <dgm:pt modelId="{E26448A3-5BA9-4D94-ACDC-6F845B6978B8}" type="sibTrans" cxnId="{3F5EFE0B-4E51-45B0-B616-45D1E0AAD1A6}">
      <dgm:prSet/>
      <dgm:spPr/>
      <dgm:t>
        <a:bodyPr/>
        <a:lstStyle/>
        <a:p>
          <a:endParaRPr lang="en-US"/>
        </a:p>
      </dgm:t>
    </dgm:pt>
    <dgm:pt modelId="{361231F2-7620-401E-B7B2-504A39FE9428}">
      <dgm:prSet custT="1"/>
      <dgm:spPr/>
      <dgm:t>
        <a:bodyPr/>
        <a:lstStyle/>
        <a:p>
          <a:r>
            <a:rPr lang="en-US" sz="2800" dirty="0"/>
            <a:t>@data_dragoness</a:t>
          </a:r>
        </a:p>
      </dgm:t>
    </dgm:pt>
    <dgm:pt modelId="{B6BE5CFA-0405-4CA0-A317-68124E78F770}" type="parTrans" cxnId="{FA4AFA78-33A1-4D5C-A316-CC74E84CAF36}">
      <dgm:prSet/>
      <dgm:spPr/>
      <dgm:t>
        <a:bodyPr/>
        <a:lstStyle/>
        <a:p>
          <a:endParaRPr lang="en-US"/>
        </a:p>
      </dgm:t>
    </dgm:pt>
    <dgm:pt modelId="{A2F560F2-8FB5-4EF1-93CC-39928A0172E4}" type="sibTrans" cxnId="{FA4AFA78-33A1-4D5C-A316-CC74E84CAF36}">
      <dgm:prSet/>
      <dgm:spPr/>
      <dgm:t>
        <a:bodyPr/>
        <a:lstStyle/>
        <a:p>
          <a:endParaRPr lang="en-US"/>
        </a:p>
      </dgm:t>
    </dgm:pt>
    <dgm:pt modelId="{C08BFA66-9B75-4031-B345-700AC29B8191}" type="pres">
      <dgm:prSet presAssocID="{831C9186-53B8-48DE-BF73-99C92B55F469}" presName="linearFlow" presStyleCnt="0">
        <dgm:presLayoutVars>
          <dgm:dir/>
          <dgm:resizeHandles val="exact"/>
        </dgm:presLayoutVars>
      </dgm:prSet>
      <dgm:spPr/>
    </dgm:pt>
    <dgm:pt modelId="{BC29B2E5-8B22-4FD5-95F5-9B2717FBFF02}" type="pres">
      <dgm:prSet presAssocID="{361231F2-7620-401E-B7B2-504A39FE9428}" presName="composite" presStyleCnt="0"/>
      <dgm:spPr/>
    </dgm:pt>
    <dgm:pt modelId="{90975B01-8C93-40D1-9B05-BEEC17814EE0}" type="pres">
      <dgm:prSet presAssocID="{361231F2-7620-401E-B7B2-504A39FE9428}" presName="imgShp" presStyleLbl="fgImgPlace1" presStyleIdx="0" presStyleCnt="3" custLinFactX="-13850" custLinFactNeighborX="-100000" custLinFactNeighborY="298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parrow outline"/>
        </a:ext>
      </dgm:extLst>
    </dgm:pt>
    <dgm:pt modelId="{98D19BCF-6FD4-4E0D-A5EB-2EFCE077C912}" type="pres">
      <dgm:prSet presAssocID="{361231F2-7620-401E-B7B2-504A39FE9428}" presName="txShp" presStyleLbl="node1" presStyleIdx="0" presStyleCnt="3" custScaleX="150376" custLinFactNeighborX="899" custLinFactNeighborY="10665">
        <dgm:presLayoutVars>
          <dgm:bulletEnabled val="1"/>
        </dgm:presLayoutVars>
      </dgm:prSet>
      <dgm:spPr/>
    </dgm:pt>
    <dgm:pt modelId="{7F645754-F307-424E-975B-0EE5BEB2BB9A}" type="pres">
      <dgm:prSet presAssocID="{A2F560F2-8FB5-4EF1-93CC-39928A0172E4}" presName="spacing" presStyleCnt="0"/>
      <dgm:spPr/>
    </dgm:pt>
    <dgm:pt modelId="{8C18EA9B-8166-4E2E-96A8-0F5658B698BD}" type="pres">
      <dgm:prSet presAssocID="{1A741F06-3CEC-4081-A5C1-4646B2999E0E}" presName="composite" presStyleCnt="0"/>
      <dgm:spPr/>
    </dgm:pt>
    <dgm:pt modelId="{9C365CB5-B72D-40DB-8732-528E8FDA5750}" type="pres">
      <dgm:prSet presAssocID="{1A741F06-3CEC-4081-A5C1-4646B2999E0E}" presName="imgShp" presStyleLbl="fgImgPlace1" presStyleIdx="1" presStyleCnt="3" custScaleX="80563" custScaleY="71874" custLinFactNeighborX="-19334" custLinFactNeighborY="-524"/>
      <dgm:spPr>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dgm:spPr>
    </dgm:pt>
    <dgm:pt modelId="{51BD5739-4267-4BED-BB3F-56D801D622EA}" type="pres">
      <dgm:prSet presAssocID="{1A741F06-3CEC-4081-A5C1-4646B2999E0E}" presName="txShp" presStyleLbl="node1" presStyleIdx="1" presStyleCnt="3" custScaleX="150376" custLinFactNeighborX="11144" custLinFactNeighborY="-524">
        <dgm:presLayoutVars>
          <dgm:bulletEnabled val="1"/>
        </dgm:presLayoutVars>
      </dgm:prSet>
      <dgm:spPr/>
    </dgm:pt>
    <dgm:pt modelId="{8F5CB601-C35E-4D1F-9CD2-CB07F342EFA5}" type="pres">
      <dgm:prSet presAssocID="{3F65FFCB-2E14-484E-8FC4-3EF9E02677A5}" presName="spacing" presStyleCnt="0"/>
      <dgm:spPr/>
    </dgm:pt>
    <dgm:pt modelId="{2A621669-F974-486F-B0CC-D5279C1A8993}" type="pres">
      <dgm:prSet presAssocID="{11D0A9B0-4F99-450C-A393-AAD54CC7D57B}" presName="composite" presStyleCnt="0"/>
      <dgm:spPr/>
    </dgm:pt>
    <dgm:pt modelId="{7495D3D5-9185-4FC6-99EF-F6D4AFA7B3DC}" type="pres">
      <dgm:prSet presAssocID="{11D0A9B0-4F99-450C-A393-AAD54CC7D57B}" presName="imgShp" presStyleLbl="fgImgPlace1" presStyleIdx="2" presStyleCnt="3" custLinFactX="-9219" custLinFactNeighborX="-100000" custLinFactNeighborY="3010"/>
      <dgm:spPr>
        <a:xfrm>
          <a:off x="0" y="3731483"/>
          <a:ext cx="1434053" cy="1434053"/>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Send outline"/>
        </a:ext>
      </dgm:extLst>
    </dgm:pt>
    <dgm:pt modelId="{36DCB59B-7B0E-4CC8-B732-4523363D854A}" type="pres">
      <dgm:prSet presAssocID="{11D0A9B0-4F99-450C-A393-AAD54CC7D57B}" presName="txShp" presStyleLbl="node1" presStyleIdx="2" presStyleCnt="3" custScaleX="148443">
        <dgm:presLayoutVars>
          <dgm:bulletEnabled val="1"/>
        </dgm:presLayoutVars>
      </dgm:prSet>
      <dgm:spPr/>
    </dgm:pt>
  </dgm:ptLst>
  <dgm:cxnLst>
    <dgm:cxn modelId="{3F5EFE0B-4E51-45B0-B616-45D1E0AAD1A6}" srcId="{831C9186-53B8-48DE-BF73-99C92B55F469}" destId="{11D0A9B0-4F99-450C-A393-AAD54CC7D57B}" srcOrd="2" destOrd="0" parTransId="{D41CEB21-EBD6-47BB-93D7-B72EFBAB65B5}" sibTransId="{E26448A3-5BA9-4D94-ACDC-6F845B6978B8}"/>
    <dgm:cxn modelId="{FF10A413-67B3-40E9-A658-956F4DAFBCDF}" type="presOf" srcId="{11D0A9B0-4F99-450C-A393-AAD54CC7D57B}" destId="{36DCB59B-7B0E-4CC8-B732-4523363D854A}" srcOrd="0" destOrd="0" presId="urn:microsoft.com/office/officeart/2005/8/layout/vList3"/>
    <dgm:cxn modelId="{634AA32A-33B7-46B2-B40E-BEB039B75FE0}" type="presOf" srcId="{1A741F06-3CEC-4081-A5C1-4646B2999E0E}" destId="{51BD5739-4267-4BED-BB3F-56D801D622EA}" srcOrd="0" destOrd="0" presId="urn:microsoft.com/office/officeart/2005/8/layout/vList3"/>
    <dgm:cxn modelId="{FA4AFA78-33A1-4D5C-A316-CC74E84CAF36}" srcId="{831C9186-53B8-48DE-BF73-99C92B55F469}" destId="{361231F2-7620-401E-B7B2-504A39FE9428}" srcOrd="0" destOrd="0" parTransId="{B6BE5CFA-0405-4CA0-A317-68124E78F770}" sibTransId="{A2F560F2-8FB5-4EF1-93CC-39928A0172E4}"/>
    <dgm:cxn modelId="{57BD8F7C-EA18-4EB9-BF59-3A9D43780502}" type="presOf" srcId="{361231F2-7620-401E-B7B2-504A39FE9428}" destId="{98D19BCF-6FD4-4E0D-A5EB-2EFCE077C912}" srcOrd="0" destOrd="0" presId="urn:microsoft.com/office/officeart/2005/8/layout/vList3"/>
    <dgm:cxn modelId="{1373BEF1-7F24-4A09-B6DF-9256A58FA283}" type="presOf" srcId="{831C9186-53B8-48DE-BF73-99C92B55F469}" destId="{C08BFA66-9B75-4031-B345-700AC29B8191}" srcOrd="0" destOrd="0" presId="urn:microsoft.com/office/officeart/2005/8/layout/vList3"/>
    <dgm:cxn modelId="{F1615DFE-2AC1-40E3-95A7-719EEB961071}" srcId="{831C9186-53B8-48DE-BF73-99C92B55F469}" destId="{1A741F06-3CEC-4081-A5C1-4646B2999E0E}" srcOrd="1" destOrd="0" parTransId="{CA9E987D-4CED-408C-8214-EB14792CAD7A}" sibTransId="{3F65FFCB-2E14-484E-8FC4-3EF9E02677A5}"/>
    <dgm:cxn modelId="{C1C5AD4A-1AC0-4C0D-9B20-58E02EFD4A00}" type="presParOf" srcId="{C08BFA66-9B75-4031-B345-700AC29B8191}" destId="{BC29B2E5-8B22-4FD5-95F5-9B2717FBFF02}" srcOrd="0" destOrd="0" presId="urn:microsoft.com/office/officeart/2005/8/layout/vList3"/>
    <dgm:cxn modelId="{E859314D-23E5-4580-853C-1676F1D7398D}" type="presParOf" srcId="{BC29B2E5-8B22-4FD5-95F5-9B2717FBFF02}" destId="{90975B01-8C93-40D1-9B05-BEEC17814EE0}" srcOrd="0" destOrd="0" presId="urn:microsoft.com/office/officeart/2005/8/layout/vList3"/>
    <dgm:cxn modelId="{884B07B0-7303-4493-A181-6BC8F2D207F7}" type="presParOf" srcId="{BC29B2E5-8B22-4FD5-95F5-9B2717FBFF02}" destId="{98D19BCF-6FD4-4E0D-A5EB-2EFCE077C912}" srcOrd="1" destOrd="0" presId="urn:microsoft.com/office/officeart/2005/8/layout/vList3"/>
    <dgm:cxn modelId="{D4DF6AF7-1AB0-4C55-9046-2A6D1790F9C7}" type="presParOf" srcId="{C08BFA66-9B75-4031-B345-700AC29B8191}" destId="{7F645754-F307-424E-975B-0EE5BEB2BB9A}" srcOrd="1" destOrd="0" presId="urn:microsoft.com/office/officeart/2005/8/layout/vList3"/>
    <dgm:cxn modelId="{4E203AE4-7FF1-4D9C-BD94-D32CD9E355C3}" type="presParOf" srcId="{C08BFA66-9B75-4031-B345-700AC29B8191}" destId="{8C18EA9B-8166-4E2E-96A8-0F5658B698BD}" srcOrd="2" destOrd="0" presId="urn:microsoft.com/office/officeart/2005/8/layout/vList3"/>
    <dgm:cxn modelId="{5AB81220-F5F6-4140-A3A3-C8713A41951D}" type="presParOf" srcId="{8C18EA9B-8166-4E2E-96A8-0F5658B698BD}" destId="{9C365CB5-B72D-40DB-8732-528E8FDA5750}" srcOrd="0" destOrd="0" presId="urn:microsoft.com/office/officeart/2005/8/layout/vList3"/>
    <dgm:cxn modelId="{79C43560-9ACA-4A2A-96ED-75A871BFA21B}" type="presParOf" srcId="{8C18EA9B-8166-4E2E-96A8-0F5658B698BD}" destId="{51BD5739-4267-4BED-BB3F-56D801D622EA}" srcOrd="1" destOrd="0" presId="urn:microsoft.com/office/officeart/2005/8/layout/vList3"/>
    <dgm:cxn modelId="{7CE7B8C4-3237-4058-B9D3-DA45CC7BEB7A}" type="presParOf" srcId="{C08BFA66-9B75-4031-B345-700AC29B8191}" destId="{8F5CB601-C35E-4D1F-9CD2-CB07F342EFA5}" srcOrd="3" destOrd="0" presId="urn:microsoft.com/office/officeart/2005/8/layout/vList3"/>
    <dgm:cxn modelId="{D7896E66-067E-4D69-B63D-C76089134A54}" type="presParOf" srcId="{C08BFA66-9B75-4031-B345-700AC29B8191}" destId="{2A621669-F974-486F-B0CC-D5279C1A8993}" srcOrd="4" destOrd="0" presId="urn:microsoft.com/office/officeart/2005/8/layout/vList3"/>
    <dgm:cxn modelId="{5A6CCE06-C29A-4244-9178-F1107D263CFB}" type="presParOf" srcId="{2A621669-F974-486F-B0CC-D5279C1A8993}" destId="{7495D3D5-9185-4FC6-99EF-F6D4AFA7B3DC}" srcOrd="0" destOrd="0" presId="urn:microsoft.com/office/officeart/2005/8/layout/vList3"/>
    <dgm:cxn modelId="{103D00E4-EE2D-41E7-A78E-1E4EABB71AC6}" type="presParOf" srcId="{2A621669-F974-486F-B0CC-D5279C1A8993}" destId="{36DCB59B-7B0E-4CC8-B732-4523363D854A}"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19BCF-6FD4-4E0D-A5EB-2EFCE077C912}">
      <dsp:nvSpPr>
        <dsp:cNvPr id="0" name=""/>
        <dsp:cNvSpPr/>
      </dsp:nvSpPr>
      <dsp:spPr>
        <a:xfrm rot="10800000">
          <a:off x="-1" y="155392"/>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@data_dragoness</a:t>
          </a:r>
        </a:p>
      </dsp:txBody>
      <dsp:txXfrm rot="10800000">
        <a:off x="361835" y="155392"/>
        <a:ext cx="7239763" cy="1447346"/>
      </dsp:txXfrm>
    </dsp:sp>
    <dsp:sp modelId="{90975B01-8C93-40D1-9B05-BEEC17814EE0}">
      <dsp:nvSpPr>
        <dsp:cNvPr id="0" name=""/>
        <dsp:cNvSpPr/>
      </dsp:nvSpPr>
      <dsp:spPr>
        <a:xfrm>
          <a:off x="0" y="44265"/>
          <a:ext cx="1447346" cy="144734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a:effectLst/>
      </dsp:spPr>
      <dsp:style>
        <a:lnRef idx="0">
          <a:scrgbClr r="0" g="0" b="0"/>
        </a:lnRef>
        <a:fillRef idx="1">
          <a:scrgbClr r="0" g="0" b="0"/>
        </a:fillRef>
        <a:effectRef idx="2">
          <a:scrgbClr r="0" g="0" b="0"/>
        </a:effectRef>
        <a:fontRef idx="minor"/>
      </dsp:style>
    </dsp:sp>
    <dsp:sp modelId="{51BD5739-4267-4BED-BB3F-56D801D622EA}">
      <dsp:nvSpPr>
        <dsp:cNvPr id="0" name=""/>
        <dsp:cNvSpPr/>
      </dsp:nvSpPr>
      <dsp:spPr>
        <a:xfrm rot="10800000">
          <a:off x="-1" y="1872839"/>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91440" rIns="170688" bIns="91440" numCol="1" spcCol="1270" anchor="ctr" anchorCtr="0">
          <a:noAutofit/>
        </a:bodyPr>
        <a:lstStyle/>
        <a:p>
          <a:pPr marL="0" lvl="0" indent="0" algn="r" defTabSz="1066800">
            <a:lnSpc>
              <a:spcPct val="90000"/>
            </a:lnSpc>
            <a:spcBef>
              <a:spcPct val="0"/>
            </a:spcBef>
            <a:spcAft>
              <a:spcPct val="35000"/>
            </a:spcAft>
            <a:buNone/>
          </a:pPr>
          <a:r>
            <a:rPr lang="en-US" sz="2400" kern="1200" dirty="0"/>
            <a:t>     </a:t>
          </a:r>
          <a:r>
            <a:rPr lang="en-US" sz="2000" kern="1200" dirty="0">
              <a:hlinkClick xmlns:r="http://schemas.openxmlformats.org/officeDocument/2006/relationships" r:id="rId2">
                <a:extLst>
                  <a:ext uri="{A12FA001-AC4F-418D-AE19-62706E023703}">
                    <ahyp:hlinkClr xmlns:ahyp="http://schemas.microsoft.com/office/drawing/2018/hyperlinkcolor" val="tx"/>
                  </a:ext>
                </a:extLst>
              </a:hlinkClick>
            </a:rPr>
            <a:t>https://dataonwheels.wordpress.com/</a:t>
          </a:r>
          <a:endParaRPr lang="en-US" sz="2400" kern="1200" dirty="0"/>
        </a:p>
      </dsp:txBody>
      <dsp:txXfrm rot="10800000">
        <a:off x="361835" y="1872839"/>
        <a:ext cx="7239763" cy="1447346"/>
      </dsp:txXfrm>
    </dsp:sp>
    <dsp:sp modelId="{9C365CB5-B72D-40DB-8732-528E8FDA5750}">
      <dsp:nvSpPr>
        <dsp:cNvPr id="0" name=""/>
        <dsp:cNvSpPr/>
      </dsp:nvSpPr>
      <dsp:spPr>
        <a:xfrm>
          <a:off x="410424" y="2076380"/>
          <a:ext cx="1166026" cy="1040266"/>
        </a:xfrm>
        <a:prstGeom prst="ellipse">
          <a:avLst/>
        </a:prstGeom>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a:ln>
          <a:noFill/>
        </a:ln>
        <a:effectLst/>
      </dsp:spPr>
      <dsp:style>
        <a:lnRef idx="0">
          <a:scrgbClr r="0" g="0" b="0"/>
        </a:lnRef>
        <a:fillRef idx="1">
          <a:scrgbClr r="0" g="0" b="0"/>
        </a:fillRef>
        <a:effectRef idx="2">
          <a:scrgbClr r="0" g="0" b="0"/>
        </a:effectRef>
        <a:fontRef idx="minor"/>
      </dsp:style>
    </dsp:sp>
    <dsp:sp modelId="{36DCB59B-7B0E-4CC8-B732-4523363D854A}">
      <dsp:nvSpPr>
        <dsp:cNvPr id="0" name=""/>
        <dsp:cNvSpPr/>
      </dsp:nvSpPr>
      <dsp:spPr>
        <a:xfrm rot="10800000">
          <a:off x="48855" y="3759814"/>
          <a:ext cx="7503884"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06680" rIns="199136" bIns="106680" numCol="1" spcCol="1270" anchor="ctr" anchorCtr="0">
          <a:noAutofit/>
        </a:bodyPr>
        <a:lstStyle/>
        <a:p>
          <a:pPr marL="0" lvl="0" indent="0" algn="r" defTabSz="1244600">
            <a:lnSpc>
              <a:spcPct val="90000"/>
            </a:lnSpc>
            <a:spcBef>
              <a:spcPct val="0"/>
            </a:spcBef>
            <a:spcAft>
              <a:spcPct val="35000"/>
            </a:spcAft>
            <a:buNone/>
          </a:pPr>
          <a:r>
            <a:rPr lang="en-US" sz="2800" kern="1200" dirty="0"/>
            <a:t>   kristyna@dataonwheels.com</a:t>
          </a:r>
        </a:p>
      </dsp:txBody>
      <dsp:txXfrm rot="10800000">
        <a:off x="410691" y="3759814"/>
        <a:ext cx="7142048" cy="1447346"/>
      </dsp:txXfrm>
    </dsp:sp>
    <dsp:sp modelId="{7495D3D5-9185-4FC6-99EF-F6D4AFA7B3DC}">
      <dsp:nvSpPr>
        <dsp:cNvPr id="0" name=""/>
        <dsp:cNvSpPr/>
      </dsp:nvSpPr>
      <dsp:spPr>
        <a:xfrm>
          <a:off x="0" y="3760848"/>
          <a:ext cx="1447346" cy="1447346"/>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A4F6D-F7EB-0F4A-A981-95137ADA69AB}"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A35C1-8278-9748-8225-80C021D66BB2}" type="slidenum">
              <a:rPr lang="en-US" smtClean="0"/>
              <a:t>‹#›</a:t>
            </a:fld>
            <a:endParaRPr lang="en-US"/>
          </a:p>
        </p:txBody>
      </p:sp>
    </p:spTree>
    <p:extLst>
      <p:ext uri="{BB962C8B-B14F-4D97-AF65-F5344CB8AC3E}">
        <p14:creationId xmlns:p14="http://schemas.microsoft.com/office/powerpoint/2010/main" val="4077795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typographysmith.com/font-recommendations/top-10-dyslexia-friendly-fonts"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fonts.google.com/specimen/Atkinson+Hyperlegible?preview.script=Lat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ww.mailjerry.com/what-is-a-microsoft-tenant/" TargetMode="External"/><Relationship Id="rId5" Type="http://schemas.openxmlformats.org/officeDocument/2006/relationships/hyperlink" Target="https://learn.microsoft.com/en-us/power-bi/enterprise/service-premium-per-user-faq" TargetMode="External"/><Relationship Id="rId4" Type="http://schemas.openxmlformats.org/officeDocument/2006/relationships/hyperlink" Target="https://kanerika.com/blogs/understanding-microsoft-fabric-pricing/"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learn.microsoft.com/en-us/power-bi/enterprise/service-premium-per-user-faq" TargetMode="External"/><Relationship Id="rId4" Type="http://schemas.openxmlformats.org/officeDocument/2006/relationships/hyperlink" Target="https://kanerika.com/blogs/understanding-microsoft-fabric-pricing/"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zure.microsoft.com/en-us/pricing/details/microsoft-fabric/#pricing"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zure.microsoft.com/en-us/pricing/details/microsoft-fabric/#pricing"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earn.microsoft.com/en-us/fabric/enterprise/metrics-app-install?tabs=1st"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learn.microsoft.com/en-us/azure/cost-management-billing/reservations/fabric-capacity"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learn.microsoft.com/en-us/power-bi/enterprise/service-premium-per-user-faq" TargetMode="Externa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learn.microsoft.com/en-us/power-bi/enterprise/service-premium-per-user-faq"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learn.microsoft.com/en-us/power-bi/enterprise/service-premium-per-user-faq"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learn.microsoft.com/en-us/power-bi/enterprise/service-premium-per-user-faq"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learn.microsoft.com/en-us/power-bi/enterprise/service-premium-per-user-faq"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learn.microsoft.com/en-us/power-bi/enterprise/service-premium-per-user-faq"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017B-1703-FAE0-963B-A872FF36A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8C013-C586-6F75-4484-4B999B7AD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5F174-BA68-F0FC-EED2-0A1069E67CEE}"/>
              </a:ext>
            </a:extLst>
          </p:cNvPr>
          <p:cNvSpPr>
            <a:spLocks noGrp="1"/>
          </p:cNvSpPr>
          <p:nvPr>
            <p:ph type="body" idx="1"/>
          </p:nvPr>
        </p:nvSpPr>
        <p:spPr/>
        <p:txBody>
          <a:bodyPr/>
          <a:lstStyle/>
          <a:p>
            <a:r>
              <a:rPr lang="en-US" dirty="0">
                <a:hlinkClick r:id="rId3"/>
              </a:rPr>
              <a:t>Top 10 Dyslexia-Friendly Fonts for 2026 | </a:t>
            </a:r>
            <a:r>
              <a:rPr lang="en-US" dirty="0" err="1">
                <a:hlinkClick r:id="rId3"/>
              </a:rPr>
              <a:t>TypeSmith</a:t>
            </a:r>
            <a:r>
              <a:rPr lang="en-US" dirty="0">
                <a:hlinkClick r:id="rId3"/>
              </a:rPr>
              <a:t> | </a:t>
            </a:r>
            <a:r>
              <a:rPr lang="en-US" dirty="0" err="1">
                <a:hlinkClick r:id="rId3"/>
              </a:rPr>
              <a:t>TypeSmith</a:t>
            </a:r>
            <a:endParaRPr lang="en-US" dirty="0"/>
          </a:p>
          <a:p>
            <a:r>
              <a:rPr lang="en-US" dirty="0"/>
              <a:t>Download the font from </a:t>
            </a:r>
            <a:r>
              <a:rPr lang="en-US" dirty="0">
                <a:hlinkClick r:id="rId4"/>
              </a:rPr>
              <a:t>Atkinson Hyperlegible - Google Fonts</a:t>
            </a:r>
            <a:r>
              <a:rPr lang="en-US" dirty="0"/>
              <a:t> </a:t>
            </a:r>
          </a:p>
          <a:p>
            <a:r>
              <a:rPr lang="en-US" dirty="0"/>
              <a:t>Extract the files</a:t>
            </a:r>
          </a:p>
          <a:p>
            <a:r>
              <a:rPr lang="en-US" dirty="0"/>
              <a:t>Go to computer settings &gt; personalization &gt; fonts and drop in the files</a:t>
            </a:r>
          </a:p>
          <a:p>
            <a:r>
              <a:rPr lang="en-US" dirty="0"/>
              <a:t>Navigate to Power Point Master Slide</a:t>
            </a:r>
          </a:p>
          <a:p>
            <a:r>
              <a:rPr lang="en-US" dirty="0"/>
              <a:t>Change the font to use Open Dyslexic for the headers and body</a:t>
            </a:r>
          </a:p>
          <a:p>
            <a:r>
              <a:rPr lang="en-US" dirty="0"/>
              <a:t>Done!</a:t>
            </a:r>
          </a:p>
          <a:p>
            <a:endParaRPr lang="en-US" dirty="0"/>
          </a:p>
        </p:txBody>
      </p:sp>
      <p:sp>
        <p:nvSpPr>
          <p:cNvPr id="4" name="Slide Number Placeholder 3">
            <a:extLst>
              <a:ext uri="{FF2B5EF4-FFF2-40B4-BE49-F238E27FC236}">
                <a16:creationId xmlns:a16="http://schemas.microsoft.com/office/drawing/2014/main" id="{0C52C316-4A8D-9F4A-46AD-B3172B689484}"/>
              </a:ext>
            </a:extLst>
          </p:cNvPr>
          <p:cNvSpPr>
            <a:spLocks noGrp="1"/>
          </p:cNvSpPr>
          <p:nvPr>
            <p:ph type="sldNum" sz="quarter" idx="5"/>
          </p:nvPr>
        </p:nvSpPr>
        <p:spPr/>
        <p:txBody>
          <a:bodyPr/>
          <a:lstStyle/>
          <a:p>
            <a:fld id="{0C2C13D3-B291-44D2-95AA-8F8B205FDB45}" type="slidenum">
              <a:rPr lang="en-US" smtClean="0"/>
              <a:t>1</a:t>
            </a:fld>
            <a:endParaRPr lang="en-US"/>
          </a:p>
        </p:txBody>
      </p:sp>
    </p:spTree>
    <p:extLst>
      <p:ext uri="{BB962C8B-B14F-4D97-AF65-F5344CB8AC3E}">
        <p14:creationId xmlns:p14="http://schemas.microsoft.com/office/powerpoint/2010/main" val="150896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40B43-1677-CD56-CB7D-E0F3FD286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3F8B1-6F32-102F-58BD-C75C9EB28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3485B-397D-07B1-4701-B85F693FD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F42446-80CE-4BF8-9B51-0F07AF18B912}"/>
              </a:ext>
            </a:extLst>
          </p:cNvPr>
          <p:cNvSpPr>
            <a:spLocks noGrp="1"/>
          </p:cNvSpPr>
          <p:nvPr>
            <p:ph type="sldNum" sz="quarter" idx="5"/>
          </p:nvPr>
        </p:nvSpPr>
        <p:spPr/>
        <p:txBody>
          <a:bodyPr/>
          <a:lstStyle/>
          <a:p>
            <a:fld id="{0C2C13D3-B291-44D2-95AA-8F8B205FDB45}" type="slidenum">
              <a:rPr lang="en-US" smtClean="0"/>
              <a:t>3</a:t>
            </a:fld>
            <a:endParaRPr lang="en-US"/>
          </a:p>
        </p:txBody>
      </p:sp>
    </p:spTree>
    <p:extLst>
      <p:ext uri="{BB962C8B-B14F-4D97-AF65-F5344CB8AC3E}">
        <p14:creationId xmlns:p14="http://schemas.microsoft.com/office/powerpoint/2010/main" val="575267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Microsoft Fabric concepts - Microsoft Fabric | Microsoft Learn</a:t>
            </a:r>
            <a:br>
              <a:rPr lang="en-US" dirty="0"/>
            </a:br>
            <a:r>
              <a:rPr lang="en-US" dirty="0">
                <a:hlinkClick r:id="rId4"/>
              </a:rPr>
              <a:t>Your Ultimate Guide to Microsoft Fabric Pricing and Licensing</a:t>
            </a:r>
            <a:endParaRPr lang="en-US" dirty="0"/>
          </a:p>
          <a:p>
            <a:r>
              <a:rPr lang="en-US" dirty="0">
                <a:hlinkClick r:id="rId5"/>
              </a:rPr>
              <a:t>Power BI Premium Per User - Power BI | Microsoft Learn</a:t>
            </a:r>
            <a:endParaRPr lang="en-US" dirty="0"/>
          </a:p>
          <a:p>
            <a:r>
              <a:rPr lang="en-US" dirty="0">
                <a:hlinkClick r:id="rId6"/>
              </a:rPr>
              <a:t>What Is a Microsoft Tenant? Tenant Core Concepts Explained</a:t>
            </a:r>
            <a:endParaRPr lang="en-US" dirty="0"/>
          </a:p>
        </p:txBody>
      </p:sp>
      <p:sp>
        <p:nvSpPr>
          <p:cNvPr id="4" name="Slide Number Placeholder 3"/>
          <p:cNvSpPr>
            <a:spLocks noGrp="1"/>
          </p:cNvSpPr>
          <p:nvPr>
            <p:ph type="sldNum" sz="quarter" idx="5"/>
          </p:nvPr>
        </p:nvSpPr>
        <p:spPr/>
        <p:txBody>
          <a:bodyPr/>
          <a:lstStyle/>
          <a:p>
            <a:fld id="{58BA35C1-8278-9748-8225-80C021D66BB2}" type="slidenum">
              <a:rPr lang="en-US" smtClean="0"/>
              <a:t>4</a:t>
            </a:fld>
            <a:endParaRPr lang="en-US"/>
          </a:p>
        </p:txBody>
      </p:sp>
    </p:spTree>
    <p:extLst>
      <p:ext uri="{BB962C8B-B14F-4D97-AF65-F5344CB8AC3E}">
        <p14:creationId xmlns:p14="http://schemas.microsoft.com/office/powerpoint/2010/main" val="2665802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2C560-7C41-08A6-487B-B8BE661CA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9E14B-B924-FAD1-1226-51B86D149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5F9F5-B927-36BF-8022-6F5460522DF0}"/>
              </a:ext>
            </a:extLst>
          </p:cNvPr>
          <p:cNvSpPr>
            <a:spLocks noGrp="1"/>
          </p:cNvSpPr>
          <p:nvPr>
            <p:ph type="body" idx="1"/>
          </p:nvPr>
        </p:nvSpPr>
        <p:spPr/>
        <p:txBody>
          <a:bodyPr/>
          <a:lstStyle/>
          <a:p>
            <a:r>
              <a:rPr lang="en-US" dirty="0">
                <a:hlinkClick r:id="rId3"/>
              </a:rPr>
              <a:t>Microsoft Fabric concepts - Microsoft Fabric | Microsoft Learn</a:t>
            </a:r>
            <a:br>
              <a:rPr lang="en-US" dirty="0"/>
            </a:br>
            <a:r>
              <a:rPr lang="en-US" dirty="0">
                <a:hlinkClick r:id="rId4"/>
              </a:rPr>
              <a:t>Your Ultimate Guide to Microsoft Fabric Pricing and Licensing</a:t>
            </a:r>
            <a:endParaRPr lang="en-US" dirty="0"/>
          </a:p>
          <a:p>
            <a:r>
              <a:rPr lang="en-US" dirty="0">
                <a:hlinkClick r:id="rId5"/>
              </a:rPr>
              <a:t>Power BI Premium Per User - Power BI | Microsoft Learn</a:t>
            </a:r>
            <a:endParaRPr lang="en-US" dirty="0"/>
          </a:p>
        </p:txBody>
      </p:sp>
      <p:sp>
        <p:nvSpPr>
          <p:cNvPr id="4" name="Slide Number Placeholder 3">
            <a:extLst>
              <a:ext uri="{FF2B5EF4-FFF2-40B4-BE49-F238E27FC236}">
                <a16:creationId xmlns:a16="http://schemas.microsoft.com/office/drawing/2014/main" id="{A85EBDEC-39CB-3512-129E-4AC38DBC3863}"/>
              </a:ext>
            </a:extLst>
          </p:cNvPr>
          <p:cNvSpPr>
            <a:spLocks noGrp="1"/>
          </p:cNvSpPr>
          <p:nvPr>
            <p:ph type="sldNum" sz="quarter" idx="5"/>
          </p:nvPr>
        </p:nvSpPr>
        <p:spPr/>
        <p:txBody>
          <a:bodyPr/>
          <a:lstStyle/>
          <a:p>
            <a:fld id="{58BA35C1-8278-9748-8225-80C021D66BB2}" type="slidenum">
              <a:rPr lang="en-US" smtClean="0"/>
              <a:t>5</a:t>
            </a:fld>
            <a:endParaRPr lang="en-US"/>
          </a:p>
        </p:txBody>
      </p:sp>
    </p:spTree>
    <p:extLst>
      <p:ext uri="{BB962C8B-B14F-4D97-AF65-F5344CB8AC3E}">
        <p14:creationId xmlns:p14="http://schemas.microsoft.com/office/powerpoint/2010/main" val="2947953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6339F-11DD-19BD-C610-63A71FAF2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A8BED-5C79-D7EA-75BA-16ABACD487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93203-0E4D-75B8-7BF0-CC43CB92C751}"/>
              </a:ext>
            </a:extLst>
          </p:cNvPr>
          <p:cNvSpPr>
            <a:spLocks noGrp="1"/>
          </p:cNvSpPr>
          <p:nvPr>
            <p:ph type="body" idx="1"/>
          </p:nvPr>
        </p:nvSpPr>
        <p:spPr/>
        <p:txBody>
          <a:bodyPr/>
          <a:lstStyle/>
          <a:p>
            <a:r>
              <a:rPr lang="en-US" dirty="0">
                <a:hlinkClick r:id="rId3"/>
              </a:rPr>
              <a:t>Microsoft Fabric - Pricing | Microsoft Azure</a:t>
            </a:r>
            <a:endParaRPr lang="en-US" dirty="0"/>
          </a:p>
          <a:p>
            <a:endParaRPr lang="en-US" dirty="0"/>
          </a:p>
          <a:p>
            <a:r>
              <a:rPr lang="en-US" dirty="0"/>
              <a:t>Breakeven points:</a:t>
            </a:r>
          </a:p>
          <a:p>
            <a:pPr marL="0" indent="0">
              <a:buFont typeface="Arial" panose="020B0604020202020204" pitchFamily="34" charset="0"/>
              <a:buNone/>
            </a:pPr>
            <a:r>
              <a:rPr lang="en-US" sz="1200" dirty="0"/>
              <a:t>F64 = 358 pro licenses = 209 </a:t>
            </a:r>
            <a:r>
              <a:rPr lang="en-US" sz="1200" dirty="0" err="1"/>
              <a:t>ppu</a:t>
            </a:r>
            <a:r>
              <a:rPr lang="en-US" sz="1200" dirty="0"/>
              <a:t> licenses</a:t>
            </a:r>
          </a:p>
          <a:p>
            <a:pPr marL="0" indent="0">
              <a:buFont typeface="Arial" panose="020B0604020202020204" pitchFamily="34" charset="0"/>
              <a:buNone/>
            </a:pPr>
            <a:r>
              <a:rPr lang="en-US" sz="1200" dirty="0"/>
              <a:t>730 hours FSKU reserved (a month) =  434 hours FSKU pay-as-you-go (18 days) </a:t>
            </a:r>
          </a:p>
          <a:p>
            <a:pPr marL="0" indent="0">
              <a:buFont typeface="Arial" panose="020B0604020202020204" pitchFamily="34" charset="0"/>
              <a:buNone/>
            </a:pPr>
            <a:endParaRPr lang="en-US" sz="1200" dirty="0"/>
          </a:p>
          <a:p>
            <a:pPr marL="0" indent="0">
              <a:buFont typeface="Arial" panose="020B0604020202020204" pitchFamily="34" charset="0"/>
              <a:buNone/>
            </a:pPr>
            <a:r>
              <a:rPr lang="en-US" sz="1200" dirty="0"/>
              <a:t>If you only need capacity for &lt;14 hours a day, pay-as you-go is the best option</a:t>
            </a:r>
          </a:p>
          <a:p>
            <a:endParaRPr lang="en-US" dirty="0"/>
          </a:p>
        </p:txBody>
      </p:sp>
      <p:sp>
        <p:nvSpPr>
          <p:cNvPr id="4" name="Slide Number Placeholder 3">
            <a:extLst>
              <a:ext uri="{FF2B5EF4-FFF2-40B4-BE49-F238E27FC236}">
                <a16:creationId xmlns:a16="http://schemas.microsoft.com/office/drawing/2014/main" id="{A0A9D362-F07E-4B29-87B2-64DFFD624E7A}"/>
              </a:ext>
            </a:extLst>
          </p:cNvPr>
          <p:cNvSpPr>
            <a:spLocks noGrp="1"/>
          </p:cNvSpPr>
          <p:nvPr>
            <p:ph type="sldNum" sz="quarter" idx="5"/>
          </p:nvPr>
        </p:nvSpPr>
        <p:spPr/>
        <p:txBody>
          <a:bodyPr/>
          <a:lstStyle/>
          <a:p>
            <a:fld id="{58BA35C1-8278-9748-8225-80C021D66BB2}" type="slidenum">
              <a:rPr lang="en-US" smtClean="0"/>
              <a:t>10</a:t>
            </a:fld>
            <a:endParaRPr lang="en-US"/>
          </a:p>
        </p:txBody>
      </p:sp>
    </p:spTree>
    <p:extLst>
      <p:ext uri="{BB962C8B-B14F-4D97-AF65-F5344CB8AC3E}">
        <p14:creationId xmlns:p14="http://schemas.microsoft.com/office/powerpoint/2010/main" val="955865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2EF5A-C62C-FA71-82BF-6AAEB84CB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52362-A1B8-EBB5-02C0-E9E6C88FA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757A92-DA95-CE90-1D13-D19E5F22D1EC}"/>
              </a:ext>
            </a:extLst>
          </p:cNvPr>
          <p:cNvSpPr>
            <a:spLocks noGrp="1"/>
          </p:cNvSpPr>
          <p:nvPr>
            <p:ph type="body" idx="1"/>
          </p:nvPr>
        </p:nvSpPr>
        <p:spPr/>
        <p:txBody>
          <a:bodyPr/>
          <a:lstStyle/>
          <a:p>
            <a:r>
              <a:rPr lang="en-US" dirty="0">
                <a:hlinkClick r:id="rId3"/>
              </a:rPr>
              <a:t>Microsoft Fabric - Pricing | Microsoft Azure</a:t>
            </a:r>
            <a:endParaRPr lang="en-US" dirty="0"/>
          </a:p>
          <a:p>
            <a:endParaRPr lang="en-US" dirty="0"/>
          </a:p>
          <a:p>
            <a:r>
              <a:rPr lang="en-US" dirty="0"/>
              <a:t>Breakeven points:</a:t>
            </a:r>
          </a:p>
          <a:p>
            <a:pPr marL="0" indent="0">
              <a:buFont typeface="Arial" panose="020B0604020202020204" pitchFamily="34" charset="0"/>
              <a:buNone/>
            </a:pPr>
            <a:r>
              <a:rPr lang="en-US" sz="1200" dirty="0"/>
              <a:t>F64 = 358 pro licenses = 209 </a:t>
            </a:r>
            <a:r>
              <a:rPr lang="en-US" sz="1200" dirty="0" err="1"/>
              <a:t>ppu</a:t>
            </a:r>
            <a:r>
              <a:rPr lang="en-US" sz="1200" dirty="0"/>
              <a:t> licenses</a:t>
            </a:r>
          </a:p>
          <a:p>
            <a:pPr marL="0" indent="0">
              <a:buFont typeface="Arial" panose="020B0604020202020204" pitchFamily="34" charset="0"/>
              <a:buNone/>
            </a:pPr>
            <a:r>
              <a:rPr lang="en-US" sz="1200" dirty="0"/>
              <a:t>730 hours FSKU reserved (a month) =  434 hours FSKU pay-as-you-go (18 days) </a:t>
            </a:r>
          </a:p>
          <a:p>
            <a:pPr marL="0" indent="0">
              <a:buFont typeface="Arial" panose="020B0604020202020204" pitchFamily="34" charset="0"/>
              <a:buNone/>
            </a:pPr>
            <a:endParaRPr lang="en-US" sz="1200" dirty="0"/>
          </a:p>
          <a:p>
            <a:pPr marL="0" indent="0">
              <a:buFont typeface="Arial" panose="020B0604020202020204" pitchFamily="34" charset="0"/>
              <a:buNone/>
            </a:pPr>
            <a:r>
              <a:rPr lang="en-US" sz="1200" dirty="0"/>
              <a:t>If you only need capacity for &lt;14 hours a day, pay-as you-go is the best option</a:t>
            </a:r>
          </a:p>
          <a:p>
            <a:endParaRPr lang="en-US" dirty="0"/>
          </a:p>
        </p:txBody>
      </p:sp>
      <p:sp>
        <p:nvSpPr>
          <p:cNvPr id="4" name="Slide Number Placeholder 3">
            <a:extLst>
              <a:ext uri="{FF2B5EF4-FFF2-40B4-BE49-F238E27FC236}">
                <a16:creationId xmlns:a16="http://schemas.microsoft.com/office/drawing/2014/main" id="{3398A052-8EB5-CB9F-0902-C84B6C15BCEE}"/>
              </a:ext>
            </a:extLst>
          </p:cNvPr>
          <p:cNvSpPr>
            <a:spLocks noGrp="1"/>
          </p:cNvSpPr>
          <p:nvPr>
            <p:ph type="sldNum" sz="quarter" idx="5"/>
          </p:nvPr>
        </p:nvSpPr>
        <p:spPr/>
        <p:txBody>
          <a:bodyPr/>
          <a:lstStyle/>
          <a:p>
            <a:fld id="{58BA35C1-8278-9748-8225-80C021D66BB2}" type="slidenum">
              <a:rPr lang="en-US" smtClean="0"/>
              <a:t>11</a:t>
            </a:fld>
            <a:endParaRPr lang="en-US"/>
          </a:p>
        </p:txBody>
      </p:sp>
    </p:spTree>
    <p:extLst>
      <p:ext uri="{BB962C8B-B14F-4D97-AF65-F5344CB8AC3E}">
        <p14:creationId xmlns:p14="http://schemas.microsoft.com/office/powerpoint/2010/main" val="3540435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3DFFB-24F3-3420-5F71-A2BBE0CE9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21C68-B1C0-A858-5310-9913BDB75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25731-6B17-2D23-A83D-F1068CF6E330}"/>
              </a:ext>
            </a:extLst>
          </p:cNvPr>
          <p:cNvSpPr>
            <a:spLocks noGrp="1"/>
          </p:cNvSpPr>
          <p:nvPr>
            <p:ph type="body" idx="1"/>
          </p:nvPr>
        </p:nvSpPr>
        <p:spPr/>
        <p:txBody>
          <a:bodyPr/>
          <a:lstStyle/>
          <a:p>
            <a:r>
              <a:rPr lang="en-US" dirty="0">
                <a:hlinkClick r:id="rId3"/>
              </a:rPr>
              <a:t>Install the Microsoft Fabric capacity metrics app - Microsoft Fabric | Microsoft Learn</a:t>
            </a:r>
            <a:endParaRPr lang="en-US" dirty="0"/>
          </a:p>
          <a:p>
            <a:r>
              <a:rPr lang="en-US" dirty="0"/>
              <a:t>F8 allows for multiple spark sessions at a time for notebooks. This allows more than one developer to be working in a notebook at once. </a:t>
            </a:r>
          </a:p>
          <a:p>
            <a:r>
              <a:rPr lang="en-US" dirty="0"/>
              <a:t>F16 has proven to be a good SKU for ingesting multiple data sources into Fabric using a metadata driven approach. </a:t>
            </a:r>
          </a:p>
          <a:p>
            <a:r>
              <a:rPr lang="en-US" dirty="0"/>
              <a:t>F64 unlocks more capabilities, but those are not unlocked with a F64 reservation, only with a F64 capacity. </a:t>
            </a:r>
          </a:p>
        </p:txBody>
      </p:sp>
      <p:sp>
        <p:nvSpPr>
          <p:cNvPr id="4" name="Slide Number Placeholder 3">
            <a:extLst>
              <a:ext uri="{FF2B5EF4-FFF2-40B4-BE49-F238E27FC236}">
                <a16:creationId xmlns:a16="http://schemas.microsoft.com/office/drawing/2014/main" id="{20FE71EA-5EE7-E9BA-9D7B-13AAA6B7F6DD}"/>
              </a:ext>
            </a:extLst>
          </p:cNvPr>
          <p:cNvSpPr>
            <a:spLocks noGrp="1"/>
          </p:cNvSpPr>
          <p:nvPr>
            <p:ph type="sldNum" sz="quarter" idx="5"/>
          </p:nvPr>
        </p:nvSpPr>
        <p:spPr/>
        <p:txBody>
          <a:bodyPr/>
          <a:lstStyle/>
          <a:p>
            <a:fld id="{58BA35C1-8278-9748-8225-80C021D66BB2}" type="slidenum">
              <a:rPr lang="en-US" smtClean="0"/>
              <a:t>12</a:t>
            </a:fld>
            <a:endParaRPr lang="en-US"/>
          </a:p>
        </p:txBody>
      </p:sp>
    </p:spTree>
    <p:extLst>
      <p:ext uri="{BB962C8B-B14F-4D97-AF65-F5344CB8AC3E}">
        <p14:creationId xmlns:p14="http://schemas.microsoft.com/office/powerpoint/2010/main" val="2546271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6855-20C9-BDB7-CD58-064752194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DAF2A-A24D-1D0E-E5D9-2B2CDAE22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57666-6E28-EB4B-73CD-47FA8C0873A6}"/>
              </a:ext>
            </a:extLst>
          </p:cNvPr>
          <p:cNvSpPr>
            <a:spLocks noGrp="1"/>
          </p:cNvSpPr>
          <p:nvPr>
            <p:ph type="body" idx="1"/>
          </p:nvPr>
        </p:nvSpPr>
        <p:spPr/>
        <p:txBody>
          <a:bodyPr/>
          <a:lstStyle/>
          <a:p>
            <a:endParaRPr lang="en-US" sz="1200" dirty="0"/>
          </a:p>
          <a:p>
            <a:r>
              <a:rPr lang="en-US" dirty="0"/>
              <a:t>https://learn.microsoft.com/en-us/azure/cost-management-billing/reservations/fabric-capacity#cancel-exchange-or-refund-reservations </a:t>
            </a:r>
          </a:p>
          <a:p>
            <a:endParaRPr lang="en-US" dirty="0"/>
          </a:p>
        </p:txBody>
      </p:sp>
      <p:sp>
        <p:nvSpPr>
          <p:cNvPr id="4" name="Slide Number Placeholder 3">
            <a:extLst>
              <a:ext uri="{FF2B5EF4-FFF2-40B4-BE49-F238E27FC236}">
                <a16:creationId xmlns:a16="http://schemas.microsoft.com/office/drawing/2014/main" id="{B2EEFB15-D2F8-E8DD-D4DF-FE7829ADAC45}"/>
              </a:ext>
            </a:extLst>
          </p:cNvPr>
          <p:cNvSpPr>
            <a:spLocks noGrp="1"/>
          </p:cNvSpPr>
          <p:nvPr>
            <p:ph type="sldNum" sz="quarter" idx="5"/>
          </p:nvPr>
        </p:nvSpPr>
        <p:spPr/>
        <p:txBody>
          <a:bodyPr/>
          <a:lstStyle/>
          <a:p>
            <a:fld id="{58BA35C1-8278-9748-8225-80C021D66BB2}" type="slidenum">
              <a:rPr lang="en-US" smtClean="0"/>
              <a:t>13</a:t>
            </a:fld>
            <a:endParaRPr lang="en-US"/>
          </a:p>
        </p:txBody>
      </p:sp>
    </p:spTree>
    <p:extLst>
      <p:ext uri="{BB962C8B-B14F-4D97-AF65-F5344CB8AC3E}">
        <p14:creationId xmlns:p14="http://schemas.microsoft.com/office/powerpoint/2010/main" val="3104378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ED7F2-7AF7-659D-BDDE-0C57D2606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BD3FC-FA75-DAA7-1BE3-2F7878D59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1CA38-567C-B21A-1745-33361878B403}"/>
              </a:ext>
            </a:extLst>
          </p:cNvPr>
          <p:cNvSpPr>
            <a:spLocks noGrp="1"/>
          </p:cNvSpPr>
          <p:nvPr>
            <p:ph type="body" idx="1"/>
          </p:nvPr>
        </p:nvSpPr>
        <p:spPr/>
        <p:txBody>
          <a:bodyPr/>
          <a:lstStyle/>
          <a:p>
            <a:r>
              <a:rPr lang="en-US" dirty="0">
                <a:hlinkClick r:id="rId3"/>
              </a:rPr>
              <a:t>Save costs with Microsoft Fabric Capacity reservations - Microsoft Cost Management | Microsoft Learn</a:t>
            </a:r>
            <a:endParaRPr lang="en-US" dirty="0"/>
          </a:p>
          <a:p>
            <a:pPr marL="342900" indent="-342900">
              <a:buFont typeface="Arial" panose="020B0604020202020204" pitchFamily="34" charset="0"/>
              <a:buChar char="•"/>
            </a:pPr>
            <a:r>
              <a:rPr lang="en-US" sz="1200" dirty="0"/>
              <a:t>For Enterprise subscriptions, the Reserved Instances policy option must be enabled in the Azure portal. If the setting is disabled, you must be an EA Admin to enable it.</a:t>
            </a:r>
          </a:p>
          <a:p>
            <a:pPr marL="342900" indent="-342900">
              <a:buFont typeface="Arial" panose="020B0604020202020204" pitchFamily="34" charset="0"/>
              <a:buChar char="•"/>
            </a:pPr>
            <a:r>
              <a:rPr lang="en-US" sz="1200" dirty="0"/>
              <a:t>Direct Enterprise customers can update the Reserved Instances policy settings in the Azure portal. Navigate to the Policies menu to change settings.</a:t>
            </a:r>
          </a:p>
          <a:p>
            <a:pPr marL="342900" indent="-342900">
              <a:buFont typeface="Arial" panose="020B0604020202020204" pitchFamily="34" charset="0"/>
              <a:buChar char="•"/>
            </a:pPr>
            <a:r>
              <a:rPr lang="en-US" sz="1200" dirty="0"/>
              <a:t>For the Cloud Solution Provider (CSP) program, only the admin agents or sales agents can purchase Fabric capacity reservations.</a:t>
            </a:r>
          </a:p>
          <a:p>
            <a:endParaRPr lang="en-US" sz="1200" dirty="0"/>
          </a:p>
          <a:p>
            <a:r>
              <a:rPr lang="en-US" dirty="0"/>
              <a:t>https://learn.microsoft.com/en-us/azure/cost-management-billing/reservations/fabric-capacity#cancel-exchange-or-refund-reservations </a:t>
            </a:r>
          </a:p>
          <a:p>
            <a:endParaRPr lang="en-US" dirty="0"/>
          </a:p>
        </p:txBody>
      </p:sp>
      <p:sp>
        <p:nvSpPr>
          <p:cNvPr id="4" name="Slide Number Placeholder 3">
            <a:extLst>
              <a:ext uri="{FF2B5EF4-FFF2-40B4-BE49-F238E27FC236}">
                <a16:creationId xmlns:a16="http://schemas.microsoft.com/office/drawing/2014/main" id="{6D8200BE-BE2C-61B7-193A-45DE7483A85A}"/>
              </a:ext>
            </a:extLst>
          </p:cNvPr>
          <p:cNvSpPr>
            <a:spLocks noGrp="1"/>
          </p:cNvSpPr>
          <p:nvPr>
            <p:ph type="sldNum" sz="quarter" idx="5"/>
          </p:nvPr>
        </p:nvSpPr>
        <p:spPr/>
        <p:txBody>
          <a:bodyPr/>
          <a:lstStyle/>
          <a:p>
            <a:fld id="{58BA35C1-8278-9748-8225-80C021D66BB2}" type="slidenum">
              <a:rPr lang="en-US" smtClean="0"/>
              <a:t>14</a:t>
            </a:fld>
            <a:endParaRPr lang="en-US"/>
          </a:p>
        </p:txBody>
      </p:sp>
    </p:spTree>
    <p:extLst>
      <p:ext uri="{BB962C8B-B14F-4D97-AF65-F5344CB8AC3E}">
        <p14:creationId xmlns:p14="http://schemas.microsoft.com/office/powerpoint/2010/main" val="1917352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72332-2F99-4D31-9E2C-73A2142E6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FE25F-D2BB-B498-9434-4DC45B733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A196B-4363-597E-1204-5E974D475D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B37F60-10FD-1BCD-9D09-C12467003195}"/>
              </a:ext>
            </a:extLst>
          </p:cNvPr>
          <p:cNvSpPr>
            <a:spLocks noGrp="1"/>
          </p:cNvSpPr>
          <p:nvPr>
            <p:ph type="sldNum" sz="quarter" idx="5"/>
          </p:nvPr>
        </p:nvSpPr>
        <p:spPr/>
        <p:txBody>
          <a:bodyPr/>
          <a:lstStyle/>
          <a:p>
            <a:fld id="{0C2C13D3-B291-44D2-95AA-8F8B205FDB45}" type="slidenum">
              <a:rPr lang="en-US" smtClean="0"/>
              <a:t>15</a:t>
            </a:fld>
            <a:endParaRPr lang="en-US"/>
          </a:p>
        </p:txBody>
      </p:sp>
    </p:spTree>
    <p:extLst>
      <p:ext uri="{BB962C8B-B14F-4D97-AF65-F5344CB8AC3E}">
        <p14:creationId xmlns:p14="http://schemas.microsoft.com/office/powerpoint/2010/main" val="291657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9343F-BBA9-1687-AE2E-BEE0EA803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7A5-9AFE-B382-154F-AB1E404FD6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8692E-7EFF-D9ED-0971-48BB247487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75602A-C0B9-A7EF-9C44-9F6940F6B333}"/>
              </a:ext>
            </a:extLst>
          </p:cNvPr>
          <p:cNvSpPr>
            <a:spLocks noGrp="1"/>
          </p:cNvSpPr>
          <p:nvPr>
            <p:ph type="sldNum" sz="quarter" idx="5"/>
          </p:nvPr>
        </p:nvSpPr>
        <p:spPr/>
        <p:txBody>
          <a:bodyPr/>
          <a:lstStyle/>
          <a:p>
            <a:fld id="{0C2C13D3-B291-44D2-95AA-8F8B205FDB45}" type="slidenum">
              <a:rPr lang="en-US" smtClean="0"/>
              <a:t>16</a:t>
            </a:fld>
            <a:endParaRPr lang="en-US"/>
          </a:p>
        </p:txBody>
      </p:sp>
    </p:spTree>
    <p:extLst>
      <p:ext uri="{BB962C8B-B14F-4D97-AF65-F5344CB8AC3E}">
        <p14:creationId xmlns:p14="http://schemas.microsoft.com/office/powerpoint/2010/main" val="55277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43E1E-6B54-FA67-2A91-EC461EEFB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97D91-0F85-E00F-0E72-3530E658E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792AE-E762-C61A-A300-E29007B9785C}"/>
              </a:ext>
            </a:extLst>
          </p:cNvPr>
          <p:cNvSpPr>
            <a:spLocks noGrp="1"/>
          </p:cNvSpPr>
          <p:nvPr>
            <p:ph type="body" idx="1"/>
          </p:nvPr>
        </p:nvSpPr>
        <p:spPr/>
        <p:txBody>
          <a:bodyPr/>
          <a:lstStyle/>
          <a:p>
            <a:r>
              <a:rPr lang="en-US" dirty="0">
                <a:hlinkClick r:id="rId3"/>
              </a:rPr>
              <a:t>Microsoft Fabric concepts - Microsoft Fabric | Microsoft Learn</a:t>
            </a:r>
            <a:br>
              <a:rPr lang="en-US" dirty="0"/>
            </a:br>
            <a:r>
              <a:rPr lang="en-US" dirty="0"/>
              <a:t>Pro workspaces allow for 10 GB size datasets, only 8 refreshes a day. </a:t>
            </a:r>
          </a:p>
          <a:p>
            <a:r>
              <a:rPr lang="en-US" dirty="0"/>
              <a:t>PPU workspaces allow for 100 GB size datasets, 48 refreshes a day, advanced dataflow features, deployment pipelines, </a:t>
            </a:r>
            <a:r>
              <a:rPr lang="en-US" dirty="0" err="1"/>
              <a:t>xmla</a:t>
            </a:r>
            <a:r>
              <a:rPr lang="en-US" dirty="0"/>
              <a:t> connectivity, page refresh, incremental refresh.</a:t>
            </a:r>
          </a:p>
          <a:p>
            <a:endParaRPr lang="en-US" dirty="0"/>
          </a:p>
        </p:txBody>
      </p:sp>
      <p:sp>
        <p:nvSpPr>
          <p:cNvPr id="4" name="Slide Number Placeholder 3">
            <a:extLst>
              <a:ext uri="{FF2B5EF4-FFF2-40B4-BE49-F238E27FC236}">
                <a16:creationId xmlns:a16="http://schemas.microsoft.com/office/drawing/2014/main" id="{2A9AFEF1-C60A-36FC-9207-966ADDF9B8F2}"/>
              </a:ext>
            </a:extLst>
          </p:cNvPr>
          <p:cNvSpPr>
            <a:spLocks noGrp="1"/>
          </p:cNvSpPr>
          <p:nvPr>
            <p:ph type="sldNum" sz="quarter" idx="5"/>
          </p:nvPr>
        </p:nvSpPr>
        <p:spPr/>
        <p:txBody>
          <a:bodyPr/>
          <a:lstStyle/>
          <a:p>
            <a:fld id="{58BA35C1-8278-9748-8225-80C021D66BB2}" type="slidenum">
              <a:rPr lang="en-US" smtClean="0"/>
              <a:t>17</a:t>
            </a:fld>
            <a:endParaRPr lang="en-US"/>
          </a:p>
        </p:txBody>
      </p:sp>
    </p:spTree>
    <p:extLst>
      <p:ext uri="{BB962C8B-B14F-4D97-AF65-F5344CB8AC3E}">
        <p14:creationId xmlns:p14="http://schemas.microsoft.com/office/powerpoint/2010/main" val="3363060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3E36E-1689-D6A0-49D4-8EEFCCA14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5E371-7C4F-C4A0-60DA-2980F232C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C0438-433B-439D-6610-53CAB8270C4B}"/>
              </a:ext>
            </a:extLst>
          </p:cNvPr>
          <p:cNvSpPr>
            <a:spLocks noGrp="1"/>
          </p:cNvSpPr>
          <p:nvPr>
            <p:ph type="body" idx="1"/>
          </p:nvPr>
        </p:nvSpPr>
        <p:spPr/>
        <p:txBody>
          <a:bodyPr/>
          <a:lstStyle/>
          <a:p>
            <a:r>
              <a:rPr lang="en-US" dirty="0">
                <a:hlinkClick r:id="rId3"/>
              </a:rPr>
              <a:t>Microsoft Fabric concepts - Microsoft Fabric | Microsoft Learn</a:t>
            </a:r>
            <a:endParaRPr lang="en-US" dirty="0"/>
          </a:p>
          <a:p>
            <a:r>
              <a:rPr lang="en-US" dirty="0">
                <a:hlinkClick r:id="rId4"/>
              </a:rPr>
              <a:t>Power BI Premium Per User - Power BI | Microsoft Learn</a:t>
            </a:r>
            <a:r>
              <a:rPr lang="en-US" dirty="0"/>
              <a:t> </a:t>
            </a:r>
          </a:p>
          <a:p>
            <a:r>
              <a:rPr lang="en-US" dirty="0"/>
              <a:t>Pro workspaces allow for 10 GB size datasets, only 8 refreshes a day.  Breaks even with F64 at 358 users.</a:t>
            </a:r>
          </a:p>
          <a:p>
            <a:r>
              <a:rPr lang="en-US" dirty="0"/>
              <a:t>PPU workspaces allow for 100 GB size datasets, 48 refreshes a day, advanced dataflow features, deployment pipelines, </a:t>
            </a:r>
            <a:r>
              <a:rPr lang="en-US" dirty="0" err="1"/>
              <a:t>xmla</a:t>
            </a:r>
            <a:r>
              <a:rPr lang="en-US" dirty="0"/>
              <a:t> connectivity, page refresh, incremental refresh. Breaks even with F64 at 209 users. </a:t>
            </a:r>
          </a:p>
        </p:txBody>
      </p:sp>
      <p:sp>
        <p:nvSpPr>
          <p:cNvPr id="4" name="Slide Number Placeholder 3">
            <a:extLst>
              <a:ext uri="{FF2B5EF4-FFF2-40B4-BE49-F238E27FC236}">
                <a16:creationId xmlns:a16="http://schemas.microsoft.com/office/drawing/2014/main" id="{217BF650-7084-B800-2FE7-F88D1472D5C5}"/>
              </a:ext>
            </a:extLst>
          </p:cNvPr>
          <p:cNvSpPr>
            <a:spLocks noGrp="1"/>
          </p:cNvSpPr>
          <p:nvPr>
            <p:ph type="sldNum" sz="quarter" idx="5"/>
          </p:nvPr>
        </p:nvSpPr>
        <p:spPr/>
        <p:txBody>
          <a:bodyPr/>
          <a:lstStyle/>
          <a:p>
            <a:fld id="{58BA35C1-8278-9748-8225-80C021D66BB2}" type="slidenum">
              <a:rPr lang="en-US" smtClean="0"/>
              <a:t>18</a:t>
            </a:fld>
            <a:endParaRPr lang="en-US"/>
          </a:p>
        </p:txBody>
      </p:sp>
    </p:spTree>
    <p:extLst>
      <p:ext uri="{BB962C8B-B14F-4D97-AF65-F5344CB8AC3E}">
        <p14:creationId xmlns:p14="http://schemas.microsoft.com/office/powerpoint/2010/main" val="397737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50009-9E0F-8F17-BC26-34737B00B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1F092-6220-0BF1-3B31-66C931861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EB8C4-FE12-2656-B6A4-B7C496F10352}"/>
              </a:ext>
            </a:extLst>
          </p:cNvPr>
          <p:cNvSpPr>
            <a:spLocks noGrp="1"/>
          </p:cNvSpPr>
          <p:nvPr>
            <p:ph type="body" idx="1"/>
          </p:nvPr>
        </p:nvSpPr>
        <p:spPr/>
        <p:txBody>
          <a:bodyPr/>
          <a:lstStyle/>
          <a:p>
            <a:r>
              <a:rPr lang="en-US" dirty="0">
                <a:hlinkClick r:id="rId3"/>
              </a:rPr>
              <a:t>Microsoft Fabric concepts - Microsoft Fabric | Microsoft Learn</a:t>
            </a:r>
            <a:endParaRPr lang="en-US" dirty="0"/>
          </a:p>
          <a:p>
            <a:r>
              <a:rPr lang="en-US" dirty="0">
                <a:hlinkClick r:id="rId4"/>
              </a:rPr>
              <a:t>Power BI Premium Per User - Power BI | Microsoft Learn</a:t>
            </a:r>
            <a:endParaRPr lang="en-US" dirty="0"/>
          </a:p>
          <a:p>
            <a:r>
              <a:rPr lang="en-US" dirty="0"/>
              <a:t>Pro workspaces allow for 10 GB size datasets, only 8 refreshes a day.  Breaks even with F64 at 358 users.</a:t>
            </a:r>
          </a:p>
          <a:p>
            <a:r>
              <a:rPr lang="en-US" dirty="0"/>
              <a:t>PPU workspaces allow for 100 GB size datasets, 48 refreshes a day, advanced dataflow features, deployment pipelines, </a:t>
            </a:r>
            <a:r>
              <a:rPr lang="en-US" dirty="0" err="1"/>
              <a:t>xmla</a:t>
            </a:r>
            <a:r>
              <a:rPr lang="en-US" dirty="0"/>
              <a:t> connectivity, page refresh, incremental refresh. Breaks even with F64 at 209 users. </a:t>
            </a:r>
          </a:p>
        </p:txBody>
      </p:sp>
      <p:sp>
        <p:nvSpPr>
          <p:cNvPr id="4" name="Slide Number Placeholder 3">
            <a:extLst>
              <a:ext uri="{FF2B5EF4-FFF2-40B4-BE49-F238E27FC236}">
                <a16:creationId xmlns:a16="http://schemas.microsoft.com/office/drawing/2014/main" id="{813FE6CF-AAF0-3D8C-81D7-2B78DD7FCF19}"/>
              </a:ext>
            </a:extLst>
          </p:cNvPr>
          <p:cNvSpPr>
            <a:spLocks noGrp="1"/>
          </p:cNvSpPr>
          <p:nvPr>
            <p:ph type="sldNum" sz="quarter" idx="5"/>
          </p:nvPr>
        </p:nvSpPr>
        <p:spPr/>
        <p:txBody>
          <a:bodyPr/>
          <a:lstStyle/>
          <a:p>
            <a:fld id="{58BA35C1-8278-9748-8225-80C021D66BB2}" type="slidenum">
              <a:rPr lang="en-US" smtClean="0"/>
              <a:t>19</a:t>
            </a:fld>
            <a:endParaRPr lang="en-US"/>
          </a:p>
        </p:txBody>
      </p:sp>
    </p:spTree>
    <p:extLst>
      <p:ext uri="{BB962C8B-B14F-4D97-AF65-F5344CB8AC3E}">
        <p14:creationId xmlns:p14="http://schemas.microsoft.com/office/powerpoint/2010/main" val="387057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B8C03-867B-40F2-0C42-FB2A759A3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44517-3FF8-6D56-9327-CBDED21A6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3A3F4-FB57-8C64-4CC3-366C60855CAF}"/>
              </a:ext>
            </a:extLst>
          </p:cNvPr>
          <p:cNvSpPr>
            <a:spLocks noGrp="1"/>
          </p:cNvSpPr>
          <p:nvPr>
            <p:ph type="body" idx="1"/>
          </p:nvPr>
        </p:nvSpPr>
        <p:spPr/>
        <p:txBody>
          <a:bodyPr/>
          <a:lstStyle/>
          <a:p>
            <a:r>
              <a:rPr lang="en-US" dirty="0">
                <a:hlinkClick r:id="rId3"/>
              </a:rPr>
              <a:t>Microsoft Fabric concepts - Microsoft Fabric | Microsoft Learn</a:t>
            </a:r>
            <a:endParaRPr lang="en-US" dirty="0"/>
          </a:p>
          <a:p>
            <a:r>
              <a:rPr lang="en-US" dirty="0">
                <a:hlinkClick r:id="rId4"/>
              </a:rPr>
              <a:t>Power BI Premium Per User - Power BI | Microsoft Learn</a:t>
            </a:r>
            <a:endParaRPr lang="en-US" dirty="0"/>
          </a:p>
          <a:p>
            <a:r>
              <a:rPr lang="en-US" dirty="0"/>
              <a:t>Pro workspaces allow for 10 GB size datasets, only 8 refreshes a day.  Breaks even with F64 at 358 users.</a:t>
            </a:r>
          </a:p>
          <a:p>
            <a:r>
              <a:rPr lang="en-US" dirty="0"/>
              <a:t>PPU workspaces allow for 100 GB size datasets, 48 refreshes a day, advanced dataflow features, deployment pipelines, </a:t>
            </a:r>
            <a:r>
              <a:rPr lang="en-US" dirty="0" err="1"/>
              <a:t>xmla</a:t>
            </a:r>
            <a:r>
              <a:rPr lang="en-US" dirty="0"/>
              <a:t> connectivity, page refresh, incremental refresh. Breaks even with F64 at 209 users. </a:t>
            </a:r>
          </a:p>
        </p:txBody>
      </p:sp>
      <p:sp>
        <p:nvSpPr>
          <p:cNvPr id="4" name="Slide Number Placeholder 3">
            <a:extLst>
              <a:ext uri="{FF2B5EF4-FFF2-40B4-BE49-F238E27FC236}">
                <a16:creationId xmlns:a16="http://schemas.microsoft.com/office/drawing/2014/main" id="{4F80CA5D-5411-5C9C-498B-1374C6C478DC}"/>
              </a:ext>
            </a:extLst>
          </p:cNvPr>
          <p:cNvSpPr>
            <a:spLocks noGrp="1"/>
          </p:cNvSpPr>
          <p:nvPr>
            <p:ph type="sldNum" sz="quarter" idx="5"/>
          </p:nvPr>
        </p:nvSpPr>
        <p:spPr/>
        <p:txBody>
          <a:bodyPr/>
          <a:lstStyle/>
          <a:p>
            <a:fld id="{58BA35C1-8278-9748-8225-80C021D66BB2}" type="slidenum">
              <a:rPr lang="en-US" smtClean="0"/>
              <a:t>20</a:t>
            </a:fld>
            <a:endParaRPr lang="en-US"/>
          </a:p>
        </p:txBody>
      </p:sp>
    </p:spTree>
    <p:extLst>
      <p:ext uri="{BB962C8B-B14F-4D97-AF65-F5344CB8AC3E}">
        <p14:creationId xmlns:p14="http://schemas.microsoft.com/office/powerpoint/2010/main" val="38334239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FA48A-960E-1EF1-8575-2B80E850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138C7-BB9E-E73F-99A8-C677226C5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86A12-9679-F62A-C26E-E22650EE6F77}"/>
              </a:ext>
            </a:extLst>
          </p:cNvPr>
          <p:cNvSpPr>
            <a:spLocks noGrp="1"/>
          </p:cNvSpPr>
          <p:nvPr>
            <p:ph type="body" idx="1"/>
          </p:nvPr>
        </p:nvSpPr>
        <p:spPr/>
        <p:txBody>
          <a:bodyPr/>
          <a:lstStyle/>
          <a:p>
            <a:r>
              <a:rPr lang="en-US" dirty="0">
                <a:hlinkClick r:id="rId3"/>
              </a:rPr>
              <a:t>Microsoft Fabric concepts - Microsoft Fabric | Microsoft Learn</a:t>
            </a:r>
            <a:endParaRPr lang="en-US" dirty="0"/>
          </a:p>
          <a:p>
            <a:r>
              <a:rPr lang="en-US" dirty="0">
                <a:hlinkClick r:id="rId4"/>
              </a:rPr>
              <a:t>Power BI Premium Per User - Power BI | Microsoft Learn</a:t>
            </a:r>
            <a:endParaRPr lang="en-US" dirty="0"/>
          </a:p>
          <a:p>
            <a:r>
              <a:rPr lang="en-US" dirty="0"/>
              <a:t>Pro workspaces allow for 10 GB size datasets, only 8 refreshes a day.  </a:t>
            </a:r>
          </a:p>
          <a:p>
            <a:r>
              <a:rPr lang="en-US" dirty="0"/>
              <a:t>PPU workspaces allow for 100 GB size datasets, 48 refreshes a day, advanced dataflow features, deployment pipelines, </a:t>
            </a:r>
            <a:r>
              <a:rPr lang="en-US" dirty="0" err="1"/>
              <a:t>xmla</a:t>
            </a:r>
            <a:r>
              <a:rPr lang="en-US" dirty="0"/>
              <a:t> connectivity, page refresh, incremental refresh. </a:t>
            </a:r>
          </a:p>
          <a:p>
            <a:endParaRPr lang="en-US" dirty="0"/>
          </a:p>
          <a:p>
            <a:r>
              <a:rPr lang="en-US" dirty="0"/>
              <a:t>Until F64, all viewers need a pro license to view</a:t>
            </a:r>
          </a:p>
        </p:txBody>
      </p:sp>
      <p:sp>
        <p:nvSpPr>
          <p:cNvPr id="4" name="Slide Number Placeholder 3">
            <a:extLst>
              <a:ext uri="{FF2B5EF4-FFF2-40B4-BE49-F238E27FC236}">
                <a16:creationId xmlns:a16="http://schemas.microsoft.com/office/drawing/2014/main" id="{DE68118C-101C-9CBE-A455-E99379EC5D89}"/>
              </a:ext>
            </a:extLst>
          </p:cNvPr>
          <p:cNvSpPr>
            <a:spLocks noGrp="1"/>
          </p:cNvSpPr>
          <p:nvPr>
            <p:ph type="sldNum" sz="quarter" idx="5"/>
          </p:nvPr>
        </p:nvSpPr>
        <p:spPr/>
        <p:txBody>
          <a:bodyPr/>
          <a:lstStyle/>
          <a:p>
            <a:fld id="{58BA35C1-8278-9748-8225-80C021D66BB2}" type="slidenum">
              <a:rPr lang="en-US" smtClean="0"/>
              <a:t>21</a:t>
            </a:fld>
            <a:endParaRPr lang="en-US"/>
          </a:p>
        </p:txBody>
      </p:sp>
    </p:spTree>
    <p:extLst>
      <p:ext uri="{BB962C8B-B14F-4D97-AF65-F5344CB8AC3E}">
        <p14:creationId xmlns:p14="http://schemas.microsoft.com/office/powerpoint/2010/main" val="19624296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DB840-8340-2744-D6E2-DFF6D6234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E884B-0DC8-421E-0C1A-E86794F4F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02985-24EC-998B-8091-13348F52A90C}"/>
              </a:ext>
            </a:extLst>
          </p:cNvPr>
          <p:cNvSpPr>
            <a:spLocks noGrp="1"/>
          </p:cNvSpPr>
          <p:nvPr>
            <p:ph type="body" idx="1"/>
          </p:nvPr>
        </p:nvSpPr>
        <p:spPr/>
        <p:txBody>
          <a:bodyPr/>
          <a:lstStyle/>
          <a:p>
            <a:r>
              <a:rPr lang="en-US" dirty="0">
                <a:hlinkClick r:id="rId3"/>
              </a:rPr>
              <a:t>Microsoft Fabric concepts - Microsoft Fabric | Microsoft Learn</a:t>
            </a:r>
            <a:endParaRPr lang="en-US" dirty="0"/>
          </a:p>
          <a:p>
            <a:r>
              <a:rPr lang="en-US" dirty="0">
                <a:hlinkClick r:id="rId4"/>
              </a:rPr>
              <a:t>Power BI Premium Per User - Power BI | Microsoft Learn</a:t>
            </a:r>
            <a:endParaRPr lang="en-US" dirty="0"/>
          </a:p>
          <a:p>
            <a:r>
              <a:rPr lang="en-US" dirty="0"/>
              <a:t>Pro workspaces allow for 10 GB size datasets, only 8 refreshes a day.  </a:t>
            </a:r>
          </a:p>
          <a:p>
            <a:r>
              <a:rPr lang="en-US" dirty="0"/>
              <a:t>PPU workspaces allow for 100 GB size datasets, 48 refreshes a day, advanced dataflow features, deployment pipelines, </a:t>
            </a:r>
            <a:r>
              <a:rPr lang="en-US" dirty="0" err="1"/>
              <a:t>xmla</a:t>
            </a:r>
            <a:r>
              <a:rPr lang="en-US" dirty="0"/>
              <a:t> connectivity, page refresh, incremental refresh. </a:t>
            </a:r>
          </a:p>
          <a:p>
            <a:endParaRPr lang="en-US" dirty="0"/>
          </a:p>
          <a:p>
            <a:r>
              <a:rPr lang="en-US" dirty="0"/>
              <a:t>Until F64, all viewers need a pro license to view</a:t>
            </a:r>
          </a:p>
        </p:txBody>
      </p:sp>
      <p:sp>
        <p:nvSpPr>
          <p:cNvPr id="4" name="Slide Number Placeholder 3">
            <a:extLst>
              <a:ext uri="{FF2B5EF4-FFF2-40B4-BE49-F238E27FC236}">
                <a16:creationId xmlns:a16="http://schemas.microsoft.com/office/drawing/2014/main" id="{62D504CD-7432-2477-AADE-4014C4FB58DA}"/>
              </a:ext>
            </a:extLst>
          </p:cNvPr>
          <p:cNvSpPr>
            <a:spLocks noGrp="1"/>
          </p:cNvSpPr>
          <p:nvPr>
            <p:ph type="sldNum" sz="quarter" idx="5"/>
          </p:nvPr>
        </p:nvSpPr>
        <p:spPr/>
        <p:txBody>
          <a:bodyPr/>
          <a:lstStyle/>
          <a:p>
            <a:fld id="{58BA35C1-8278-9748-8225-80C021D66BB2}" type="slidenum">
              <a:rPr lang="en-US" smtClean="0"/>
              <a:t>22</a:t>
            </a:fld>
            <a:endParaRPr lang="en-US"/>
          </a:p>
        </p:txBody>
      </p:sp>
    </p:spTree>
    <p:extLst>
      <p:ext uri="{BB962C8B-B14F-4D97-AF65-F5344CB8AC3E}">
        <p14:creationId xmlns:p14="http://schemas.microsoft.com/office/powerpoint/2010/main" val="18743688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A895-502F-55D2-3F1F-D2DCD262C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E15ED-76B6-5374-147C-9B8963CEB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7F540-8D55-0F8A-383F-F21F989A4766}"/>
              </a:ext>
            </a:extLst>
          </p:cNvPr>
          <p:cNvSpPr>
            <a:spLocks noGrp="1"/>
          </p:cNvSpPr>
          <p:nvPr>
            <p:ph type="body" idx="1"/>
          </p:nvPr>
        </p:nvSpPr>
        <p:spPr/>
        <p:txBody>
          <a:bodyPr/>
          <a:lstStyle/>
          <a:p>
            <a:r>
              <a:rPr lang="en-US" dirty="0">
                <a:hlinkClick r:id="rId3"/>
              </a:rPr>
              <a:t>Microsoft Fabric concepts - Microsoft Fabric | Microsoft Learn</a:t>
            </a:r>
            <a:endParaRPr lang="en-US" dirty="0"/>
          </a:p>
          <a:p>
            <a:r>
              <a:rPr lang="en-US" dirty="0">
                <a:hlinkClick r:id="rId4"/>
              </a:rPr>
              <a:t>Power BI Premium Per User - Power BI | Microsoft Learn</a:t>
            </a:r>
            <a:endParaRPr lang="en-US" dirty="0"/>
          </a:p>
          <a:p>
            <a:r>
              <a:rPr lang="en-US" dirty="0"/>
              <a:t>Pro workspaces allow for 10 GB size datasets, only 8 refreshes a day.  </a:t>
            </a:r>
          </a:p>
          <a:p>
            <a:r>
              <a:rPr lang="en-US" dirty="0"/>
              <a:t>PPU workspaces allow for 100 GB size datasets, 48 refreshes a day, advanced dataflow features, deployment pipelines, </a:t>
            </a:r>
            <a:r>
              <a:rPr lang="en-US" dirty="0" err="1"/>
              <a:t>xmla</a:t>
            </a:r>
            <a:r>
              <a:rPr lang="en-US" dirty="0"/>
              <a:t> connectivity, page refresh, incremental refresh. </a:t>
            </a:r>
          </a:p>
          <a:p>
            <a:endParaRPr lang="en-US" dirty="0"/>
          </a:p>
          <a:p>
            <a:r>
              <a:rPr lang="en-US" dirty="0"/>
              <a:t>Until F64, all viewers need a pro license to view</a:t>
            </a:r>
          </a:p>
        </p:txBody>
      </p:sp>
      <p:sp>
        <p:nvSpPr>
          <p:cNvPr id="4" name="Slide Number Placeholder 3">
            <a:extLst>
              <a:ext uri="{FF2B5EF4-FFF2-40B4-BE49-F238E27FC236}">
                <a16:creationId xmlns:a16="http://schemas.microsoft.com/office/drawing/2014/main" id="{EAE147B0-5A80-B0B3-6FF7-2C99C241300D}"/>
              </a:ext>
            </a:extLst>
          </p:cNvPr>
          <p:cNvSpPr>
            <a:spLocks noGrp="1"/>
          </p:cNvSpPr>
          <p:nvPr>
            <p:ph type="sldNum" sz="quarter" idx="5"/>
          </p:nvPr>
        </p:nvSpPr>
        <p:spPr/>
        <p:txBody>
          <a:bodyPr/>
          <a:lstStyle/>
          <a:p>
            <a:fld id="{58BA35C1-8278-9748-8225-80C021D66BB2}" type="slidenum">
              <a:rPr lang="en-US" smtClean="0"/>
              <a:t>23</a:t>
            </a:fld>
            <a:endParaRPr lang="en-US"/>
          </a:p>
        </p:txBody>
      </p:sp>
    </p:spTree>
    <p:extLst>
      <p:ext uri="{BB962C8B-B14F-4D97-AF65-F5344CB8AC3E}">
        <p14:creationId xmlns:p14="http://schemas.microsoft.com/office/powerpoint/2010/main" val="71062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3543-AB2C-8B3A-EC63-93D20C54A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44075-56B1-9E40-24A7-9DCCEB019D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1F9FF-ABC6-08E3-7515-8BC72463D0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D1E91C-5071-CDA8-3A03-8100FDC74205}"/>
              </a:ext>
            </a:extLst>
          </p:cNvPr>
          <p:cNvSpPr>
            <a:spLocks noGrp="1"/>
          </p:cNvSpPr>
          <p:nvPr>
            <p:ph type="sldNum" sz="quarter" idx="5"/>
          </p:nvPr>
        </p:nvSpPr>
        <p:spPr/>
        <p:txBody>
          <a:bodyPr/>
          <a:lstStyle/>
          <a:p>
            <a:fld id="{0C2C13D3-B291-44D2-95AA-8F8B205FDB45}" type="slidenum">
              <a:rPr lang="en-US" smtClean="0"/>
              <a:t>24</a:t>
            </a:fld>
            <a:endParaRPr lang="en-US"/>
          </a:p>
        </p:txBody>
      </p:sp>
    </p:spTree>
    <p:extLst>
      <p:ext uri="{BB962C8B-B14F-4D97-AF65-F5344CB8AC3E}">
        <p14:creationId xmlns:p14="http://schemas.microsoft.com/office/powerpoint/2010/main" val="33922266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B770-BD5B-1EA4-2EEB-556FA6387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3FA3F-FFB8-C71D-D184-58151DA3F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952DC-B389-8643-8C5C-27DC498FD0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3C1A6F-CE5E-D0AC-1BFE-C842F6E1D239}"/>
              </a:ext>
            </a:extLst>
          </p:cNvPr>
          <p:cNvSpPr>
            <a:spLocks noGrp="1"/>
          </p:cNvSpPr>
          <p:nvPr>
            <p:ph type="sldNum" sz="quarter" idx="5"/>
          </p:nvPr>
        </p:nvSpPr>
        <p:spPr/>
        <p:txBody>
          <a:bodyPr/>
          <a:lstStyle/>
          <a:p>
            <a:fld id="{58BA35C1-8278-9748-8225-80C021D66BB2}" type="slidenum">
              <a:rPr lang="en-US" smtClean="0"/>
              <a:t>25</a:t>
            </a:fld>
            <a:endParaRPr lang="en-US"/>
          </a:p>
        </p:txBody>
      </p:sp>
    </p:spTree>
    <p:extLst>
      <p:ext uri="{BB962C8B-B14F-4D97-AF65-F5344CB8AC3E}">
        <p14:creationId xmlns:p14="http://schemas.microsoft.com/office/powerpoint/2010/main" val="749191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2C13D3-B291-44D2-95AA-8F8B205FDB45}" type="slidenum">
              <a:rPr lang="en-US" smtClean="0"/>
              <a:t>26</a:t>
            </a:fld>
            <a:endParaRPr lang="en-US"/>
          </a:p>
        </p:txBody>
      </p:sp>
    </p:spTree>
    <p:extLst>
      <p:ext uri="{BB962C8B-B14F-4D97-AF65-F5344CB8AC3E}">
        <p14:creationId xmlns:p14="http://schemas.microsoft.com/office/powerpoint/2010/main" val="226032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936B-A28C-1A96-2381-A23072DF1DB4}"/>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5978032-CBC2-17AF-8475-0D33CAB70B88}"/>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137EBB5-F1E4-119A-DD99-CE9E784D1981}"/>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5" name="Footer Placeholder 4">
            <a:extLst>
              <a:ext uri="{FF2B5EF4-FFF2-40B4-BE49-F238E27FC236}">
                <a16:creationId xmlns:a16="http://schemas.microsoft.com/office/drawing/2014/main" id="{C559F3E4-6AED-C2C1-22CD-6DDF37FF0A90}"/>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3A67511-ADC3-08D3-1C96-595B954DC39D}"/>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56125168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8FE2-1D11-C9BB-4769-50F159D33F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F10C1D-8C1D-E41D-896E-AFEDECCA6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B4D424-5FE7-A9C9-0449-0A770C348AB0}"/>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5" name="Footer Placeholder 4">
            <a:extLst>
              <a:ext uri="{FF2B5EF4-FFF2-40B4-BE49-F238E27FC236}">
                <a16:creationId xmlns:a16="http://schemas.microsoft.com/office/drawing/2014/main" id="{750B0E69-3B14-7DDA-99FF-908BA5F68DD1}"/>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7FCAA6B6-7DB8-CBA4-FA58-5B136CED355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01334346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A54C-E0BB-9B2A-671F-D82E225B42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F187F9-6B3C-D7A8-E1DC-115DE531A5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0942B-25D8-59D9-AB2A-662BD452BFB3}"/>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5" name="Footer Placeholder 4">
            <a:extLst>
              <a:ext uri="{FF2B5EF4-FFF2-40B4-BE49-F238E27FC236}">
                <a16:creationId xmlns:a16="http://schemas.microsoft.com/office/drawing/2014/main" id="{1B226278-764A-0F92-7100-CBDA0E72D4A5}"/>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BAC43A11-2135-7C94-3D70-D4463174B30E}"/>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815612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60A3-3D76-B6EB-ED61-B6A187F5F4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F76AA-8BFE-18BF-422A-C954F62FFC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1BA4C6-D0DE-F4E8-9F3F-710B6FDFBC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E927C0-DD26-DFA5-E0C9-559B12F06132}"/>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6" name="Footer Placeholder 5">
            <a:extLst>
              <a:ext uri="{FF2B5EF4-FFF2-40B4-BE49-F238E27FC236}">
                <a16:creationId xmlns:a16="http://schemas.microsoft.com/office/drawing/2014/main" id="{4F9E5FC7-F4B0-AED8-BE74-4688FD705013}"/>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FD400CAD-E7B9-6EEA-F476-FAF9D19D577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8397718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A497B-CD00-1E21-D503-C48003C586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3A4DA8-C321-24CF-2130-972E5AF5A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485477-42D0-8931-1243-28CEDE8CB4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A838D-5752-53BB-C302-81B5A57B44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3D6A8A-FD6A-FAF8-3349-7211853807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F40C4D-1EEC-4B8B-60D2-CE53F4895D2F}"/>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8" name="Footer Placeholder 7">
            <a:extLst>
              <a:ext uri="{FF2B5EF4-FFF2-40B4-BE49-F238E27FC236}">
                <a16:creationId xmlns:a16="http://schemas.microsoft.com/office/drawing/2014/main" id="{EFF76F80-8361-624D-BE87-0E4C70369F00}"/>
              </a:ext>
            </a:extLst>
          </p:cNvPr>
          <p:cNvSpPr>
            <a:spLocks noGrp="1"/>
          </p:cNvSpPr>
          <p:nvPr>
            <p:ph type="ftr" sz="quarter" idx="11"/>
          </p:nvPr>
        </p:nvSpPr>
        <p:spPr/>
        <p:txBody>
          <a:bodyPr/>
          <a:lstStyle/>
          <a:p>
            <a:r>
              <a:rPr lang="en-US"/>
              <a:t>| Presentation Title Goes Here</a:t>
            </a:r>
            <a:endParaRPr lang="en-US" dirty="0"/>
          </a:p>
        </p:txBody>
      </p:sp>
      <p:sp>
        <p:nvSpPr>
          <p:cNvPr id="9" name="Slide Number Placeholder 8">
            <a:extLst>
              <a:ext uri="{FF2B5EF4-FFF2-40B4-BE49-F238E27FC236}">
                <a16:creationId xmlns:a16="http://schemas.microsoft.com/office/drawing/2014/main" id="{14095192-C85F-66B8-F7F5-946B11817C18}"/>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18635672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C73F1-0C8A-BB78-70BE-BEF5C51A9C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565667-B36F-ABE7-D0C2-FED12A44AB6B}"/>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4" name="Footer Placeholder 3">
            <a:extLst>
              <a:ext uri="{FF2B5EF4-FFF2-40B4-BE49-F238E27FC236}">
                <a16:creationId xmlns:a16="http://schemas.microsoft.com/office/drawing/2014/main" id="{2461C30D-B797-0348-2377-952FA3C8437C}"/>
              </a:ext>
            </a:extLst>
          </p:cNvPr>
          <p:cNvSpPr>
            <a:spLocks noGrp="1"/>
          </p:cNvSpPr>
          <p:nvPr>
            <p:ph type="ftr" sz="quarter" idx="11"/>
          </p:nvPr>
        </p:nvSpPr>
        <p:spPr/>
        <p:txBody>
          <a:bodyPr/>
          <a:lstStyle/>
          <a:p>
            <a:r>
              <a:rPr lang="en-US"/>
              <a:t>| Presentation Title Goes Here</a:t>
            </a:r>
            <a:endParaRPr lang="en-US" dirty="0"/>
          </a:p>
        </p:txBody>
      </p:sp>
      <p:sp>
        <p:nvSpPr>
          <p:cNvPr id="5" name="Slide Number Placeholder 4">
            <a:extLst>
              <a:ext uri="{FF2B5EF4-FFF2-40B4-BE49-F238E27FC236}">
                <a16:creationId xmlns:a16="http://schemas.microsoft.com/office/drawing/2014/main" id="{0BEC6FAB-F92A-9A45-3823-03213ED969AF}"/>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43718405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76E47C-A774-A701-1858-FDDDFEED5A0C}"/>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3" name="Footer Placeholder 2">
            <a:extLst>
              <a:ext uri="{FF2B5EF4-FFF2-40B4-BE49-F238E27FC236}">
                <a16:creationId xmlns:a16="http://schemas.microsoft.com/office/drawing/2014/main" id="{E1F9C858-D4F6-0CF3-682C-3AC192F2B4DC}"/>
              </a:ext>
            </a:extLst>
          </p:cNvPr>
          <p:cNvSpPr>
            <a:spLocks noGrp="1"/>
          </p:cNvSpPr>
          <p:nvPr>
            <p:ph type="ftr" sz="quarter" idx="11"/>
          </p:nvPr>
        </p:nvSpPr>
        <p:spPr/>
        <p:txBody>
          <a:bodyPr/>
          <a:lstStyle/>
          <a:p>
            <a:r>
              <a:rPr lang="en-US"/>
              <a:t>| Presentation Title Goes Here</a:t>
            </a:r>
            <a:endParaRPr lang="en-US" dirty="0"/>
          </a:p>
        </p:txBody>
      </p:sp>
      <p:sp>
        <p:nvSpPr>
          <p:cNvPr id="4" name="Slide Number Placeholder 3">
            <a:extLst>
              <a:ext uri="{FF2B5EF4-FFF2-40B4-BE49-F238E27FC236}">
                <a16:creationId xmlns:a16="http://schemas.microsoft.com/office/drawing/2014/main" id="{3C89881C-16D8-60B0-A68D-3908D2AEDF82}"/>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6072870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80326-0548-4D72-9AD7-829ED8108D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2FA056-63B4-541B-2EAA-3918E38B7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F113B2-8F9F-76CB-24A6-B8E68CF8F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6FFE3D-B9AD-70A9-CAC2-4780DFF0549E}"/>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6" name="Footer Placeholder 5">
            <a:extLst>
              <a:ext uri="{FF2B5EF4-FFF2-40B4-BE49-F238E27FC236}">
                <a16:creationId xmlns:a16="http://schemas.microsoft.com/office/drawing/2014/main" id="{29835816-0555-80E6-A6C3-DF4B7B2F047E}"/>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A6819928-5761-43BB-1133-6AAC630F0F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60970501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D3C7-1E53-0AA0-2FFF-D31088CF9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A0A5E-EFB3-B7A4-0C90-89522A1DD8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0692035-1084-4AC5-BA26-CE4F8F86F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E00CD-18DD-749A-86D4-152CA9C4E4F4}"/>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6" name="Footer Placeholder 5">
            <a:extLst>
              <a:ext uri="{FF2B5EF4-FFF2-40B4-BE49-F238E27FC236}">
                <a16:creationId xmlns:a16="http://schemas.microsoft.com/office/drawing/2014/main" id="{C217A577-5634-E4A1-F9BE-AB24F8318E38}"/>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1E639290-53C2-44F4-7123-42262B3CC4C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80324415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B169-1BEB-4423-E532-5842DE8C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1F9D34-67D8-4706-993C-2BC74A005A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A5E2C-C6C4-F9E5-72CC-58544437999C}"/>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5" name="Footer Placeholder 4">
            <a:extLst>
              <a:ext uri="{FF2B5EF4-FFF2-40B4-BE49-F238E27FC236}">
                <a16:creationId xmlns:a16="http://schemas.microsoft.com/office/drawing/2014/main" id="{E21ABECA-9F8E-C9F3-088C-BF7C26A5377C}"/>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05443473-F376-ABA2-DF25-4732CA36C16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80648389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A6FF99-3A97-0EDC-F194-43D6D0A875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E26A4F-DA34-5362-3A56-A7BBAB7694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544A2-C13B-43C4-D44B-340EB55FA9B5}"/>
              </a:ext>
            </a:extLst>
          </p:cNvPr>
          <p:cNvSpPr>
            <a:spLocks noGrp="1"/>
          </p:cNvSpPr>
          <p:nvPr>
            <p:ph type="dt" sz="half" idx="10"/>
          </p:nvPr>
        </p:nvSpPr>
        <p:spPr/>
        <p:txBody>
          <a:bodyPr/>
          <a:lstStyle/>
          <a:p>
            <a:fld id="{19424AB6-689F-4D94-89E3-667E6F78A9F8}" type="datetimeFigureOut">
              <a:rPr lang="en-US" smtClean="0"/>
              <a:t>8/27/2026</a:t>
            </a:fld>
            <a:endParaRPr lang="en-US"/>
          </a:p>
        </p:txBody>
      </p:sp>
      <p:sp>
        <p:nvSpPr>
          <p:cNvPr id="5" name="Footer Placeholder 4">
            <a:extLst>
              <a:ext uri="{FF2B5EF4-FFF2-40B4-BE49-F238E27FC236}">
                <a16:creationId xmlns:a16="http://schemas.microsoft.com/office/drawing/2014/main" id="{F5473F04-3778-D19D-1A5A-314AB0387704}"/>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FFF68A62-3E12-37BA-8280-A1E4C4DEE4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5005241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180CB4B4-607F-7FA7-219F-61A5EACD211F}"/>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3726371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a:t>DATE</a:t>
            </a:r>
            <a:endParaRPr lang="en-US" dirty="0"/>
          </a:p>
        </p:txBody>
      </p:sp>
      <p:sp>
        <p:nvSpPr>
          <p:cNvPr id="4" name="Date Placeholder 9">
            <a:extLst>
              <a:ext uri="{FF2B5EF4-FFF2-40B4-BE49-F238E27FC236}">
                <a16:creationId xmlns:a16="http://schemas.microsoft.com/office/drawing/2014/main" id="{7893F2CA-7CEB-500D-6636-67665110625B}"/>
              </a:ext>
            </a:extLst>
          </p:cNvPr>
          <p:cNvSpPr txBox="1">
            <a:spLocks/>
          </p:cNvSpPr>
          <p:nvPr/>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 name="Rectangle 2">
            <a:extLst>
              <a:ext uri="{FF2B5EF4-FFF2-40B4-BE49-F238E27FC236}">
                <a16:creationId xmlns:a16="http://schemas.microsoft.com/office/drawing/2014/main" id="{F4860AD1-628C-5C14-AEBC-34313B64085E}"/>
              </a:ext>
            </a:extLst>
          </p:cNvPr>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lines&#10;&#10;Description automatically generated">
            <a:extLst>
              <a:ext uri="{FF2B5EF4-FFF2-40B4-BE49-F238E27FC236}">
                <a16:creationId xmlns:a16="http://schemas.microsoft.com/office/drawing/2014/main" id="{D2997697-FA8E-6E74-E918-1AE48E69A806}"/>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6" name="Date Placeholder 9">
            <a:extLst>
              <a:ext uri="{FF2B5EF4-FFF2-40B4-BE49-F238E27FC236}">
                <a16:creationId xmlns:a16="http://schemas.microsoft.com/office/drawing/2014/main" id="{45189008-83F1-431D-ABAA-DBB98190BF00}"/>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5375891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456158F5-66D2-DEB3-E0EA-C7DF86234B56}"/>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09F80B1-4101-AF52-20B8-321AC595ED0A}"/>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A877B07-CE2A-D05A-5E2A-936E29FBD7AB}"/>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582086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E21A491-0B03-FC23-CFE8-50F38CED1E84}"/>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8028398-9A95-6D82-C575-FEA4E7430A6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A449B84-02FE-E435-E567-A1E94E6DA70A}"/>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992743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a:t>Presentation Title Goes Here</a:t>
            </a:r>
            <a:endParaRPr lang="en-US" dirty="0"/>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F96C1EA1-DBE2-50D9-A5D1-0E82413F5D53}"/>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FC9EDFE-CE66-F6EA-5248-D8F753818E1F}"/>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D11B5F7-89F3-B48D-F5FE-B67279FF17C4}"/>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915D91C-2228-3000-E437-17DEF9412511}"/>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B1E7BE5-9E9F-1AFD-A0C8-C5C8C745D243}"/>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373321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15" name="Picture 14">
            <a:extLst>
              <a:ext uri="{FF2B5EF4-FFF2-40B4-BE49-F238E27FC236}">
                <a16:creationId xmlns:a16="http://schemas.microsoft.com/office/drawing/2014/main" id="{4E6FE7AA-7008-6F89-978E-8277D6F93235}"/>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6" name="TextBox 15">
            <a:extLst>
              <a:ext uri="{FF2B5EF4-FFF2-40B4-BE49-F238E27FC236}">
                <a16:creationId xmlns:a16="http://schemas.microsoft.com/office/drawing/2014/main" id="{155A75E3-7472-4D36-146F-07DE97BC90F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7733444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pic>
        <p:nvPicPr>
          <p:cNvPr id="3" name="Picture 2">
            <a:extLst>
              <a:ext uri="{FF2B5EF4-FFF2-40B4-BE49-F238E27FC236}">
                <a16:creationId xmlns:a16="http://schemas.microsoft.com/office/drawing/2014/main" id="{9EFB3FFC-AAA9-37B4-6626-17D178DAE7C6}"/>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564FBDF3-58E7-FF35-57F1-7CABC4BC34E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56097989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7" name="Rectangle 6">
            <a:extLst>
              <a:ext uri="{FF2B5EF4-FFF2-40B4-BE49-F238E27FC236}">
                <a16:creationId xmlns:a16="http://schemas.microsoft.com/office/drawing/2014/main" id="{1990B889-0497-9F47-1692-ECB5AE589ECA}"/>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874533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C1C89C98-0A1C-79BC-4180-B396A1A2D617}"/>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4430624"/>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2CFEE7E-FB78-B03C-5313-1A7D5CBF0C5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p:nvPicPr>
        <p:blipFill>
          <a:blip r:embed="rId3"/>
          <a:srcRect t="48053" r="50000" b="-4546"/>
          <a:stretch/>
        </p:blipFill>
        <p:spPr>
          <a:xfrm>
            <a:off x="10431745" y="0"/>
            <a:ext cx="1760256" cy="1988856"/>
          </a:xfrm>
          <a:prstGeom prst="rect">
            <a:avLst/>
          </a:prstGeom>
        </p:spPr>
      </p:pic>
      <p:pic>
        <p:nvPicPr>
          <p:cNvPr id="7" name="Picture 6">
            <a:extLst>
              <a:ext uri="{FF2B5EF4-FFF2-40B4-BE49-F238E27FC236}">
                <a16:creationId xmlns:a16="http://schemas.microsoft.com/office/drawing/2014/main" id="{90C88DDE-1BC8-65B0-4BB4-7AC76CF1D820}"/>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8" name="TextBox 7">
            <a:extLst>
              <a:ext uri="{FF2B5EF4-FFF2-40B4-BE49-F238E27FC236}">
                <a16:creationId xmlns:a16="http://schemas.microsoft.com/office/drawing/2014/main" id="{65F1F1CE-1777-F563-ECCD-02770FC08AC9}"/>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9" name="Picture 8" descr="A purple circle with black background&#10;&#10;Description automatically generated">
            <a:extLst>
              <a:ext uri="{FF2B5EF4-FFF2-40B4-BE49-F238E27FC236}">
                <a16:creationId xmlns:a16="http://schemas.microsoft.com/office/drawing/2014/main" id="{668408B4-22D1-50AE-6C5E-7AA71FF10149}"/>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733762279"/>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DC2E77E3-C893-FC4F-C7E7-AECC757E9470}"/>
              </a:ext>
            </a:extLst>
          </p:cNvPr>
          <p:cNvPicPr>
            <a:picLocks noChangeAspect="1"/>
          </p:cNvPicPr>
          <p:nvPr userDrawn="1"/>
        </p:nvPicPr>
        <p:blipFill>
          <a:blip r:embed="rId2"/>
          <a:srcRect/>
          <a:stretch/>
        </p:blipFill>
        <p:spPr>
          <a:xfrm>
            <a:off x="10236201" y="6365323"/>
            <a:ext cx="1117599" cy="184284"/>
          </a:xfrm>
          <a:prstGeom prst="rect">
            <a:avLst/>
          </a:prstGeom>
        </p:spPr>
      </p:pic>
      <p:pic>
        <p:nvPicPr>
          <p:cNvPr id="7" name="Graphic 6">
            <a:extLst>
              <a:ext uri="{FF2B5EF4-FFF2-40B4-BE49-F238E27FC236}">
                <a16:creationId xmlns:a16="http://schemas.microsoft.com/office/drawing/2014/main" id="{37DC49F1-6367-FEAE-1411-7D26A5CC7BB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8" name="TextBox 7">
            <a:extLst>
              <a:ext uri="{FF2B5EF4-FFF2-40B4-BE49-F238E27FC236}">
                <a16:creationId xmlns:a16="http://schemas.microsoft.com/office/drawing/2014/main" id="{8F131B87-375C-15CD-9BA0-BA8795BA95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197915036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8A0A7825-7747-AD0C-3E66-419C01066D6C}"/>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624698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58077669-998F-D6CC-5057-5D6DBA2AED72}"/>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961120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74652D5D-E3B3-D2D7-BE52-7CF1B871ADF1}"/>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8282744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cxnSp>
        <p:nvCxnSpPr>
          <p:cNvPr id="3" name="Straight Connector 2">
            <a:extLst>
              <a:ext uri="{FF2B5EF4-FFF2-40B4-BE49-F238E27FC236}">
                <a16:creationId xmlns:a16="http://schemas.microsoft.com/office/drawing/2014/main" id="{4C21BDDB-2571-5B3D-3AC9-78AC4AC53507}"/>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7A2B67A-8347-1719-D10E-995E23A0C9B3}"/>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19BDB04-8D47-06E9-E74F-12F616AC569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DC3C1DE-4859-BC43-A5EF-47A8CED08F2B}"/>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5847C48-39F4-40E5-C758-E0B75F6CA88C}"/>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A27EAF5-A175-B85C-23C7-632719BB3BAD}"/>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499D004E-BC31-BFB8-E327-FE1C31E8698D}"/>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15" name="TextBox 14">
            <a:extLst>
              <a:ext uri="{FF2B5EF4-FFF2-40B4-BE49-F238E27FC236}">
                <a16:creationId xmlns:a16="http://schemas.microsoft.com/office/drawing/2014/main" id="{4CB7ED4A-57DB-B3B1-68E0-292390A482F5}"/>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36537765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769B57E6-774C-21AE-4C26-2382CAFB1483}"/>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4" name="TextBox 3">
            <a:extLst>
              <a:ext uri="{FF2B5EF4-FFF2-40B4-BE49-F238E27FC236}">
                <a16:creationId xmlns:a16="http://schemas.microsoft.com/office/drawing/2014/main" id="{8041199F-75D7-E6BE-F524-470E15EFDA7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3420264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6" name="TextBox 5">
            <a:extLst>
              <a:ext uri="{FF2B5EF4-FFF2-40B4-BE49-F238E27FC236}">
                <a16:creationId xmlns:a16="http://schemas.microsoft.com/office/drawing/2014/main" id="{8F325F10-F4CA-B63D-3569-016E594138D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FB7C0B57-8F8D-2992-849C-1DB0793193CE}"/>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2A97980-077E-F4BC-E0F2-FDCEBF8872C7}"/>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800E5FA-727A-1FE9-49EA-6ACDCDDC22F0}"/>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8E9ABCE-C273-F640-D86E-7D98BF018B32}"/>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508089F-8993-8206-C8F3-49BB857A5DA0}"/>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D3B2490-C41F-ED5D-DBE0-DB6D4A8405A5}"/>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BADC82CD-A379-5F28-EF3C-E6970EF10986}"/>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24" name="TextBox 23">
            <a:extLst>
              <a:ext uri="{FF2B5EF4-FFF2-40B4-BE49-F238E27FC236}">
                <a16:creationId xmlns:a16="http://schemas.microsoft.com/office/drawing/2014/main" id="{173FCC2E-92ED-AA75-ACB5-E2EE8F6A600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76322022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4274AC09-B816-EB80-FC26-ED5BE9BC6424}"/>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C8A223CC-7047-D812-40BD-BF4399F8D57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476472D8-055F-DF69-E5C0-962936763D0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2290922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730ABEF-5300-57A8-7D1F-A79B33E0612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14ABCF8F-A1EE-400E-951C-E1BD0E13733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C421C3BE-1B49-B72B-9851-97689F89ACE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8474604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6AD33249-039D-AC22-0A89-43D02D29E3A4}"/>
              </a:ext>
            </a:extLst>
          </p:cNvPr>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505B6E0-AB40-E960-9235-BF4153697875}"/>
              </a:ext>
            </a:extLst>
          </p:cNvPr>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63B9B4D-A870-0BEB-A0B3-52CC747D2FDD}"/>
              </a:ext>
            </a:extLst>
          </p:cNvPr>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27E9E3A-AF92-3E1D-0EF9-6F03DFFDB6E7}"/>
              </a:ext>
            </a:extLst>
          </p:cNvPr>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CAB9828-DAF4-35BF-A049-7E2B47C35AD0}"/>
              </a:ext>
            </a:extLst>
          </p:cNvPr>
          <p:cNvPicPr>
            <a:picLocks noChangeAspect="1"/>
          </p:cNvPicPr>
          <p:nvPr userDrawn="1"/>
        </p:nvPicPr>
        <p:blipFill>
          <a:blip r:embed="rId2"/>
          <a:srcRect/>
          <a:stretch/>
        </p:blipFill>
        <p:spPr>
          <a:xfrm>
            <a:off x="10236204" y="6365323"/>
            <a:ext cx="1117593" cy="184284"/>
          </a:xfrm>
          <a:prstGeom prst="rect">
            <a:avLst/>
          </a:prstGeom>
        </p:spPr>
      </p:pic>
      <p:cxnSp>
        <p:nvCxnSpPr>
          <p:cNvPr id="26" name="Straight Connector 25">
            <a:extLst>
              <a:ext uri="{FF2B5EF4-FFF2-40B4-BE49-F238E27FC236}">
                <a16:creationId xmlns:a16="http://schemas.microsoft.com/office/drawing/2014/main" id="{5447B09A-CA54-8CDA-1DBF-9DA93238FCA8}"/>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053FD5D-5ED9-4C17-B5E0-8DF22D53133D}"/>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F157BEB-6C1B-00C0-9212-E2288AC94A75}"/>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9430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r>
              <a:rPr lang="en-US"/>
              <a:t>Click icon to add picture</a:t>
            </a:r>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2B4B549E-17E7-C87E-42CF-8E0A5CD82392}"/>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246121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3" name="Picture 2">
            <a:extLst>
              <a:ext uri="{FF2B5EF4-FFF2-40B4-BE49-F238E27FC236}">
                <a16:creationId xmlns:a16="http://schemas.microsoft.com/office/drawing/2014/main" id="{63175FA3-A4F3-A079-AD28-E72F8A221A8F}"/>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E2071067-DDE6-73AB-ABAC-A2E2FDA92421}"/>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6" name="TextBox 5">
            <a:extLst>
              <a:ext uri="{FF2B5EF4-FFF2-40B4-BE49-F238E27FC236}">
                <a16:creationId xmlns:a16="http://schemas.microsoft.com/office/drawing/2014/main" id="{7686B18A-906E-A9D8-8071-EF6A4D884E72}"/>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309356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pic>
        <p:nvPicPr>
          <p:cNvPr id="2" name="Picture 1">
            <a:extLst>
              <a:ext uri="{FF2B5EF4-FFF2-40B4-BE49-F238E27FC236}">
                <a16:creationId xmlns:a16="http://schemas.microsoft.com/office/drawing/2014/main" id="{15E845C4-9D9F-90AC-12ED-C1B33483F822}"/>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TextBox 2">
            <a:extLst>
              <a:ext uri="{FF2B5EF4-FFF2-40B4-BE49-F238E27FC236}">
                <a16:creationId xmlns:a16="http://schemas.microsoft.com/office/drawing/2014/main" id="{5110545B-3E1D-7211-7FB9-B3D951F4B79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3327240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460585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dirty="0"/>
              <a:t>DATE</a:t>
            </a:r>
          </a:p>
        </p:txBody>
      </p:sp>
      <p:sp>
        <p:nvSpPr>
          <p:cNvPr id="4" name="Date Placeholder 9">
            <a:extLst>
              <a:ext uri="{FF2B5EF4-FFF2-40B4-BE49-F238E27FC236}">
                <a16:creationId xmlns:a16="http://schemas.microsoft.com/office/drawing/2014/main" id="{7893F2CA-7CEB-500D-6636-67665110625B}"/>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0719044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0232048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683773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dirty="0"/>
              <a:t>Presentation Title Goes Here</a:t>
            </a:r>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588184"/>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103805213"/>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spTree>
    <p:extLst>
      <p:ext uri="{BB962C8B-B14F-4D97-AF65-F5344CB8AC3E}">
        <p14:creationId xmlns:p14="http://schemas.microsoft.com/office/powerpoint/2010/main" val="1501120579"/>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Tree>
    <p:extLst>
      <p:ext uri="{BB962C8B-B14F-4D97-AF65-F5344CB8AC3E}">
        <p14:creationId xmlns:p14="http://schemas.microsoft.com/office/powerpoint/2010/main" val="251991936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686856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2CFEE7E-FB78-B03C-5313-1A7D5CBF0C5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946323338"/>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2480235199"/>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110671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33278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014137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044057886"/>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41889"/>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6" name="TextBox 5">
            <a:extLst>
              <a:ext uri="{FF2B5EF4-FFF2-40B4-BE49-F238E27FC236}">
                <a16:creationId xmlns:a16="http://schemas.microsoft.com/office/drawing/2014/main" id="{8F325F10-F4CA-B63D-3569-016E594138D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873408055"/>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4274AC09-B816-EB80-FC26-ED5BE9BC6424}"/>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7028585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730ABEF-5300-57A8-7D1F-A79B33E0612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8973781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67282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40997099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9542598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8560356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61907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B1EDD6-DF08-D054-8CB4-B5219E9F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912819-8CF0-6ED2-8F6B-1CEE1EF57A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B0FD5-D308-B238-09AE-9D3F591D9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24AB6-689F-4D94-89E3-667E6F78A9F8}" type="datetimeFigureOut">
              <a:rPr lang="en-US" smtClean="0"/>
              <a:t>8/27/2026</a:t>
            </a:fld>
            <a:endParaRPr lang="en-US"/>
          </a:p>
        </p:txBody>
      </p:sp>
      <p:sp>
        <p:nvSpPr>
          <p:cNvPr id="5" name="Footer Placeholder 4">
            <a:extLst>
              <a:ext uri="{FF2B5EF4-FFF2-40B4-BE49-F238E27FC236}">
                <a16:creationId xmlns:a16="http://schemas.microsoft.com/office/drawing/2014/main" id="{213640B5-0807-F9FE-DC39-61BF57B64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5B4B08E-A102-F055-7747-2596A0391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9359481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01" r:id="rId35"/>
    <p:sldLayoutId id="2147483686" r:id="rId36"/>
    <p:sldLayoutId id="2147483653" r:id="rId37"/>
    <p:sldLayoutId id="2147483678" r:id="rId38"/>
    <p:sldLayoutId id="2147483685" r:id="rId39"/>
    <p:sldLayoutId id="2147483673" r:id="rId40"/>
    <p:sldLayoutId id="2147483683" r:id="rId41"/>
    <p:sldLayoutId id="2147483674" r:id="rId42"/>
    <p:sldLayoutId id="2147483684" r:id="rId43"/>
    <p:sldLayoutId id="2147483663" r:id="rId44"/>
    <p:sldLayoutId id="2147483654" r:id="rId45"/>
    <p:sldLayoutId id="2147483651" r:id="rId46"/>
    <p:sldLayoutId id="2147483661" r:id="rId47"/>
    <p:sldLayoutId id="2147483677" r:id="rId48"/>
    <p:sldLayoutId id="2147483664" r:id="rId49"/>
    <p:sldLayoutId id="2147483687" r:id="rId50"/>
    <p:sldLayoutId id="2147483675" r:id="rId51"/>
    <p:sldLayoutId id="2147483662" r:id="rId52"/>
    <p:sldLayoutId id="2147483676" r:id="rId53"/>
    <p:sldLayoutId id="2147483672" r:id="rId54"/>
    <p:sldLayoutId id="2147483670" r:id="rId55"/>
    <p:sldLayoutId id="2147483681" r:id="rId56"/>
    <p:sldLayoutId id="2147483682" r:id="rId57"/>
    <p:sldLayoutId id="2147483740" r:id="rId58"/>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3" pos="3840" userDrawn="1">
          <p15:clr>
            <a:srgbClr val="F26B43"/>
          </p15:clr>
        </p15:guide>
        <p15:guide id="14" pos="528" userDrawn="1">
          <p15:clr>
            <a:srgbClr val="F26B43"/>
          </p15:clr>
        </p15:guide>
        <p15:guide id="15" orient="horz" pos="2160" userDrawn="1">
          <p15:clr>
            <a:srgbClr val="F26B43"/>
          </p15:clr>
        </p15:guide>
        <p15:guide id="16" orient="horz" pos="144" userDrawn="1">
          <p15:clr>
            <a:srgbClr val="F26B43"/>
          </p15:clr>
        </p15:guide>
        <p15:guide id="17" orient="horz" pos="720" userDrawn="1">
          <p15:clr>
            <a:srgbClr val="F26B43"/>
          </p15:clr>
        </p15:guide>
        <p15:guide id="18" pos="7152" userDrawn="1">
          <p15:clr>
            <a:srgbClr val="F26B43"/>
          </p15:clr>
        </p15:guide>
        <p15:guide id="19" orient="horz" pos="432" userDrawn="1">
          <p15:clr>
            <a:srgbClr val="F26B43"/>
          </p15:clr>
        </p15:guide>
        <p15:guide id="20" orient="horz" pos="1008" userDrawn="1">
          <p15:clr>
            <a:srgbClr val="F26B43"/>
          </p15:clr>
        </p15:guide>
        <p15:guide id="21" orient="horz" pos="1296" userDrawn="1">
          <p15:clr>
            <a:srgbClr val="F26B43"/>
          </p15:clr>
        </p15:guide>
        <p15:guide id="22" orient="horz" pos="4176" userDrawn="1">
          <p15:clr>
            <a:srgbClr val="F26B43"/>
          </p15:clr>
        </p15:guide>
        <p15:guide id="23" orient="horz" pos="3096" userDrawn="1">
          <p15:clr>
            <a:srgbClr val="F26B43"/>
          </p15:clr>
        </p15:guide>
        <p15:guide id="2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ataonwheels.wordpress.com/"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www.linkedin.com/in/kristyna-ferris-dataonwheel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8.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8.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58.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58.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azure/cost-management-billing/reservations/fabric-capacity#buy-a-microsoft-fabric-capacity-reservation"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7.svg"/></Relationships>
</file>

<file path=ppt/slides/_rels/slide2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6.svg"/><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hyperlink" Target="https://data-witches.com/power-bi-licensing-calculator/"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hyperlink" Target="https://www.tigeranalytics.com/perspectives/blog/a-comprehensive-guide-to-pricing-and-licensing-on-microsoft-fabric/" TargetMode="External"/><Relationship Id="rId4" Type="http://schemas.openxmlformats.org/officeDocument/2006/relationships/hyperlink" Target="https://radacad.com/microsoft-fabric-licensing-an-ultimate-guide/"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28EF7-DA21-3EBA-45BD-07A520938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84CC0-0BC0-32AF-31FE-4FAA52F6BCC1}"/>
              </a:ext>
            </a:extLst>
          </p:cNvPr>
          <p:cNvSpPr>
            <a:spLocks noGrp="1"/>
          </p:cNvSpPr>
          <p:nvPr>
            <p:ph type="ctrTitle"/>
          </p:nvPr>
        </p:nvSpPr>
        <p:spPr>
          <a:xfrm>
            <a:off x="124239" y="417576"/>
            <a:ext cx="11956774" cy="1249394"/>
          </a:xfrm>
        </p:spPr>
        <p:txBody>
          <a:bodyPr anchor="ctr">
            <a:noAutofit/>
          </a:bodyPr>
          <a:lstStyle/>
          <a:p>
            <a:r>
              <a:rPr lang="en-US" sz="4000" dirty="0"/>
              <a:t>Decoding Fabric Licensing</a:t>
            </a:r>
          </a:p>
        </p:txBody>
      </p:sp>
      <p:sp>
        <p:nvSpPr>
          <p:cNvPr id="3" name="Subtitle 2">
            <a:extLst>
              <a:ext uri="{FF2B5EF4-FFF2-40B4-BE49-F238E27FC236}">
                <a16:creationId xmlns:a16="http://schemas.microsoft.com/office/drawing/2014/main" id="{6201F2B7-624E-CB63-0A92-F5F5042130F9}"/>
              </a:ext>
            </a:extLst>
          </p:cNvPr>
          <p:cNvSpPr>
            <a:spLocks noGrp="1"/>
          </p:cNvSpPr>
          <p:nvPr>
            <p:ph type="subTitle" idx="1"/>
          </p:nvPr>
        </p:nvSpPr>
        <p:spPr>
          <a:xfrm>
            <a:off x="638881" y="1809541"/>
            <a:ext cx="10909643" cy="687406"/>
          </a:xfrm>
        </p:spPr>
        <p:txBody>
          <a:bodyPr anchor="ctr">
            <a:normAutofit/>
          </a:bodyPr>
          <a:lstStyle/>
          <a:p>
            <a:r>
              <a:rPr lang="en-US" dirty="0">
                <a:cs typeface="Arial" panose="020B0604020202020204" pitchFamily="34" charset="0"/>
              </a:rPr>
              <a:t>Kristyna Ferris</a:t>
            </a:r>
          </a:p>
        </p:txBody>
      </p:sp>
      <p:sp>
        <p:nvSpPr>
          <p:cNvPr id="4" name="Subtitle 2">
            <a:extLst>
              <a:ext uri="{FF2B5EF4-FFF2-40B4-BE49-F238E27FC236}">
                <a16:creationId xmlns:a16="http://schemas.microsoft.com/office/drawing/2014/main" id="{FB793C5E-E286-7E86-B510-811E947CA9C5}"/>
              </a:ext>
            </a:extLst>
          </p:cNvPr>
          <p:cNvSpPr txBox="1">
            <a:spLocks/>
          </p:cNvSpPr>
          <p:nvPr/>
        </p:nvSpPr>
        <p:spPr>
          <a:xfrm>
            <a:off x="557711" y="5937593"/>
            <a:ext cx="10909643" cy="68740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dirty="0">
                <a:cs typeface="Arial" panose="020B0604020202020204" pitchFamily="34" charset="0"/>
              </a:rPr>
              <a:t>Fun Fact: this font is dyslexic friendly! Ask me how to use it for free after the session.</a:t>
            </a:r>
          </a:p>
        </p:txBody>
      </p:sp>
      <p:pic>
        <p:nvPicPr>
          <p:cNvPr id="5" name="Picture 4" descr="A road with bushes and trees in the background&#10;&#10;AI-generated content may be incorrect.">
            <a:extLst>
              <a:ext uri="{FF2B5EF4-FFF2-40B4-BE49-F238E27FC236}">
                <a16:creationId xmlns:a16="http://schemas.microsoft.com/office/drawing/2014/main" id="{844378CF-9F79-1460-5ACF-49DE1563ED5F}"/>
              </a:ext>
            </a:extLst>
          </p:cNvPr>
          <p:cNvPicPr>
            <a:picLocks noChangeAspect="1"/>
          </p:cNvPicPr>
          <p:nvPr/>
        </p:nvPicPr>
        <p:blipFill>
          <a:blip r:embed="rId3"/>
          <a:srcRect t="20624" b="24271"/>
          <a:stretch>
            <a:fillRect/>
          </a:stretch>
        </p:blipFill>
        <p:spPr>
          <a:xfrm>
            <a:off x="7388" y="3543300"/>
            <a:ext cx="12190476" cy="2210656"/>
          </a:xfrm>
          <a:prstGeom prst="rect">
            <a:avLst/>
          </a:prstGeom>
        </p:spPr>
      </p:pic>
    </p:spTree>
    <p:extLst>
      <p:ext uri="{BB962C8B-B14F-4D97-AF65-F5344CB8AC3E}">
        <p14:creationId xmlns:p14="http://schemas.microsoft.com/office/powerpoint/2010/main" val="70182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4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23EE-8834-379B-D29E-82A02A099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0CC65-2D84-3E12-28E3-8CF5E276244D}"/>
              </a:ext>
            </a:extLst>
          </p:cNvPr>
          <p:cNvSpPr>
            <a:spLocks noGrp="1"/>
          </p:cNvSpPr>
          <p:nvPr>
            <p:ph type="title"/>
          </p:nvPr>
        </p:nvSpPr>
        <p:spPr>
          <a:xfrm>
            <a:off x="5029199" y="365125"/>
            <a:ext cx="6305341" cy="1283255"/>
          </a:xfrm>
        </p:spPr>
        <p:txBody>
          <a:bodyPr>
            <a:normAutofit fontScale="90000"/>
          </a:bodyPr>
          <a:lstStyle/>
          <a:p>
            <a:r>
              <a:rPr lang="en-US" dirty="0"/>
              <a:t>About Me ~ Kristyna Ferris</a:t>
            </a:r>
          </a:p>
        </p:txBody>
      </p:sp>
      <p:pic>
        <p:nvPicPr>
          <p:cNvPr id="7" name="Picture 6">
            <a:extLst>
              <a:ext uri="{FF2B5EF4-FFF2-40B4-BE49-F238E27FC236}">
                <a16:creationId xmlns:a16="http://schemas.microsoft.com/office/drawing/2014/main" id="{396DAA21-4287-0C6E-B609-B641D096C74A}"/>
              </a:ext>
            </a:extLst>
          </p:cNvPr>
          <p:cNvPicPr>
            <a:picLocks noChangeAspect="1"/>
          </p:cNvPicPr>
          <p:nvPr/>
        </p:nvPicPr>
        <p:blipFill>
          <a:blip r:embed="rId2"/>
          <a:srcRect l="5406" r="5406"/>
          <a:stretch/>
        </p:blipFill>
        <p:spPr>
          <a:xfrm>
            <a:off x="458525" y="857692"/>
            <a:ext cx="4478416" cy="5021284"/>
          </a:xfrm>
          <a:prstGeom prst="rect">
            <a:avLst/>
          </a:prstGeom>
          <a:ln>
            <a:noFill/>
          </a:ln>
          <a:effectLst>
            <a:outerShdw blurRad="190500" algn="tl" rotWithShape="0">
              <a:srgbClr val="000000">
                <a:alpha val="70000"/>
              </a:srgbClr>
            </a:outerShdw>
          </a:effectLst>
        </p:spPr>
      </p:pic>
      <p:sp>
        <p:nvSpPr>
          <p:cNvPr id="3" name="Content Placeholder 2">
            <a:extLst>
              <a:ext uri="{FF2B5EF4-FFF2-40B4-BE49-F238E27FC236}">
                <a16:creationId xmlns:a16="http://schemas.microsoft.com/office/drawing/2014/main" id="{DAF38228-38FE-B0FF-35BD-580808EBDC9A}"/>
              </a:ext>
            </a:extLst>
          </p:cNvPr>
          <p:cNvSpPr>
            <a:spLocks noGrp="1"/>
          </p:cNvSpPr>
          <p:nvPr>
            <p:ph idx="1"/>
          </p:nvPr>
        </p:nvSpPr>
        <p:spPr>
          <a:xfrm>
            <a:off x="5109160" y="1873905"/>
            <a:ext cx="7048670" cy="4898684"/>
          </a:xfrm>
        </p:spPr>
        <p:txBody>
          <a:bodyPr>
            <a:normAutofit fontScale="92500" lnSpcReduction="20000"/>
          </a:bodyPr>
          <a:lstStyle/>
          <a:p>
            <a:pPr marL="0" indent="0">
              <a:lnSpc>
                <a:spcPct val="160000"/>
              </a:lnSpc>
              <a:buNone/>
            </a:pPr>
            <a:r>
              <a:rPr lang="en-US" sz="2100" dirty="0"/>
              <a:t>Microsoft MVP, Data Platform &amp; Fabric</a:t>
            </a:r>
            <a:br>
              <a:rPr lang="en-US" sz="2100" dirty="0"/>
            </a:br>
            <a:r>
              <a:rPr lang="en-US" sz="2100" dirty="0"/>
              <a:t>Solution Architect, P3 Adaptive</a:t>
            </a:r>
            <a:br>
              <a:rPr lang="en-US" sz="2100" dirty="0"/>
            </a:br>
            <a:r>
              <a:rPr lang="en-US" sz="2100" dirty="0"/>
              <a:t>Lexington Data Tech Group co-organizer </a:t>
            </a:r>
            <a:br>
              <a:rPr lang="en-US" sz="2100" dirty="0"/>
            </a:br>
            <a:r>
              <a:rPr lang="en-US" sz="2100" dirty="0" err="1"/>
              <a:t>DataOnWheels</a:t>
            </a:r>
            <a:r>
              <a:rPr lang="en-US" sz="2100" dirty="0"/>
              <a:t> Author</a:t>
            </a:r>
          </a:p>
          <a:p>
            <a:pPr marL="0" indent="0">
              <a:lnSpc>
                <a:spcPct val="160000"/>
              </a:lnSpc>
              <a:buNone/>
            </a:pPr>
            <a:r>
              <a:rPr lang="en-US" sz="2000" b="1" dirty="0"/>
              <a:t>Blog </a:t>
            </a:r>
          </a:p>
          <a:p>
            <a:pPr marL="0" indent="0">
              <a:lnSpc>
                <a:spcPct val="120000"/>
              </a:lnSpc>
              <a:buNone/>
            </a:pPr>
            <a:r>
              <a:rPr lang="en-US" sz="2000" dirty="0">
                <a:hlinkClick r:id="rId3">
                  <a:extLst>
                    <a:ext uri="{A12FA001-AC4F-418D-AE19-62706E023703}">
                      <ahyp:hlinkClr xmlns:ahyp="http://schemas.microsoft.com/office/drawing/2018/hyperlinkcolor" val="tx"/>
                    </a:ext>
                  </a:extLst>
                </a:hlinkClick>
              </a:rPr>
              <a:t>https://dataonwheels.wordpress.com/</a:t>
            </a:r>
            <a:br>
              <a:rPr lang="en-US" sz="2000" dirty="0"/>
            </a:br>
            <a:br>
              <a:rPr lang="en-US" sz="2000" dirty="0"/>
            </a:br>
            <a:r>
              <a:rPr lang="en-US" sz="2000" b="1" dirty="0"/>
              <a:t>LinkedIn </a:t>
            </a:r>
          </a:p>
          <a:p>
            <a:pPr marL="0" indent="0">
              <a:lnSpc>
                <a:spcPct val="120000"/>
              </a:lnSpc>
              <a:buNone/>
            </a:pPr>
            <a:r>
              <a:rPr lang="en-US" sz="2000" b="0" i="0" dirty="0">
                <a:effectLst/>
                <a:hlinkClick r:id="rId4">
                  <a:extLst>
                    <a:ext uri="{A12FA001-AC4F-418D-AE19-62706E023703}">
                      <ahyp:hlinkClr xmlns:ahyp="http://schemas.microsoft.com/office/drawing/2018/hyperlinkcolor" val="tx"/>
                    </a:ext>
                  </a:extLst>
                </a:hlinkClick>
              </a:rPr>
              <a:t>https://www.linkedin.com/in/kristyna-ferris-dataonwheels/</a:t>
            </a:r>
            <a:br>
              <a:rPr lang="en-US" sz="2000" b="0" i="0" dirty="0">
                <a:effectLst/>
              </a:rPr>
            </a:br>
            <a:endParaRPr lang="en-US" sz="2000" dirty="0"/>
          </a:p>
          <a:p>
            <a:pPr marL="0" indent="0">
              <a:lnSpc>
                <a:spcPct val="120000"/>
              </a:lnSpc>
              <a:buNone/>
            </a:pPr>
            <a:r>
              <a:rPr lang="en-US" sz="2000" b="1" dirty="0"/>
              <a:t>Twitter &amp; Bluesky </a:t>
            </a:r>
          </a:p>
          <a:p>
            <a:pPr marL="0" indent="0">
              <a:lnSpc>
                <a:spcPct val="120000"/>
              </a:lnSpc>
              <a:buNone/>
            </a:pPr>
            <a:r>
              <a:rPr lang="en-US" sz="2000" dirty="0"/>
              <a:t>@data_dragoness</a:t>
            </a:r>
          </a:p>
        </p:txBody>
      </p:sp>
    </p:spTree>
    <p:extLst>
      <p:ext uri="{BB962C8B-B14F-4D97-AF65-F5344CB8AC3E}">
        <p14:creationId xmlns:p14="http://schemas.microsoft.com/office/powerpoint/2010/main" val="313349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5D0FF-1A55-E74E-023C-E0386E1F1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EEF39-7DBF-5077-134A-0BD6BCF00D1B}"/>
              </a:ext>
            </a:extLst>
          </p:cNvPr>
          <p:cNvSpPr>
            <a:spLocks noGrp="1"/>
          </p:cNvSpPr>
          <p:nvPr>
            <p:ph type="title"/>
          </p:nvPr>
        </p:nvSpPr>
        <p:spPr>
          <a:xfrm>
            <a:off x="3048" y="579748"/>
            <a:ext cx="12188952" cy="1325563"/>
          </a:xfrm>
        </p:spPr>
        <p:txBody>
          <a:bodyPr vert="horz" lIns="91440" tIns="45720" rIns="91440" bIns="45720" rtlCol="0" anchor="ctr">
            <a:normAutofit fontScale="90000"/>
          </a:bodyPr>
          <a:lstStyle/>
          <a:p>
            <a:pPr algn="ctr"/>
            <a:r>
              <a:rPr lang="en-US" dirty="0"/>
              <a:t>Welcome to Fabric Licensing</a:t>
            </a:r>
            <a:br>
              <a:rPr lang="en-US" sz="4800" dirty="0"/>
            </a:br>
            <a:br>
              <a:rPr lang="en-US" sz="2700" dirty="0"/>
            </a:br>
            <a:r>
              <a:rPr lang="en-US" sz="2700" i="1" dirty="0"/>
              <a:t>sometimes the Microsoft Learn documents are not enough </a:t>
            </a:r>
            <a:endParaRPr lang="en-US" sz="2700" i="1"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B8E51F11-308F-4C27-C536-4EBF03BF97B9}"/>
              </a:ext>
            </a:extLst>
          </p:cNvPr>
          <p:cNvPicPr>
            <a:picLocks noChangeAspect="1"/>
          </p:cNvPicPr>
          <p:nvPr/>
        </p:nvPicPr>
        <p:blipFill>
          <a:blip r:embed="rId3"/>
          <a:stretch>
            <a:fillRect/>
          </a:stretch>
        </p:blipFill>
        <p:spPr>
          <a:xfrm>
            <a:off x="3104407" y="2135778"/>
            <a:ext cx="5983186" cy="3672169"/>
          </a:xfrm>
          <a:prstGeom prst="rect">
            <a:avLst/>
          </a:prstGeom>
        </p:spPr>
      </p:pic>
    </p:spTree>
    <p:extLst>
      <p:ext uri="{BB962C8B-B14F-4D97-AF65-F5344CB8AC3E}">
        <p14:creationId xmlns:p14="http://schemas.microsoft.com/office/powerpoint/2010/main" val="2347879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B625E-CD8B-8CEC-12A3-D905E0980873}"/>
              </a:ext>
            </a:extLst>
          </p:cNvPr>
          <p:cNvSpPr>
            <a:spLocks noGrp="1"/>
          </p:cNvSpPr>
          <p:nvPr>
            <p:ph type="title"/>
          </p:nvPr>
        </p:nvSpPr>
        <p:spPr>
          <a:xfrm>
            <a:off x="1146081" y="293945"/>
            <a:ext cx="10281507" cy="641060"/>
          </a:xfrm>
        </p:spPr>
        <p:txBody>
          <a:bodyPr>
            <a:noAutofit/>
          </a:bodyPr>
          <a:lstStyle/>
          <a:p>
            <a:r>
              <a:rPr lang="en-US" sz="3600" dirty="0"/>
              <a:t>Microsoft Fabric Licensing Key Concepts 1</a:t>
            </a:r>
          </a:p>
        </p:txBody>
      </p:sp>
      <p:sp>
        <p:nvSpPr>
          <p:cNvPr id="2" name="Title 3">
            <a:extLst>
              <a:ext uri="{FF2B5EF4-FFF2-40B4-BE49-F238E27FC236}">
                <a16:creationId xmlns:a16="http://schemas.microsoft.com/office/drawing/2014/main" id="{1ACC833C-F9DE-4F86-BD1A-8E5E46965699}"/>
              </a:ext>
            </a:extLst>
          </p:cNvPr>
          <p:cNvSpPr txBox="1">
            <a:spLocks/>
          </p:cNvSpPr>
          <p:nvPr/>
        </p:nvSpPr>
        <p:spPr>
          <a:xfrm>
            <a:off x="274320" y="1245996"/>
            <a:ext cx="11711642" cy="5526279"/>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b="1" dirty="0">
                <a:latin typeface="+mn-lt"/>
              </a:rPr>
              <a:t>Tenant</a:t>
            </a:r>
            <a:r>
              <a:rPr lang="en-US" sz="2000" dirty="0">
                <a:latin typeface="+mn-lt"/>
              </a:rPr>
              <a:t>  </a:t>
            </a:r>
          </a:p>
          <a:p>
            <a:r>
              <a:rPr lang="en-US" sz="2000" dirty="0">
                <a:latin typeface="+mn-lt"/>
              </a:rPr>
              <a:t>Microsoft Fabric is deployed to a Microsoft Entra tenant. Each tenant is tied to a specific Domain Name System (DNS) and other domains can be added to the tenant. </a:t>
            </a:r>
          </a:p>
          <a:p>
            <a:endParaRPr lang="en-US" sz="2000" dirty="0">
              <a:latin typeface="+mn-lt"/>
            </a:endParaRPr>
          </a:p>
          <a:p>
            <a:endParaRPr lang="en-US" sz="2000" dirty="0">
              <a:latin typeface="+mn-lt"/>
            </a:endParaRPr>
          </a:p>
          <a:p>
            <a:r>
              <a:rPr lang="en-US" sz="2000" b="1" dirty="0">
                <a:latin typeface="+mn-lt"/>
              </a:rPr>
              <a:t>Capacity</a:t>
            </a:r>
            <a:r>
              <a:rPr lang="en-US" sz="2000" dirty="0">
                <a:latin typeface="+mn-lt"/>
              </a:rPr>
              <a:t> </a:t>
            </a:r>
          </a:p>
          <a:p>
            <a:r>
              <a:rPr lang="en-US" sz="2000" dirty="0">
                <a:latin typeface="+mn-lt"/>
              </a:rPr>
              <a:t>Resides within a Fabric tenant. Each capacity that sits under a tenant is a distinct pool of resources allocated to Fabric. Size of the capacity determines the amount of computation power available.  You can have multiple capacities per tenant. Each tenant has a default shared capacity that does not cost anything, but it cannot run Fabric items and items are not sharable.</a:t>
            </a:r>
          </a:p>
          <a:p>
            <a:r>
              <a:rPr lang="en-US" sz="2000" dirty="0">
                <a:latin typeface="+mn-lt"/>
              </a:rPr>
              <a:t> </a:t>
            </a:r>
            <a:br>
              <a:rPr lang="en-US" sz="2000" dirty="0">
                <a:latin typeface="+mn-lt"/>
              </a:rPr>
            </a:br>
            <a:r>
              <a:rPr lang="en-US" sz="2000" b="1" dirty="0">
                <a:latin typeface="+mn-lt"/>
              </a:rPr>
              <a:t>Shared capacity </a:t>
            </a:r>
            <a:r>
              <a:rPr lang="en-US" sz="2000" dirty="0">
                <a:latin typeface="+mn-lt"/>
              </a:rPr>
              <a:t>runs on a server shared with other tenants.</a:t>
            </a:r>
            <a:br>
              <a:rPr lang="en-US" sz="2000" dirty="0">
                <a:latin typeface="+mn-lt"/>
              </a:rPr>
            </a:br>
            <a:r>
              <a:rPr lang="en-US" sz="2000" b="1" dirty="0">
                <a:latin typeface="+mn-lt"/>
              </a:rPr>
              <a:t>Dedicated capacity </a:t>
            </a:r>
            <a:r>
              <a:rPr lang="en-US" sz="2000" dirty="0">
                <a:latin typeface="+mn-lt"/>
              </a:rPr>
              <a:t>runs on a server that only contains your tenant’s data (FSKUs).</a:t>
            </a:r>
          </a:p>
          <a:p>
            <a:endParaRPr lang="en-US" sz="2000" dirty="0">
              <a:latin typeface="+mn-lt"/>
            </a:endParaRPr>
          </a:p>
          <a:p>
            <a:endParaRPr lang="en-US" sz="2000" dirty="0">
              <a:latin typeface="+mn-lt"/>
            </a:endParaRPr>
          </a:p>
          <a:p>
            <a:r>
              <a:rPr lang="en-US" sz="2000" b="1" dirty="0">
                <a:latin typeface="+mn-lt"/>
              </a:rPr>
              <a:t>Workspaces</a:t>
            </a:r>
            <a:r>
              <a:rPr lang="en-US" sz="2000" dirty="0">
                <a:latin typeface="+mn-lt"/>
              </a:rPr>
              <a:t> </a:t>
            </a:r>
          </a:p>
          <a:p>
            <a:r>
              <a:rPr lang="en-US" sz="2000" dirty="0">
                <a:latin typeface="+mn-lt"/>
              </a:rPr>
              <a:t>Resides within capacities. Used as containers for Microsoft Fabric items. Each user has a personal workspace called “My Workspace”. More workspaces can be created to enable collaboration.  You can have multiple workspaces in a capacity. </a:t>
            </a:r>
          </a:p>
        </p:txBody>
      </p:sp>
    </p:spTree>
    <p:extLst>
      <p:ext uri="{BB962C8B-B14F-4D97-AF65-F5344CB8AC3E}">
        <p14:creationId xmlns:p14="http://schemas.microsoft.com/office/powerpoint/2010/main" val="3191924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F6BB53-AB5C-2B5E-0A16-E4290EA38C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0B0950-26D6-9828-4B23-36FC237F0C57}"/>
              </a:ext>
            </a:extLst>
          </p:cNvPr>
          <p:cNvSpPr>
            <a:spLocks noGrp="1"/>
          </p:cNvSpPr>
          <p:nvPr>
            <p:ph type="title"/>
          </p:nvPr>
        </p:nvSpPr>
        <p:spPr>
          <a:xfrm>
            <a:off x="1146081" y="293945"/>
            <a:ext cx="10281507" cy="641060"/>
          </a:xfrm>
        </p:spPr>
        <p:txBody>
          <a:bodyPr>
            <a:noAutofit/>
          </a:bodyPr>
          <a:lstStyle/>
          <a:p>
            <a:r>
              <a:rPr lang="en-US" sz="3600" dirty="0"/>
              <a:t>Microsoft Fabric Licensing Key Concepts 2</a:t>
            </a:r>
          </a:p>
        </p:txBody>
      </p:sp>
      <p:sp>
        <p:nvSpPr>
          <p:cNvPr id="2" name="Title 3">
            <a:extLst>
              <a:ext uri="{FF2B5EF4-FFF2-40B4-BE49-F238E27FC236}">
                <a16:creationId xmlns:a16="http://schemas.microsoft.com/office/drawing/2014/main" id="{EAD1BDB9-6595-E32C-55BA-9B2150066E2B}"/>
              </a:ext>
            </a:extLst>
          </p:cNvPr>
          <p:cNvSpPr txBox="1">
            <a:spLocks/>
          </p:cNvSpPr>
          <p:nvPr/>
        </p:nvSpPr>
        <p:spPr>
          <a:xfrm>
            <a:off x="274320" y="1343025"/>
            <a:ext cx="11711642" cy="5417819"/>
          </a:xfrm>
          <a:prstGeom prst="rect">
            <a:avLst/>
          </a:prstGeom>
          <a:noFill/>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b="1" dirty="0">
                <a:latin typeface="+mn-lt"/>
              </a:rPr>
              <a:t>Stock Keeping Units (SKU) </a:t>
            </a:r>
          </a:p>
          <a:p>
            <a:r>
              <a:rPr lang="en-US" sz="2000" dirty="0">
                <a:latin typeface="+mn-lt"/>
              </a:rPr>
              <a:t>Provides a set of Fabric resources for your organization. </a:t>
            </a:r>
            <a:br>
              <a:rPr lang="en-US" sz="2000" dirty="0">
                <a:latin typeface="+mn-lt"/>
              </a:rPr>
            </a:br>
            <a:endParaRPr lang="en-US" sz="2000" dirty="0">
              <a:latin typeface="+mn-lt"/>
            </a:endParaRPr>
          </a:p>
          <a:p>
            <a:endParaRPr lang="en-US" sz="2000" dirty="0">
              <a:latin typeface="+mn-lt"/>
            </a:endParaRPr>
          </a:p>
          <a:p>
            <a:r>
              <a:rPr lang="en-US" sz="2000" b="1" dirty="0">
                <a:latin typeface="+mn-lt"/>
              </a:rPr>
              <a:t>Individual User Licensing </a:t>
            </a:r>
          </a:p>
          <a:p>
            <a:r>
              <a:rPr lang="en-US" sz="2000" dirty="0">
                <a:latin typeface="+mn-lt"/>
              </a:rPr>
              <a:t>Licenses that are applied to individuals such as Power BI Pro and Power BI Premium Per User. These two licenses are purchased through Microsoft 365 portal.</a:t>
            </a:r>
          </a:p>
          <a:p>
            <a:endParaRPr lang="en-US" sz="2000" dirty="0">
              <a:latin typeface="+mn-lt"/>
            </a:endParaRPr>
          </a:p>
          <a:p>
            <a:endParaRPr lang="en-US" sz="2000" dirty="0">
              <a:latin typeface="+mn-lt"/>
            </a:endParaRPr>
          </a:p>
          <a:p>
            <a:r>
              <a:rPr lang="en-US" sz="2000" b="1" dirty="0">
                <a:latin typeface="+mn-lt"/>
              </a:rPr>
              <a:t>Pay-As-You-Go Pricing </a:t>
            </a:r>
          </a:p>
          <a:p>
            <a:r>
              <a:rPr lang="en-US" sz="2000" dirty="0">
                <a:latin typeface="+mn-lt"/>
              </a:rPr>
              <a:t>Fabric SKUs (FSKUs) that are purchased as needed. Can be set up to automatically scale up and down based on need and can be easily paused to save money when not in use. Ideal for work loads that do not need to run all the time and have highly variable consumption.</a:t>
            </a:r>
          </a:p>
          <a:p>
            <a:endParaRPr lang="en-US" sz="2000" dirty="0">
              <a:latin typeface="+mn-lt"/>
            </a:endParaRPr>
          </a:p>
          <a:p>
            <a:endParaRPr lang="en-US" sz="2000" dirty="0">
              <a:latin typeface="+mn-lt"/>
            </a:endParaRPr>
          </a:p>
          <a:p>
            <a:r>
              <a:rPr lang="en-US" sz="2000" b="1" dirty="0">
                <a:latin typeface="+mn-lt"/>
              </a:rPr>
              <a:t>Reserved Pricing </a:t>
            </a:r>
          </a:p>
          <a:p>
            <a:r>
              <a:rPr lang="en-US" sz="2000" dirty="0">
                <a:latin typeface="+mn-lt"/>
              </a:rPr>
              <a:t>FSKUs that are purchased at least a year in advance for a 40% pricing discount. Ideal for work loads that require continuous up time. </a:t>
            </a:r>
          </a:p>
        </p:txBody>
      </p:sp>
    </p:spTree>
    <p:extLst>
      <p:ext uri="{BB962C8B-B14F-4D97-AF65-F5344CB8AC3E}">
        <p14:creationId xmlns:p14="http://schemas.microsoft.com/office/powerpoint/2010/main" val="1096399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F1D36"/>
          </a:solidFill>
          <a:ln/>
        </p:spPr>
        <p:txBody>
          <a:bodyPr/>
          <a:lstStyle/>
          <a:p>
            <a:endParaRPr lang="en-US" sz="2400"/>
          </a:p>
        </p:txBody>
      </p:sp>
      <p:pic>
        <p:nvPicPr>
          <p:cNvPr id="3" name="Image 0" descr="preencoded.png"/>
          <p:cNvPicPr>
            <a:picLocks noChangeAspect="1"/>
          </p:cNvPicPr>
          <p:nvPr/>
        </p:nvPicPr>
        <p:blipFill>
          <a:blip r:embed="rId3"/>
          <a:stretch>
            <a:fillRect/>
          </a:stretch>
        </p:blipFill>
        <p:spPr>
          <a:xfrm>
            <a:off x="487680" y="219456"/>
            <a:ext cx="792480" cy="792480"/>
          </a:xfrm>
          <a:prstGeom prst="rect">
            <a:avLst/>
          </a:prstGeom>
        </p:spPr>
      </p:pic>
      <p:sp>
        <p:nvSpPr>
          <p:cNvPr id="4" name="Text 1"/>
          <p:cNvSpPr/>
          <p:nvPr/>
        </p:nvSpPr>
        <p:spPr>
          <a:xfrm>
            <a:off x="1463040" y="182880"/>
            <a:ext cx="9753600" cy="853440"/>
          </a:xfrm>
          <a:prstGeom prst="rect">
            <a:avLst/>
          </a:prstGeom>
          <a:noFill/>
          <a:ln/>
        </p:spPr>
        <p:txBody>
          <a:bodyPr wrap="square" lIns="0" tIns="0" rIns="0" bIns="0" rtlCol="0" anchor="ctr"/>
          <a:lstStyle/>
          <a:p>
            <a:r>
              <a:rPr lang="en-US" sz="4000" dirty="0">
                <a:solidFill>
                  <a:srgbClr val="FFFFFF"/>
                </a:solidFill>
                <a:latin typeface="+mj-lt"/>
                <a:ea typeface="Georgia" pitchFamily="34" charset="-122"/>
                <a:cs typeface="Georgia" pitchFamily="34" charset="-120"/>
              </a:rPr>
              <a:t>The Airport</a:t>
            </a:r>
            <a:endParaRPr lang="en-US" sz="4000" dirty="0">
              <a:latin typeface="+mj-lt"/>
            </a:endParaRPr>
          </a:p>
        </p:txBody>
      </p:sp>
      <p:sp>
        <p:nvSpPr>
          <p:cNvPr id="5" name="Shape 2"/>
          <p:cNvSpPr/>
          <p:nvPr/>
        </p:nvSpPr>
        <p:spPr>
          <a:xfrm>
            <a:off x="190500" y="1402080"/>
            <a:ext cx="11811000" cy="5242560"/>
          </a:xfrm>
          <a:prstGeom prst="rect">
            <a:avLst/>
          </a:prstGeom>
          <a:solidFill>
            <a:srgbClr val="2D4A7A"/>
          </a:solidFill>
          <a:ln w="25400">
            <a:solidFill>
              <a:srgbClr val="5B8DBE"/>
            </a:solidFill>
            <a:prstDash val="solid"/>
          </a:ln>
        </p:spPr>
        <p:txBody>
          <a:bodyPr/>
          <a:lstStyle/>
          <a:p>
            <a:endParaRPr lang="en-US" sz="2800"/>
          </a:p>
        </p:txBody>
      </p:sp>
      <p:sp>
        <p:nvSpPr>
          <p:cNvPr id="6" name="Text 3"/>
          <p:cNvSpPr/>
          <p:nvPr/>
        </p:nvSpPr>
        <p:spPr>
          <a:xfrm>
            <a:off x="609600" y="1463040"/>
            <a:ext cx="4876800" cy="487680"/>
          </a:xfrm>
          <a:prstGeom prst="rect">
            <a:avLst/>
          </a:prstGeom>
          <a:noFill/>
          <a:ln/>
        </p:spPr>
        <p:txBody>
          <a:bodyPr wrap="square" lIns="0" tIns="0" rIns="0" bIns="0" rtlCol="0" anchor="ctr"/>
          <a:lstStyle/>
          <a:p>
            <a:r>
              <a:rPr lang="en-US" sz="2400" b="1" dirty="0">
                <a:solidFill>
                  <a:srgbClr val="FFFFFF"/>
                </a:solidFill>
                <a:ea typeface="Georgia" pitchFamily="34" charset="-122"/>
                <a:cs typeface="Georgia" pitchFamily="34" charset="-120"/>
              </a:rPr>
              <a:t>The Airport - Tenant</a:t>
            </a:r>
            <a:endParaRPr lang="en-US" sz="2400" dirty="0"/>
          </a:p>
        </p:txBody>
      </p:sp>
      <p:sp>
        <p:nvSpPr>
          <p:cNvPr id="7" name="Shape 4"/>
          <p:cNvSpPr/>
          <p:nvPr/>
        </p:nvSpPr>
        <p:spPr>
          <a:xfrm>
            <a:off x="502920" y="2072640"/>
            <a:ext cx="6461760" cy="4328160"/>
          </a:xfrm>
          <a:prstGeom prst="rect">
            <a:avLst/>
          </a:prstGeom>
          <a:solidFill>
            <a:srgbClr val="6B3A6B"/>
          </a:solidFill>
          <a:ln w="25400">
            <a:solidFill>
              <a:srgbClr val="B06AB0"/>
            </a:solidFill>
            <a:prstDash val="solid"/>
          </a:ln>
        </p:spPr>
        <p:txBody>
          <a:bodyPr/>
          <a:lstStyle/>
          <a:p>
            <a:endParaRPr lang="en-US" sz="2800"/>
          </a:p>
        </p:txBody>
      </p:sp>
      <p:sp>
        <p:nvSpPr>
          <p:cNvPr id="8" name="Text 5"/>
          <p:cNvSpPr/>
          <p:nvPr/>
        </p:nvSpPr>
        <p:spPr>
          <a:xfrm>
            <a:off x="746760" y="2072640"/>
            <a:ext cx="5852160" cy="524256"/>
          </a:xfrm>
          <a:prstGeom prst="rect">
            <a:avLst/>
          </a:prstGeom>
          <a:noFill/>
          <a:ln/>
        </p:spPr>
        <p:txBody>
          <a:bodyPr wrap="square" lIns="0" tIns="0" rIns="0" bIns="0" rtlCol="0" anchor="ctr"/>
          <a:lstStyle/>
          <a:p>
            <a:r>
              <a:rPr lang="en-US" sz="2000" b="1" dirty="0">
                <a:solidFill>
                  <a:srgbClr val="F0C040"/>
                </a:solidFill>
                <a:ea typeface="Georgia" pitchFamily="34" charset="-122"/>
                <a:cs typeface="Georgia" pitchFamily="34" charset="-120"/>
              </a:rPr>
              <a:t>Main Terminal - Shared Capacity</a:t>
            </a:r>
            <a:endParaRPr lang="en-US" sz="2000" dirty="0"/>
          </a:p>
        </p:txBody>
      </p:sp>
      <p:sp>
        <p:nvSpPr>
          <p:cNvPr id="9" name="Text 6"/>
          <p:cNvSpPr/>
          <p:nvPr/>
        </p:nvSpPr>
        <p:spPr>
          <a:xfrm>
            <a:off x="746760" y="2499360"/>
            <a:ext cx="5852160" cy="243840"/>
          </a:xfrm>
          <a:prstGeom prst="rect">
            <a:avLst/>
          </a:prstGeom>
          <a:noFill/>
          <a:ln/>
        </p:spPr>
        <p:txBody>
          <a:bodyPr wrap="square" lIns="0" tIns="0" rIns="0" bIns="0" rtlCol="0" anchor="ctr"/>
          <a:lstStyle/>
          <a:p>
            <a:r>
              <a:rPr lang="en-US" i="1" dirty="0">
                <a:solidFill>
                  <a:srgbClr val="E8E8E8"/>
                </a:solidFill>
                <a:ea typeface="Calibri" pitchFamily="34" charset="-122"/>
                <a:cs typeface="Calibri" pitchFamily="34" charset="-120"/>
              </a:rPr>
              <a:t>Power BI &amp; Dataflow Gen1 Only</a:t>
            </a:r>
            <a:endParaRPr lang="en-US" dirty="0"/>
          </a:p>
        </p:txBody>
      </p:sp>
      <p:sp>
        <p:nvSpPr>
          <p:cNvPr id="10" name="Shape 7"/>
          <p:cNvSpPr/>
          <p:nvPr/>
        </p:nvSpPr>
        <p:spPr>
          <a:xfrm>
            <a:off x="807720" y="2849376"/>
            <a:ext cx="5852160" cy="1036320"/>
          </a:xfrm>
          <a:prstGeom prst="rect">
            <a:avLst/>
          </a:prstGeom>
          <a:solidFill>
            <a:srgbClr val="3A5A3A"/>
          </a:solidFill>
          <a:ln w="19050">
            <a:solidFill>
              <a:srgbClr val="7AB87A"/>
            </a:solidFill>
            <a:prstDash val="solid"/>
          </a:ln>
        </p:spPr>
        <p:txBody>
          <a:bodyPr/>
          <a:lstStyle/>
          <a:p>
            <a:endParaRPr lang="en-US" sz="2800"/>
          </a:p>
        </p:txBody>
      </p:sp>
      <p:pic>
        <p:nvPicPr>
          <p:cNvPr id="11" name="Image 1" descr="preencoded.png"/>
          <p:cNvPicPr>
            <a:picLocks noChangeAspect="1"/>
          </p:cNvPicPr>
          <p:nvPr/>
        </p:nvPicPr>
        <p:blipFill>
          <a:blip r:embed="rId4"/>
          <a:stretch>
            <a:fillRect/>
          </a:stretch>
        </p:blipFill>
        <p:spPr>
          <a:xfrm>
            <a:off x="6050280" y="3032256"/>
            <a:ext cx="487680" cy="487680"/>
          </a:xfrm>
          <a:prstGeom prst="rect">
            <a:avLst/>
          </a:prstGeom>
        </p:spPr>
      </p:pic>
      <p:sp>
        <p:nvSpPr>
          <p:cNvPr id="12" name="Text 8"/>
          <p:cNvSpPr/>
          <p:nvPr/>
        </p:nvSpPr>
        <p:spPr>
          <a:xfrm>
            <a:off x="990600" y="2971296"/>
            <a:ext cx="4876800" cy="341376"/>
          </a:xfrm>
          <a:prstGeom prst="rect">
            <a:avLst/>
          </a:prstGeom>
          <a:noFill/>
          <a:ln/>
        </p:spPr>
        <p:txBody>
          <a:bodyPr wrap="square" lIns="0" tIns="0" rIns="0" bIns="0" rtlCol="0" anchor="ctr"/>
          <a:lstStyle/>
          <a:p>
            <a:r>
              <a:rPr lang="en-US" b="1" dirty="0">
                <a:solidFill>
                  <a:srgbClr val="FFFFFF"/>
                </a:solidFill>
                <a:ea typeface="Georgia" pitchFamily="34" charset="-122"/>
                <a:cs typeface="Georgia" pitchFamily="34" charset="-120"/>
              </a:rPr>
              <a:t>Carry-On Bag - Personal Workspace</a:t>
            </a:r>
            <a:endParaRPr lang="en-US" dirty="0"/>
          </a:p>
        </p:txBody>
      </p:sp>
      <p:sp>
        <p:nvSpPr>
          <p:cNvPr id="13" name="Text 9"/>
          <p:cNvSpPr/>
          <p:nvPr/>
        </p:nvSpPr>
        <p:spPr>
          <a:xfrm>
            <a:off x="990600" y="3337056"/>
            <a:ext cx="4876800" cy="304800"/>
          </a:xfrm>
          <a:prstGeom prst="rect">
            <a:avLst/>
          </a:prstGeom>
          <a:noFill/>
          <a:ln/>
        </p:spPr>
        <p:txBody>
          <a:bodyPr wrap="square" lIns="0" tIns="0" rIns="0" bIns="0" rtlCol="0" anchor="ctr"/>
          <a:lstStyle/>
          <a:p>
            <a:r>
              <a:rPr lang="en-US" sz="1600" i="1" dirty="0">
                <a:solidFill>
                  <a:srgbClr val="E8E8E8"/>
                </a:solidFill>
                <a:ea typeface="Calibri" pitchFamily="34" charset="-122"/>
                <a:cs typeface="Calibri" pitchFamily="34" charset="-120"/>
              </a:rPr>
              <a:t>Your bag, your stuff. Only you use it.</a:t>
            </a:r>
            <a:endParaRPr lang="en-US" sz="1600" dirty="0"/>
          </a:p>
        </p:txBody>
      </p:sp>
      <p:sp>
        <p:nvSpPr>
          <p:cNvPr id="14" name="Shape 10"/>
          <p:cNvSpPr/>
          <p:nvPr/>
        </p:nvSpPr>
        <p:spPr>
          <a:xfrm>
            <a:off x="807720" y="4068576"/>
            <a:ext cx="5852160" cy="1036320"/>
          </a:xfrm>
          <a:prstGeom prst="rect">
            <a:avLst/>
          </a:prstGeom>
          <a:solidFill>
            <a:srgbClr val="3A5A3A"/>
          </a:solidFill>
          <a:ln w="19050">
            <a:solidFill>
              <a:srgbClr val="7AB87A"/>
            </a:solidFill>
            <a:prstDash val="solid"/>
          </a:ln>
        </p:spPr>
        <p:txBody>
          <a:bodyPr/>
          <a:lstStyle/>
          <a:p>
            <a:endParaRPr lang="en-US" sz="2800"/>
          </a:p>
        </p:txBody>
      </p:sp>
      <p:pic>
        <p:nvPicPr>
          <p:cNvPr id="15" name="Image 2" descr="preencoded.png"/>
          <p:cNvPicPr>
            <a:picLocks noChangeAspect="1"/>
          </p:cNvPicPr>
          <p:nvPr/>
        </p:nvPicPr>
        <p:blipFill>
          <a:blip r:embed="rId5"/>
          <a:stretch>
            <a:fillRect/>
          </a:stretch>
        </p:blipFill>
        <p:spPr>
          <a:xfrm>
            <a:off x="6050280" y="4251456"/>
            <a:ext cx="487680" cy="487680"/>
          </a:xfrm>
          <a:prstGeom prst="rect">
            <a:avLst/>
          </a:prstGeom>
        </p:spPr>
      </p:pic>
      <p:sp>
        <p:nvSpPr>
          <p:cNvPr id="16" name="Text 11"/>
          <p:cNvSpPr/>
          <p:nvPr/>
        </p:nvSpPr>
        <p:spPr>
          <a:xfrm>
            <a:off x="990600" y="4190496"/>
            <a:ext cx="4876800" cy="341376"/>
          </a:xfrm>
          <a:prstGeom prst="rect">
            <a:avLst/>
          </a:prstGeom>
          <a:noFill/>
          <a:ln/>
        </p:spPr>
        <p:txBody>
          <a:bodyPr wrap="square" lIns="0" tIns="0" rIns="0" bIns="0" rtlCol="0" anchor="ctr"/>
          <a:lstStyle/>
          <a:p>
            <a:r>
              <a:rPr lang="en-US" b="1" dirty="0">
                <a:solidFill>
                  <a:srgbClr val="FFFFFF"/>
                </a:solidFill>
                <a:ea typeface="Georgia" pitchFamily="34" charset="-122"/>
                <a:cs typeface="Georgia" pitchFamily="34" charset="-120"/>
              </a:rPr>
              <a:t>Airline Lounge - Pro Workspace</a:t>
            </a:r>
            <a:endParaRPr lang="en-US" dirty="0"/>
          </a:p>
        </p:txBody>
      </p:sp>
      <p:sp>
        <p:nvSpPr>
          <p:cNvPr id="17" name="Text 12"/>
          <p:cNvSpPr/>
          <p:nvPr/>
        </p:nvSpPr>
        <p:spPr>
          <a:xfrm>
            <a:off x="990600" y="4556256"/>
            <a:ext cx="4876800" cy="304800"/>
          </a:xfrm>
          <a:prstGeom prst="rect">
            <a:avLst/>
          </a:prstGeom>
          <a:noFill/>
          <a:ln/>
        </p:spPr>
        <p:txBody>
          <a:bodyPr wrap="square" lIns="0" tIns="0" rIns="0" bIns="0" rtlCol="0" anchor="ctr"/>
          <a:lstStyle/>
          <a:p>
            <a:r>
              <a:rPr lang="en-US" sz="1600" i="1" dirty="0">
                <a:solidFill>
                  <a:srgbClr val="E8E8E8"/>
                </a:solidFill>
                <a:ea typeface="Calibri" pitchFamily="34" charset="-122"/>
                <a:cs typeface="Calibri" pitchFamily="34" charset="-120"/>
              </a:rPr>
              <a:t>Everyone inside needs their own membership.</a:t>
            </a:r>
            <a:endParaRPr lang="en-US" sz="1600" dirty="0"/>
          </a:p>
        </p:txBody>
      </p:sp>
      <p:sp>
        <p:nvSpPr>
          <p:cNvPr id="18" name="Shape 13"/>
          <p:cNvSpPr/>
          <p:nvPr/>
        </p:nvSpPr>
        <p:spPr>
          <a:xfrm>
            <a:off x="807720" y="5287776"/>
            <a:ext cx="5852160" cy="1036320"/>
          </a:xfrm>
          <a:prstGeom prst="rect">
            <a:avLst/>
          </a:prstGeom>
          <a:solidFill>
            <a:srgbClr val="3A5A3A"/>
          </a:solidFill>
          <a:ln w="19050">
            <a:solidFill>
              <a:srgbClr val="7AB87A"/>
            </a:solidFill>
            <a:prstDash val="solid"/>
          </a:ln>
        </p:spPr>
        <p:txBody>
          <a:bodyPr/>
          <a:lstStyle/>
          <a:p>
            <a:endParaRPr lang="en-US" sz="2800"/>
          </a:p>
        </p:txBody>
      </p:sp>
      <p:pic>
        <p:nvPicPr>
          <p:cNvPr id="19" name="Image 3" descr="preencoded.png"/>
          <p:cNvPicPr>
            <a:picLocks noChangeAspect="1"/>
          </p:cNvPicPr>
          <p:nvPr/>
        </p:nvPicPr>
        <p:blipFill>
          <a:blip r:embed="rId6"/>
          <a:stretch>
            <a:fillRect/>
          </a:stretch>
        </p:blipFill>
        <p:spPr>
          <a:xfrm>
            <a:off x="5562600" y="5470656"/>
            <a:ext cx="487680" cy="487680"/>
          </a:xfrm>
          <a:prstGeom prst="rect">
            <a:avLst/>
          </a:prstGeom>
        </p:spPr>
      </p:pic>
      <p:pic>
        <p:nvPicPr>
          <p:cNvPr id="20" name="Image 4" descr="preencoded.png"/>
          <p:cNvPicPr>
            <a:picLocks noChangeAspect="1"/>
          </p:cNvPicPr>
          <p:nvPr/>
        </p:nvPicPr>
        <p:blipFill>
          <a:blip r:embed="rId7"/>
          <a:stretch>
            <a:fillRect/>
          </a:stretch>
        </p:blipFill>
        <p:spPr>
          <a:xfrm>
            <a:off x="6111240" y="5470656"/>
            <a:ext cx="487680" cy="487680"/>
          </a:xfrm>
          <a:prstGeom prst="rect">
            <a:avLst/>
          </a:prstGeom>
        </p:spPr>
      </p:pic>
      <p:sp>
        <p:nvSpPr>
          <p:cNvPr id="21" name="Text 14"/>
          <p:cNvSpPr/>
          <p:nvPr/>
        </p:nvSpPr>
        <p:spPr>
          <a:xfrm>
            <a:off x="990600" y="5409696"/>
            <a:ext cx="4876800" cy="341376"/>
          </a:xfrm>
          <a:prstGeom prst="rect">
            <a:avLst/>
          </a:prstGeom>
          <a:noFill/>
          <a:ln/>
        </p:spPr>
        <p:txBody>
          <a:bodyPr wrap="square" lIns="0" tIns="0" rIns="0" bIns="0" rtlCol="0" anchor="ctr"/>
          <a:lstStyle/>
          <a:p>
            <a:r>
              <a:rPr lang="en-US" b="1" dirty="0">
                <a:solidFill>
                  <a:srgbClr val="FFFFFF"/>
                </a:solidFill>
                <a:ea typeface="Georgia" pitchFamily="34" charset="-122"/>
                <a:cs typeface="Georgia" pitchFamily="34" charset="-120"/>
              </a:rPr>
              <a:t>Day Pass - PPU Workspace</a:t>
            </a:r>
            <a:endParaRPr lang="en-US" dirty="0"/>
          </a:p>
        </p:txBody>
      </p:sp>
      <p:sp>
        <p:nvSpPr>
          <p:cNvPr id="22" name="Text 15"/>
          <p:cNvSpPr/>
          <p:nvPr/>
        </p:nvSpPr>
        <p:spPr>
          <a:xfrm>
            <a:off x="990600" y="5775456"/>
            <a:ext cx="4876800" cy="304800"/>
          </a:xfrm>
          <a:prstGeom prst="rect">
            <a:avLst/>
          </a:prstGeom>
          <a:noFill/>
          <a:ln/>
        </p:spPr>
        <p:txBody>
          <a:bodyPr wrap="square" lIns="0" tIns="0" rIns="0" bIns="0" rtlCol="0" anchor="ctr"/>
          <a:lstStyle/>
          <a:p>
            <a:r>
              <a:rPr lang="en-US" sz="1600" i="1" dirty="0">
                <a:solidFill>
                  <a:srgbClr val="E8E8E8"/>
                </a:solidFill>
                <a:ea typeface="Calibri" pitchFamily="34" charset="-122"/>
                <a:cs typeface="Calibri" pitchFamily="34" charset="-120"/>
              </a:rPr>
              <a:t>Temporary access. Every person needs a pass.</a:t>
            </a:r>
            <a:endParaRPr lang="en-US" sz="1600" dirty="0"/>
          </a:p>
        </p:txBody>
      </p:sp>
      <p:sp>
        <p:nvSpPr>
          <p:cNvPr id="23" name="Shape 16"/>
          <p:cNvSpPr/>
          <p:nvPr/>
        </p:nvSpPr>
        <p:spPr>
          <a:xfrm>
            <a:off x="7208520" y="2072640"/>
            <a:ext cx="4678678" cy="4328160"/>
          </a:xfrm>
          <a:prstGeom prst="rect">
            <a:avLst/>
          </a:prstGeom>
          <a:solidFill>
            <a:srgbClr val="1A4A3A"/>
          </a:solidFill>
          <a:ln w="25400">
            <a:solidFill>
              <a:srgbClr val="4A9A7A"/>
            </a:solidFill>
            <a:prstDash val="solid"/>
          </a:ln>
        </p:spPr>
        <p:txBody>
          <a:bodyPr/>
          <a:lstStyle/>
          <a:p>
            <a:endParaRPr lang="en-US" sz="2800"/>
          </a:p>
        </p:txBody>
      </p:sp>
      <p:sp>
        <p:nvSpPr>
          <p:cNvPr id="24" name="Text 17"/>
          <p:cNvSpPr/>
          <p:nvPr/>
        </p:nvSpPr>
        <p:spPr>
          <a:xfrm>
            <a:off x="7277100" y="2084832"/>
            <a:ext cx="4610099" cy="438912"/>
          </a:xfrm>
          <a:prstGeom prst="rect">
            <a:avLst/>
          </a:prstGeom>
          <a:noFill/>
          <a:ln/>
        </p:spPr>
        <p:txBody>
          <a:bodyPr wrap="square" lIns="0" tIns="0" rIns="0" bIns="0" rtlCol="0" anchor="ctr"/>
          <a:lstStyle/>
          <a:p>
            <a:r>
              <a:rPr lang="en-US" sz="2000" b="1" dirty="0">
                <a:solidFill>
                  <a:srgbClr val="F0C040"/>
                </a:solidFill>
                <a:ea typeface="Georgia" pitchFamily="34" charset="-122"/>
                <a:cs typeface="Georgia" pitchFamily="34" charset="-120"/>
              </a:rPr>
              <a:t>Private Terminal - Dedicated Capacity</a:t>
            </a:r>
            <a:endParaRPr lang="en-US" sz="2000" dirty="0"/>
          </a:p>
        </p:txBody>
      </p:sp>
      <p:sp>
        <p:nvSpPr>
          <p:cNvPr id="25" name="Text 18"/>
          <p:cNvSpPr/>
          <p:nvPr/>
        </p:nvSpPr>
        <p:spPr>
          <a:xfrm>
            <a:off x="7391400" y="2499360"/>
            <a:ext cx="3901440" cy="243840"/>
          </a:xfrm>
          <a:prstGeom prst="rect">
            <a:avLst/>
          </a:prstGeom>
          <a:noFill/>
          <a:ln/>
        </p:spPr>
        <p:txBody>
          <a:bodyPr wrap="square" lIns="0" tIns="0" rIns="0" bIns="0" rtlCol="0" anchor="ctr"/>
          <a:lstStyle/>
          <a:p>
            <a:r>
              <a:rPr lang="en-US" i="1" dirty="0">
                <a:solidFill>
                  <a:srgbClr val="E8E8E8"/>
                </a:solidFill>
                <a:ea typeface="Calibri" pitchFamily="34" charset="-122"/>
                <a:cs typeface="Calibri" pitchFamily="34" charset="-120"/>
              </a:rPr>
              <a:t>Fabric Artifacts</a:t>
            </a:r>
            <a:endParaRPr lang="en-US" dirty="0"/>
          </a:p>
        </p:txBody>
      </p:sp>
      <p:sp>
        <p:nvSpPr>
          <p:cNvPr id="26" name="Shape 19"/>
          <p:cNvSpPr/>
          <p:nvPr/>
        </p:nvSpPr>
        <p:spPr>
          <a:xfrm>
            <a:off x="7452360" y="2849376"/>
            <a:ext cx="3779520" cy="3474720"/>
          </a:xfrm>
          <a:prstGeom prst="rect">
            <a:avLst/>
          </a:prstGeom>
          <a:solidFill>
            <a:srgbClr val="4A3020"/>
          </a:solidFill>
          <a:ln w="19050">
            <a:solidFill>
              <a:srgbClr val="C08050"/>
            </a:solidFill>
            <a:prstDash val="solid"/>
          </a:ln>
        </p:spPr>
        <p:txBody>
          <a:bodyPr/>
          <a:lstStyle/>
          <a:p>
            <a:endParaRPr lang="en-US" sz="2800"/>
          </a:p>
        </p:txBody>
      </p:sp>
      <p:sp>
        <p:nvSpPr>
          <p:cNvPr id="27" name="Text 20"/>
          <p:cNvSpPr/>
          <p:nvPr/>
        </p:nvSpPr>
        <p:spPr>
          <a:xfrm>
            <a:off x="7635240" y="2946912"/>
            <a:ext cx="3413760" cy="365760"/>
          </a:xfrm>
          <a:prstGeom prst="rect">
            <a:avLst/>
          </a:prstGeom>
          <a:noFill/>
          <a:ln/>
        </p:spPr>
        <p:txBody>
          <a:bodyPr wrap="square" lIns="0" tIns="0" rIns="0" bIns="0" rtlCol="0" anchor="ctr"/>
          <a:lstStyle/>
          <a:p>
            <a:r>
              <a:rPr lang="en-US" b="1" dirty="0">
                <a:solidFill>
                  <a:srgbClr val="FFFFFF"/>
                </a:solidFill>
                <a:ea typeface="Georgia" pitchFamily="34" charset="-122"/>
                <a:cs typeface="Georgia" pitchFamily="34" charset="-120"/>
              </a:rPr>
              <a:t>Fabric Workspace</a:t>
            </a:r>
            <a:endParaRPr lang="en-US" dirty="0"/>
          </a:p>
        </p:txBody>
      </p:sp>
      <p:sp>
        <p:nvSpPr>
          <p:cNvPr id="28" name="Shape 21"/>
          <p:cNvSpPr/>
          <p:nvPr/>
        </p:nvSpPr>
        <p:spPr>
          <a:xfrm>
            <a:off x="7696200" y="345897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29" name="Image 5" descr="preencoded.png"/>
          <p:cNvPicPr>
            <a:picLocks noChangeAspect="1"/>
          </p:cNvPicPr>
          <p:nvPr/>
        </p:nvPicPr>
        <p:blipFill>
          <a:blip r:embed="rId8"/>
          <a:stretch>
            <a:fillRect/>
          </a:stretch>
        </p:blipFill>
        <p:spPr>
          <a:xfrm>
            <a:off x="7744968" y="3507744"/>
            <a:ext cx="512064" cy="512064"/>
          </a:xfrm>
          <a:prstGeom prst="rect">
            <a:avLst/>
          </a:prstGeom>
        </p:spPr>
      </p:pic>
      <p:sp>
        <p:nvSpPr>
          <p:cNvPr id="30" name="Text 22"/>
          <p:cNvSpPr/>
          <p:nvPr/>
        </p:nvSpPr>
        <p:spPr>
          <a:xfrm>
            <a:off x="7635239" y="4141728"/>
            <a:ext cx="872193" cy="219456"/>
          </a:xfrm>
          <a:prstGeom prst="rect">
            <a:avLst/>
          </a:prstGeom>
          <a:noFill/>
          <a:ln/>
        </p:spPr>
        <p:txBody>
          <a:bodyPr wrap="square" lIns="0" tIns="0" rIns="0" bIns="0" rtlCol="0" anchor="ctr"/>
          <a:lstStyle/>
          <a:p>
            <a:pPr algn="ctr"/>
            <a:r>
              <a:rPr lang="en-US" sz="1400" dirty="0">
                <a:solidFill>
                  <a:srgbClr val="E8E8E8"/>
                </a:solidFill>
                <a:ea typeface="Calibri" pitchFamily="34" charset="-122"/>
                <a:cs typeface="Calibri" pitchFamily="34" charset="-120"/>
              </a:rPr>
              <a:t>Lakehouse</a:t>
            </a:r>
            <a:endParaRPr lang="en-US" sz="1400" dirty="0"/>
          </a:p>
        </p:txBody>
      </p:sp>
      <p:sp>
        <p:nvSpPr>
          <p:cNvPr id="31" name="Shape 23"/>
          <p:cNvSpPr/>
          <p:nvPr/>
        </p:nvSpPr>
        <p:spPr>
          <a:xfrm>
            <a:off x="8639404" y="345897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32" name="Image 6" descr="preencoded.png"/>
          <p:cNvPicPr>
            <a:picLocks noChangeAspect="1"/>
          </p:cNvPicPr>
          <p:nvPr/>
        </p:nvPicPr>
        <p:blipFill>
          <a:blip r:embed="rId9"/>
          <a:stretch>
            <a:fillRect/>
          </a:stretch>
        </p:blipFill>
        <p:spPr>
          <a:xfrm>
            <a:off x="8688172" y="3507744"/>
            <a:ext cx="512064" cy="512064"/>
          </a:xfrm>
          <a:prstGeom prst="rect">
            <a:avLst/>
          </a:prstGeom>
        </p:spPr>
      </p:pic>
      <p:sp>
        <p:nvSpPr>
          <p:cNvPr id="33" name="Text 24"/>
          <p:cNvSpPr/>
          <p:nvPr/>
        </p:nvSpPr>
        <p:spPr>
          <a:xfrm>
            <a:off x="8578444" y="4092960"/>
            <a:ext cx="731520" cy="268224"/>
          </a:xfrm>
          <a:prstGeom prst="rect">
            <a:avLst/>
          </a:prstGeom>
          <a:noFill/>
          <a:ln/>
        </p:spPr>
        <p:txBody>
          <a:bodyPr wrap="square" lIns="0" tIns="0" rIns="0" bIns="0" rtlCol="0" anchor="ctr"/>
          <a:lstStyle/>
          <a:p>
            <a:pPr algn="ctr"/>
            <a:r>
              <a:rPr lang="en-US" sz="1400" dirty="0">
                <a:solidFill>
                  <a:srgbClr val="E8E8E8"/>
                </a:solidFill>
                <a:ea typeface="Calibri" pitchFamily="34" charset="-122"/>
                <a:cs typeface="Calibri" pitchFamily="34" charset="-120"/>
              </a:rPr>
              <a:t>SQL</a:t>
            </a:r>
            <a:endParaRPr lang="en-US" sz="1400" dirty="0"/>
          </a:p>
        </p:txBody>
      </p:sp>
      <p:sp>
        <p:nvSpPr>
          <p:cNvPr id="34" name="Shape 25"/>
          <p:cNvSpPr/>
          <p:nvPr/>
        </p:nvSpPr>
        <p:spPr>
          <a:xfrm>
            <a:off x="9567530" y="345897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35" name="Image 7" descr="preencoded.png"/>
          <p:cNvPicPr>
            <a:picLocks noChangeAspect="1"/>
          </p:cNvPicPr>
          <p:nvPr/>
        </p:nvPicPr>
        <p:blipFill>
          <a:blip r:embed="rId10"/>
          <a:stretch>
            <a:fillRect/>
          </a:stretch>
        </p:blipFill>
        <p:spPr>
          <a:xfrm>
            <a:off x="9616298" y="3507744"/>
            <a:ext cx="512064" cy="512064"/>
          </a:xfrm>
          <a:prstGeom prst="rect">
            <a:avLst/>
          </a:prstGeom>
        </p:spPr>
      </p:pic>
      <p:sp>
        <p:nvSpPr>
          <p:cNvPr id="36" name="Text 26"/>
          <p:cNvSpPr/>
          <p:nvPr/>
        </p:nvSpPr>
        <p:spPr>
          <a:xfrm>
            <a:off x="9506570" y="4092960"/>
            <a:ext cx="731520" cy="268224"/>
          </a:xfrm>
          <a:prstGeom prst="rect">
            <a:avLst/>
          </a:prstGeom>
          <a:noFill/>
          <a:ln/>
        </p:spPr>
        <p:txBody>
          <a:bodyPr wrap="square" lIns="0" tIns="0" rIns="0" bIns="0" rtlCol="0" anchor="ctr"/>
          <a:lstStyle/>
          <a:p>
            <a:pPr algn="ctr"/>
            <a:r>
              <a:rPr lang="en-US" sz="1400" dirty="0">
                <a:solidFill>
                  <a:srgbClr val="E8E8E8"/>
                </a:solidFill>
                <a:ea typeface="Calibri" pitchFamily="34" charset="-122"/>
                <a:cs typeface="Calibri" pitchFamily="34" charset="-120"/>
              </a:rPr>
              <a:t>Pipeline</a:t>
            </a:r>
            <a:endParaRPr lang="en-US" sz="1400" dirty="0"/>
          </a:p>
        </p:txBody>
      </p:sp>
      <p:sp>
        <p:nvSpPr>
          <p:cNvPr id="37" name="Shape 27"/>
          <p:cNvSpPr/>
          <p:nvPr/>
        </p:nvSpPr>
        <p:spPr>
          <a:xfrm>
            <a:off x="10475571" y="345897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38" name="Image 8" descr="preencoded.png"/>
          <p:cNvPicPr>
            <a:picLocks noChangeAspect="1"/>
          </p:cNvPicPr>
          <p:nvPr/>
        </p:nvPicPr>
        <p:blipFill>
          <a:blip r:embed="rId11"/>
          <a:stretch>
            <a:fillRect/>
          </a:stretch>
        </p:blipFill>
        <p:spPr>
          <a:xfrm>
            <a:off x="10524339" y="3507744"/>
            <a:ext cx="512064" cy="512064"/>
          </a:xfrm>
          <a:prstGeom prst="rect">
            <a:avLst/>
          </a:prstGeom>
        </p:spPr>
      </p:pic>
      <p:sp>
        <p:nvSpPr>
          <p:cNvPr id="39" name="Text 28"/>
          <p:cNvSpPr/>
          <p:nvPr/>
        </p:nvSpPr>
        <p:spPr>
          <a:xfrm>
            <a:off x="10414611" y="4092960"/>
            <a:ext cx="731520" cy="268224"/>
          </a:xfrm>
          <a:prstGeom prst="rect">
            <a:avLst/>
          </a:prstGeom>
          <a:noFill/>
          <a:ln/>
        </p:spPr>
        <p:txBody>
          <a:bodyPr wrap="square" lIns="0" tIns="0" rIns="0" bIns="0" rtlCol="0" anchor="ctr"/>
          <a:lstStyle/>
          <a:p>
            <a:pPr algn="ctr"/>
            <a:r>
              <a:rPr lang="en-US" sz="1400" dirty="0">
                <a:solidFill>
                  <a:srgbClr val="E8E8E8"/>
                </a:solidFill>
                <a:ea typeface="Calibri" pitchFamily="34" charset="-122"/>
                <a:cs typeface="Calibri" pitchFamily="34" charset="-120"/>
              </a:rPr>
              <a:t>Report</a:t>
            </a:r>
            <a:endParaRPr lang="en-US" sz="1400" dirty="0"/>
          </a:p>
        </p:txBody>
      </p:sp>
      <p:sp>
        <p:nvSpPr>
          <p:cNvPr id="40" name="Shape 29"/>
          <p:cNvSpPr/>
          <p:nvPr/>
        </p:nvSpPr>
        <p:spPr>
          <a:xfrm>
            <a:off x="7696200" y="473913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41" name="Image 9" descr="preencoded.png"/>
          <p:cNvPicPr>
            <a:picLocks noChangeAspect="1"/>
          </p:cNvPicPr>
          <p:nvPr/>
        </p:nvPicPr>
        <p:blipFill>
          <a:blip r:embed="rId12"/>
          <a:stretch>
            <a:fillRect/>
          </a:stretch>
        </p:blipFill>
        <p:spPr>
          <a:xfrm>
            <a:off x="7744968" y="4787904"/>
            <a:ext cx="512064" cy="512064"/>
          </a:xfrm>
          <a:prstGeom prst="rect">
            <a:avLst/>
          </a:prstGeom>
        </p:spPr>
      </p:pic>
      <p:sp>
        <p:nvSpPr>
          <p:cNvPr id="42" name="Text 30"/>
          <p:cNvSpPr/>
          <p:nvPr/>
        </p:nvSpPr>
        <p:spPr>
          <a:xfrm>
            <a:off x="7635240" y="5373120"/>
            <a:ext cx="943204" cy="353568"/>
          </a:xfrm>
          <a:prstGeom prst="rect">
            <a:avLst/>
          </a:prstGeom>
          <a:noFill/>
          <a:ln/>
        </p:spPr>
        <p:txBody>
          <a:bodyPr wrap="square" lIns="0" tIns="0" rIns="0" bIns="0" rtlCol="0" anchor="t"/>
          <a:lstStyle/>
          <a:p>
            <a:pPr algn="ctr"/>
            <a:r>
              <a:rPr lang="en-US" sz="1400" dirty="0">
                <a:solidFill>
                  <a:srgbClr val="E8E8E8"/>
                </a:solidFill>
                <a:ea typeface="Calibri" pitchFamily="34" charset="-122"/>
                <a:cs typeface="Calibri" pitchFamily="34" charset="-120"/>
              </a:rPr>
              <a:t>Warehouse</a:t>
            </a:r>
            <a:endParaRPr lang="en-US" sz="1400" dirty="0"/>
          </a:p>
        </p:txBody>
      </p:sp>
      <p:sp>
        <p:nvSpPr>
          <p:cNvPr id="43" name="Shape 31"/>
          <p:cNvSpPr/>
          <p:nvPr/>
        </p:nvSpPr>
        <p:spPr>
          <a:xfrm>
            <a:off x="8639404" y="473913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44" name="Image 10" descr="preencoded.png"/>
          <p:cNvPicPr>
            <a:picLocks noChangeAspect="1"/>
          </p:cNvPicPr>
          <p:nvPr/>
        </p:nvPicPr>
        <p:blipFill>
          <a:blip r:embed="rId13"/>
          <a:stretch>
            <a:fillRect/>
          </a:stretch>
        </p:blipFill>
        <p:spPr>
          <a:xfrm>
            <a:off x="8688172" y="4787904"/>
            <a:ext cx="512064" cy="512064"/>
          </a:xfrm>
          <a:prstGeom prst="rect">
            <a:avLst/>
          </a:prstGeom>
        </p:spPr>
      </p:pic>
      <p:sp>
        <p:nvSpPr>
          <p:cNvPr id="45" name="Text 32"/>
          <p:cNvSpPr/>
          <p:nvPr/>
        </p:nvSpPr>
        <p:spPr>
          <a:xfrm>
            <a:off x="8578444" y="5373120"/>
            <a:ext cx="731520" cy="268224"/>
          </a:xfrm>
          <a:prstGeom prst="rect">
            <a:avLst/>
          </a:prstGeom>
          <a:noFill/>
          <a:ln/>
        </p:spPr>
        <p:txBody>
          <a:bodyPr wrap="square" lIns="0" tIns="0" rIns="0" bIns="0" rtlCol="0" anchor="t"/>
          <a:lstStyle/>
          <a:p>
            <a:pPr algn="ctr"/>
            <a:r>
              <a:rPr lang="en-US" sz="1400" dirty="0">
                <a:solidFill>
                  <a:srgbClr val="E8E8E8"/>
                </a:solidFill>
                <a:ea typeface="Calibri" pitchFamily="34" charset="-122"/>
                <a:cs typeface="Calibri" pitchFamily="34" charset="-120"/>
              </a:rPr>
              <a:t>Dataflow</a:t>
            </a:r>
            <a:endParaRPr lang="en-US" sz="1400" dirty="0"/>
          </a:p>
        </p:txBody>
      </p:sp>
      <p:sp>
        <p:nvSpPr>
          <p:cNvPr id="46" name="Shape 33"/>
          <p:cNvSpPr/>
          <p:nvPr/>
        </p:nvSpPr>
        <p:spPr>
          <a:xfrm>
            <a:off x="9567530" y="473913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47" name="Image 11" descr="preencoded.png"/>
          <p:cNvPicPr>
            <a:picLocks noChangeAspect="1"/>
          </p:cNvPicPr>
          <p:nvPr/>
        </p:nvPicPr>
        <p:blipFill>
          <a:blip r:embed="rId14"/>
          <a:stretch>
            <a:fillRect/>
          </a:stretch>
        </p:blipFill>
        <p:spPr>
          <a:xfrm>
            <a:off x="9616298" y="4787904"/>
            <a:ext cx="512064" cy="512064"/>
          </a:xfrm>
          <a:prstGeom prst="rect">
            <a:avLst/>
          </a:prstGeom>
        </p:spPr>
      </p:pic>
      <p:sp>
        <p:nvSpPr>
          <p:cNvPr id="48" name="Text 34"/>
          <p:cNvSpPr/>
          <p:nvPr/>
        </p:nvSpPr>
        <p:spPr>
          <a:xfrm>
            <a:off x="9506569" y="5373120"/>
            <a:ext cx="813079" cy="268224"/>
          </a:xfrm>
          <a:prstGeom prst="rect">
            <a:avLst/>
          </a:prstGeom>
          <a:noFill/>
          <a:ln/>
        </p:spPr>
        <p:txBody>
          <a:bodyPr wrap="square" lIns="0" tIns="0" rIns="0" bIns="0" rtlCol="0" anchor="t"/>
          <a:lstStyle/>
          <a:p>
            <a:pPr algn="ctr"/>
            <a:r>
              <a:rPr lang="en-US" sz="1400" dirty="0">
                <a:solidFill>
                  <a:srgbClr val="E8E8E8"/>
                </a:solidFill>
                <a:ea typeface="Calibri" pitchFamily="34" charset="-122"/>
                <a:cs typeface="Calibri" pitchFamily="34" charset="-120"/>
              </a:rPr>
              <a:t>Notebook</a:t>
            </a:r>
            <a:endParaRPr lang="en-US" sz="1400" dirty="0"/>
          </a:p>
        </p:txBody>
      </p:sp>
      <p:sp>
        <p:nvSpPr>
          <p:cNvPr id="49" name="Shape 35"/>
          <p:cNvSpPr/>
          <p:nvPr/>
        </p:nvSpPr>
        <p:spPr>
          <a:xfrm>
            <a:off x="10475571" y="4739136"/>
            <a:ext cx="609600" cy="609600"/>
          </a:xfrm>
          <a:prstGeom prst="rect">
            <a:avLst/>
          </a:prstGeom>
          <a:solidFill>
            <a:srgbClr val="5A4030"/>
          </a:solidFill>
          <a:ln w="12700">
            <a:solidFill>
              <a:srgbClr val="C08050"/>
            </a:solidFill>
            <a:prstDash val="solid"/>
          </a:ln>
        </p:spPr>
        <p:txBody>
          <a:bodyPr/>
          <a:lstStyle/>
          <a:p>
            <a:endParaRPr lang="en-US" sz="1400"/>
          </a:p>
        </p:txBody>
      </p:sp>
      <p:pic>
        <p:nvPicPr>
          <p:cNvPr id="50" name="Image 12" descr="preencoded.png"/>
          <p:cNvPicPr>
            <a:picLocks noChangeAspect="1"/>
          </p:cNvPicPr>
          <p:nvPr/>
        </p:nvPicPr>
        <p:blipFill>
          <a:blip r:embed="rId15"/>
          <a:stretch>
            <a:fillRect/>
          </a:stretch>
        </p:blipFill>
        <p:spPr>
          <a:xfrm>
            <a:off x="10524339" y="4787904"/>
            <a:ext cx="512064" cy="512064"/>
          </a:xfrm>
          <a:prstGeom prst="rect">
            <a:avLst/>
          </a:prstGeom>
        </p:spPr>
      </p:pic>
      <p:sp>
        <p:nvSpPr>
          <p:cNvPr id="51" name="Text 36"/>
          <p:cNvSpPr/>
          <p:nvPr/>
        </p:nvSpPr>
        <p:spPr>
          <a:xfrm>
            <a:off x="10414611" y="5373120"/>
            <a:ext cx="731520" cy="268224"/>
          </a:xfrm>
          <a:prstGeom prst="rect">
            <a:avLst/>
          </a:prstGeom>
          <a:noFill/>
          <a:ln/>
        </p:spPr>
        <p:txBody>
          <a:bodyPr wrap="square" lIns="0" tIns="0" rIns="0" bIns="0" rtlCol="0" anchor="t"/>
          <a:lstStyle/>
          <a:p>
            <a:pPr algn="ctr"/>
            <a:r>
              <a:rPr lang="en-US" sz="1400" dirty="0">
                <a:solidFill>
                  <a:srgbClr val="E8E8E8"/>
                </a:solidFill>
                <a:ea typeface="Calibri" pitchFamily="34" charset="-122"/>
                <a:cs typeface="Calibri" pitchFamily="34" charset="-120"/>
              </a:rPr>
              <a:t>Activator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65760"/>
            <a:ext cx="10972800" cy="731520"/>
          </a:xfrm>
          <a:prstGeom prst="rect">
            <a:avLst/>
          </a:prstGeom>
          <a:noFill/>
          <a:ln/>
        </p:spPr>
        <p:txBody>
          <a:bodyPr wrap="square" lIns="0" tIns="0" rIns="0" bIns="0" rtlCol="0" anchor="ctr"/>
          <a:lstStyle/>
          <a:p>
            <a:r>
              <a:rPr lang="en-US" sz="4000" dirty="0">
                <a:latin typeface="+mj-lt"/>
                <a:ea typeface="Georgia" pitchFamily="34" charset="-122"/>
                <a:cs typeface="Georgia" pitchFamily="34" charset="-120"/>
              </a:rPr>
              <a:t>Upgrade Level 1: Sharing + Publishing</a:t>
            </a:r>
            <a:endParaRPr lang="en-US" sz="4000" dirty="0">
              <a:latin typeface="+mj-lt"/>
            </a:endParaRPr>
          </a:p>
        </p:txBody>
      </p:sp>
      <p:sp>
        <p:nvSpPr>
          <p:cNvPr id="3" name="Shape 1"/>
          <p:cNvSpPr/>
          <p:nvPr/>
        </p:nvSpPr>
        <p:spPr>
          <a:xfrm>
            <a:off x="609600" y="1463039"/>
            <a:ext cx="5120640" cy="4922687"/>
          </a:xfrm>
          <a:prstGeom prst="rect">
            <a:avLst/>
          </a:prstGeom>
          <a:solidFill>
            <a:srgbClr val="1B2A4A"/>
          </a:solidFill>
          <a:ln w="25400">
            <a:solidFill>
              <a:srgbClr val="5B8DBE"/>
            </a:solidFill>
            <a:prstDash val="solid"/>
          </a:ln>
        </p:spPr>
        <p:txBody>
          <a:bodyPr/>
          <a:lstStyle/>
          <a:p>
            <a:endParaRPr lang="en-US" sz="2400"/>
          </a:p>
        </p:txBody>
      </p:sp>
      <p:sp>
        <p:nvSpPr>
          <p:cNvPr id="4" name="Shape 2"/>
          <p:cNvSpPr/>
          <p:nvPr/>
        </p:nvSpPr>
        <p:spPr>
          <a:xfrm>
            <a:off x="853440" y="1706880"/>
            <a:ext cx="4632960" cy="731520"/>
          </a:xfrm>
          <a:prstGeom prst="rect">
            <a:avLst/>
          </a:prstGeom>
          <a:solidFill>
            <a:srgbClr val="2D4A7A"/>
          </a:solidFill>
          <a:ln/>
        </p:spPr>
        <p:txBody>
          <a:bodyPr/>
          <a:lstStyle/>
          <a:p>
            <a:endParaRPr lang="en-US" sz="2400"/>
          </a:p>
        </p:txBody>
      </p:sp>
      <p:pic>
        <p:nvPicPr>
          <p:cNvPr id="5" name="Image 0" descr="preencoded.png"/>
          <p:cNvPicPr>
            <a:picLocks noChangeAspect="1"/>
          </p:cNvPicPr>
          <p:nvPr/>
        </p:nvPicPr>
        <p:blipFill>
          <a:blip r:embed="rId3"/>
          <a:stretch>
            <a:fillRect/>
          </a:stretch>
        </p:blipFill>
        <p:spPr>
          <a:xfrm>
            <a:off x="1036320" y="1767840"/>
            <a:ext cx="609600" cy="609600"/>
          </a:xfrm>
          <a:prstGeom prst="rect">
            <a:avLst/>
          </a:prstGeom>
        </p:spPr>
      </p:pic>
      <p:sp>
        <p:nvSpPr>
          <p:cNvPr id="6" name="Text 3"/>
          <p:cNvSpPr/>
          <p:nvPr/>
        </p:nvSpPr>
        <p:spPr>
          <a:xfrm>
            <a:off x="1767840" y="1767840"/>
            <a:ext cx="3535680" cy="609600"/>
          </a:xfrm>
          <a:prstGeom prst="rect">
            <a:avLst/>
          </a:prstGeom>
          <a:noFill/>
          <a:ln/>
        </p:spPr>
        <p:txBody>
          <a:bodyPr wrap="square" lIns="0" tIns="0" rIns="0" bIns="0" rtlCol="0" anchor="ctr"/>
          <a:lstStyle/>
          <a:p>
            <a:r>
              <a:rPr lang="en-US" sz="2400" b="1" dirty="0">
                <a:solidFill>
                  <a:srgbClr val="F0C040"/>
                </a:solidFill>
                <a:ea typeface="Georgia" pitchFamily="34" charset="-122"/>
                <a:cs typeface="Georgia" pitchFamily="34" charset="-120"/>
              </a:rPr>
              <a:t>LOUNGE MEMBERSHIP</a:t>
            </a:r>
            <a:endParaRPr lang="en-US" sz="2400" dirty="0"/>
          </a:p>
        </p:txBody>
      </p:sp>
      <p:sp>
        <p:nvSpPr>
          <p:cNvPr id="7" name="Text 4"/>
          <p:cNvSpPr/>
          <p:nvPr/>
        </p:nvSpPr>
        <p:spPr>
          <a:xfrm>
            <a:off x="1036320" y="2682240"/>
            <a:ext cx="4267200" cy="426720"/>
          </a:xfrm>
          <a:prstGeom prst="rect">
            <a:avLst/>
          </a:prstGeom>
          <a:noFill/>
          <a:ln/>
        </p:spPr>
        <p:txBody>
          <a:bodyPr wrap="square" lIns="0" tIns="0" rIns="0" bIns="0" rtlCol="0" anchor="ctr"/>
          <a:lstStyle/>
          <a:p>
            <a:r>
              <a:rPr lang="en-US" sz="2000" b="1" dirty="0">
                <a:solidFill>
                  <a:srgbClr val="FFFFFF"/>
                </a:solidFill>
                <a:ea typeface="Georgia" pitchFamily="34" charset="-122"/>
                <a:cs typeface="Georgia" pitchFamily="34" charset="-120"/>
              </a:rPr>
              <a:t>Power BI Pro License</a:t>
            </a:r>
            <a:endParaRPr lang="en-US" sz="2000" dirty="0"/>
          </a:p>
        </p:txBody>
      </p:sp>
      <p:pic>
        <p:nvPicPr>
          <p:cNvPr id="8" name="Image 1" descr="preencoded.png"/>
          <p:cNvPicPr>
            <a:picLocks noChangeAspect="1"/>
          </p:cNvPicPr>
          <p:nvPr/>
        </p:nvPicPr>
        <p:blipFill>
          <a:blip r:embed="rId4"/>
          <a:stretch>
            <a:fillRect/>
          </a:stretch>
        </p:blipFill>
        <p:spPr>
          <a:xfrm>
            <a:off x="4389120" y="3169920"/>
            <a:ext cx="1097280" cy="1097280"/>
          </a:xfrm>
          <a:prstGeom prst="rect">
            <a:avLst/>
          </a:prstGeom>
        </p:spPr>
      </p:pic>
      <p:sp>
        <p:nvSpPr>
          <p:cNvPr id="9" name="Text 5"/>
          <p:cNvSpPr/>
          <p:nvPr/>
        </p:nvSpPr>
        <p:spPr>
          <a:xfrm>
            <a:off x="1036320" y="3169919"/>
            <a:ext cx="3291840" cy="2808849"/>
          </a:xfrm>
          <a:prstGeom prst="rect">
            <a:avLst/>
          </a:prstGeom>
          <a:noFill/>
          <a:ln/>
        </p:spPr>
        <p:txBody>
          <a:bodyPr wrap="square" lIns="0" tIns="0" rIns="0" bIns="0" rtlCol="0" anchor="t"/>
          <a:lstStyle/>
          <a:p>
            <a:r>
              <a:rPr lang="en-US" i="1" dirty="0">
                <a:solidFill>
                  <a:schemeClr val="bg1"/>
                </a:solidFill>
                <a:ea typeface="Calibri" pitchFamily="34" charset="-122"/>
                <a:cs typeface="Calibri" pitchFamily="34" charset="-120"/>
              </a:rPr>
              <a:t>Your ticket out of the main terminal.</a:t>
            </a:r>
            <a:endParaRPr lang="en-US" dirty="0">
              <a:solidFill>
                <a:schemeClr val="bg1"/>
              </a:solidFill>
            </a:endParaRPr>
          </a:p>
          <a:p>
            <a:r>
              <a:rPr lang="en-US" dirty="0">
                <a:solidFill>
                  <a:schemeClr val="bg1"/>
                </a:solidFill>
                <a:ea typeface="Calibri" pitchFamily="34" charset="-122"/>
                <a:cs typeface="Calibri" pitchFamily="34" charset="-120"/>
              </a:rPr>
              <a:t> </a:t>
            </a:r>
            <a:endParaRPr lang="en-US" dirty="0">
              <a:solidFill>
                <a:schemeClr val="bg1"/>
              </a:solidFill>
            </a:endParaRPr>
          </a:p>
          <a:p>
            <a:r>
              <a:rPr lang="en-US" dirty="0">
                <a:solidFill>
                  <a:schemeClr val="bg1"/>
                </a:solidFill>
                <a:ea typeface="Calibri" pitchFamily="34" charset="-122"/>
                <a:cs typeface="Calibri" pitchFamily="34" charset="-120"/>
              </a:rPr>
              <a:t>Without this, you're stuck at your</a:t>
            </a:r>
            <a:endParaRPr lang="en-US" dirty="0">
              <a:solidFill>
                <a:schemeClr val="bg1"/>
              </a:solidFill>
            </a:endParaRPr>
          </a:p>
          <a:p>
            <a:r>
              <a:rPr lang="en-US" dirty="0">
                <a:solidFill>
                  <a:schemeClr val="bg1"/>
                </a:solidFill>
                <a:ea typeface="Calibri" pitchFamily="34" charset="-122"/>
                <a:cs typeface="Calibri" pitchFamily="34" charset="-120"/>
              </a:rPr>
              <a:t>own gate (Personal Workspace).</a:t>
            </a:r>
            <a:endParaRPr lang="en-US" dirty="0">
              <a:solidFill>
                <a:schemeClr val="bg1"/>
              </a:solidFill>
            </a:endParaRPr>
          </a:p>
          <a:p>
            <a:r>
              <a:rPr lang="en-US" dirty="0">
                <a:solidFill>
                  <a:schemeClr val="bg1"/>
                </a:solidFill>
                <a:ea typeface="Calibri" pitchFamily="34" charset="-122"/>
                <a:cs typeface="Calibri" pitchFamily="34" charset="-120"/>
              </a:rPr>
              <a:t> </a:t>
            </a:r>
            <a:endParaRPr lang="en-US" dirty="0">
              <a:solidFill>
                <a:schemeClr val="bg1"/>
              </a:solidFill>
            </a:endParaRPr>
          </a:p>
          <a:p>
            <a:r>
              <a:rPr lang="en-US" b="1" dirty="0">
                <a:solidFill>
                  <a:schemeClr val="bg1"/>
                </a:solidFill>
                <a:ea typeface="Calibri" pitchFamily="34" charset="-122"/>
                <a:cs typeface="Calibri" pitchFamily="34" charset="-120"/>
              </a:rPr>
              <a:t>Everyone in the lounge needs</a:t>
            </a:r>
            <a:endParaRPr lang="en-US" dirty="0">
              <a:solidFill>
                <a:schemeClr val="bg1"/>
              </a:solidFill>
            </a:endParaRPr>
          </a:p>
          <a:p>
            <a:r>
              <a:rPr lang="en-US" b="1" dirty="0">
                <a:solidFill>
                  <a:schemeClr val="bg1"/>
                </a:solidFill>
                <a:ea typeface="Calibri" pitchFamily="34" charset="-122"/>
                <a:cs typeface="Calibri" pitchFamily="34" charset="-120"/>
              </a:rPr>
              <a:t>their own membership card.</a:t>
            </a:r>
            <a:endParaRPr lang="en-US" dirty="0">
              <a:solidFill>
                <a:schemeClr val="bg1"/>
              </a:solidFill>
            </a:endParaRPr>
          </a:p>
        </p:txBody>
      </p:sp>
      <p:sp>
        <p:nvSpPr>
          <p:cNvPr id="10" name="Text 6"/>
          <p:cNvSpPr/>
          <p:nvPr/>
        </p:nvSpPr>
        <p:spPr>
          <a:xfrm>
            <a:off x="6339840" y="1463040"/>
            <a:ext cx="5486400" cy="548640"/>
          </a:xfrm>
          <a:prstGeom prst="rect">
            <a:avLst/>
          </a:prstGeom>
          <a:noFill/>
          <a:ln/>
        </p:spPr>
        <p:txBody>
          <a:bodyPr wrap="square" lIns="0" tIns="0" rIns="0" bIns="0" rtlCol="0" anchor="ctr"/>
          <a:lstStyle/>
          <a:p>
            <a:r>
              <a:rPr lang="en-US" sz="2933" dirty="0">
                <a:solidFill>
                  <a:srgbClr val="000000"/>
                </a:solidFill>
                <a:ea typeface="Georgia" pitchFamily="34" charset="-122"/>
                <a:cs typeface="Georgia" pitchFamily="34" charset="-120"/>
              </a:rPr>
              <a:t>Power BI Pro</a:t>
            </a:r>
            <a:endParaRPr lang="en-US" sz="2933" dirty="0"/>
          </a:p>
        </p:txBody>
      </p:sp>
      <p:sp>
        <p:nvSpPr>
          <p:cNvPr id="11" name="Text 7"/>
          <p:cNvSpPr/>
          <p:nvPr/>
        </p:nvSpPr>
        <p:spPr>
          <a:xfrm>
            <a:off x="6339840" y="2194560"/>
            <a:ext cx="5486400" cy="365760"/>
          </a:xfrm>
          <a:prstGeom prst="rect">
            <a:avLst/>
          </a:prstGeom>
          <a:noFill/>
          <a:ln/>
        </p:spPr>
        <p:txBody>
          <a:bodyPr wrap="square" lIns="0" tIns="0" rIns="0" bIns="0" rtlCol="0" anchor="ctr"/>
          <a:lstStyle/>
          <a:p>
            <a:r>
              <a:rPr lang="en-US" sz="2400" b="1" dirty="0">
                <a:solidFill>
                  <a:srgbClr val="333333"/>
                </a:solidFill>
                <a:ea typeface="Calibri" pitchFamily="34" charset="-122"/>
                <a:cs typeface="Calibri" pitchFamily="34" charset="-120"/>
              </a:rPr>
              <a:t>Cost</a:t>
            </a:r>
            <a:r>
              <a:rPr lang="en-US" sz="2400" dirty="0">
                <a:solidFill>
                  <a:srgbClr val="333333"/>
                </a:solidFill>
                <a:ea typeface="Calibri" pitchFamily="34" charset="-122"/>
                <a:cs typeface="Calibri" pitchFamily="34" charset="-120"/>
              </a:rPr>
              <a:t> - $14/month/user</a:t>
            </a:r>
            <a:endParaRPr lang="en-US" sz="2400" dirty="0"/>
          </a:p>
        </p:txBody>
      </p:sp>
      <p:sp>
        <p:nvSpPr>
          <p:cNvPr id="12" name="Text 8"/>
          <p:cNvSpPr/>
          <p:nvPr/>
        </p:nvSpPr>
        <p:spPr>
          <a:xfrm>
            <a:off x="6339840" y="2682239"/>
            <a:ext cx="5486400" cy="1060771"/>
          </a:xfrm>
          <a:prstGeom prst="rect">
            <a:avLst/>
          </a:prstGeom>
          <a:noFill/>
          <a:ln/>
        </p:spPr>
        <p:txBody>
          <a:bodyPr wrap="square" lIns="0" tIns="0" rIns="0" bIns="0" rtlCol="0" anchor="ctr"/>
          <a:lstStyle/>
          <a:p>
            <a:r>
              <a:rPr lang="en-US" sz="2400" b="1" dirty="0">
                <a:solidFill>
                  <a:srgbClr val="333333"/>
                </a:solidFill>
                <a:ea typeface="Calibri" pitchFamily="34" charset="-122"/>
                <a:cs typeface="Calibri" pitchFamily="34" charset="-120"/>
              </a:rPr>
              <a:t>Purchase Location</a:t>
            </a:r>
            <a:r>
              <a:rPr lang="en-US" sz="2400" dirty="0">
                <a:solidFill>
                  <a:srgbClr val="333333"/>
                </a:solidFill>
                <a:ea typeface="Calibri" pitchFamily="34" charset="-122"/>
                <a:cs typeface="Calibri" pitchFamily="34" charset="-120"/>
              </a:rPr>
              <a:t> - M365, is also included with an E5 license</a:t>
            </a:r>
            <a:endParaRPr lang="en-US" sz="2400" dirty="0"/>
          </a:p>
        </p:txBody>
      </p:sp>
      <p:sp>
        <p:nvSpPr>
          <p:cNvPr id="13" name="Text 9"/>
          <p:cNvSpPr/>
          <p:nvPr/>
        </p:nvSpPr>
        <p:spPr>
          <a:xfrm>
            <a:off x="6339840" y="3901440"/>
            <a:ext cx="5486400" cy="365760"/>
          </a:xfrm>
          <a:prstGeom prst="rect">
            <a:avLst/>
          </a:prstGeom>
          <a:noFill/>
          <a:ln/>
        </p:spPr>
        <p:txBody>
          <a:bodyPr wrap="square" lIns="0" tIns="0" rIns="0" bIns="0" rtlCol="0" anchor="ctr"/>
          <a:lstStyle/>
          <a:p>
            <a:r>
              <a:rPr lang="en-US" sz="2400" b="1" dirty="0">
                <a:solidFill>
                  <a:srgbClr val="333333"/>
                </a:solidFill>
                <a:ea typeface="Calibri" pitchFamily="34" charset="-122"/>
                <a:cs typeface="Calibri" pitchFamily="34" charset="-120"/>
              </a:rPr>
              <a:t>Enables</a:t>
            </a:r>
            <a:endParaRPr lang="en-US" sz="2400" dirty="0"/>
          </a:p>
        </p:txBody>
      </p:sp>
      <p:sp>
        <p:nvSpPr>
          <p:cNvPr id="14" name="Text 10"/>
          <p:cNvSpPr/>
          <p:nvPr/>
        </p:nvSpPr>
        <p:spPr>
          <a:xfrm>
            <a:off x="6339840" y="4330838"/>
            <a:ext cx="5486400" cy="1828800"/>
          </a:xfrm>
          <a:prstGeom prst="rect">
            <a:avLst/>
          </a:prstGeom>
          <a:noFill/>
          <a:ln/>
        </p:spPr>
        <p:txBody>
          <a:bodyPr wrap="square" lIns="0" tIns="0" rIns="0" bIns="0" rtlCol="0" anchor="ctr"/>
          <a:lstStyle/>
          <a:p>
            <a:pPr marL="457189" indent="-457189">
              <a:buSzPct val="100000"/>
              <a:buChar char="•"/>
            </a:pPr>
            <a:r>
              <a:rPr lang="en-US" sz="2400" dirty="0">
                <a:solidFill>
                  <a:srgbClr val="333333"/>
                </a:solidFill>
                <a:ea typeface="Calibri" pitchFamily="34" charset="-122"/>
                <a:cs typeface="Calibri" pitchFamily="34" charset="-120"/>
              </a:rPr>
              <a:t>Publishing Power BI reports to a shared workspace</a:t>
            </a:r>
            <a:endParaRPr lang="en-US" sz="2400" dirty="0"/>
          </a:p>
          <a:p>
            <a:pPr marL="457189" indent="-457189">
              <a:buSzPct val="100000"/>
              <a:buChar char="•"/>
            </a:pPr>
            <a:r>
              <a:rPr lang="en-US" sz="2400" dirty="0">
                <a:solidFill>
                  <a:srgbClr val="333333"/>
                </a:solidFill>
                <a:ea typeface="Calibri" pitchFamily="34" charset="-122"/>
                <a:cs typeface="Calibri" pitchFamily="34" charset="-120"/>
              </a:rPr>
              <a:t>Access to shared capacity workspaces that are not PPU workspaces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65760"/>
            <a:ext cx="10972800" cy="731520"/>
          </a:xfrm>
          <a:prstGeom prst="rect">
            <a:avLst/>
          </a:prstGeom>
          <a:noFill/>
          <a:ln/>
        </p:spPr>
        <p:txBody>
          <a:bodyPr wrap="square" lIns="0" tIns="0" rIns="0" bIns="0" rtlCol="0" anchor="ctr"/>
          <a:lstStyle/>
          <a:p>
            <a:r>
              <a:rPr lang="en-US" sz="4000" dirty="0">
                <a:latin typeface="+mj-lt"/>
                <a:ea typeface="Georgia" pitchFamily="34" charset="-122"/>
                <a:cs typeface="Georgia" pitchFamily="34" charset="-120"/>
              </a:rPr>
              <a:t>Upgrade Level 2: Premium PBI Features</a:t>
            </a:r>
            <a:endParaRPr lang="en-US" sz="4000" dirty="0">
              <a:latin typeface="+mj-lt"/>
            </a:endParaRPr>
          </a:p>
        </p:txBody>
      </p:sp>
      <p:sp>
        <p:nvSpPr>
          <p:cNvPr id="3" name="Shape 1"/>
          <p:cNvSpPr/>
          <p:nvPr/>
        </p:nvSpPr>
        <p:spPr>
          <a:xfrm>
            <a:off x="609600" y="1463039"/>
            <a:ext cx="5120640" cy="4857373"/>
          </a:xfrm>
          <a:prstGeom prst="rect">
            <a:avLst/>
          </a:prstGeom>
          <a:solidFill>
            <a:srgbClr val="2C1810"/>
          </a:solidFill>
          <a:ln w="25400">
            <a:solidFill>
              <a:srgbClr val="C08050"/>
            </a:solidFill>
            <a:prstDash val="solid"/>
          </a:ln>
        </p:spPr>
        <p:txBody>
          <a:bodyPr/>
          <a:lstStyle/>
          <a:p>
            <a:endParaRPr lang="en-US" sz="2400"/>
          </a:p>
        </p:txBody>
      </p:sp>
      <p:sp>
        <p:nvSpPr>
          <p:cNvPr id="4" name="Shape 2"/>
          <p:cNvSpPr/>
          <p:nvPr/>
        </p:nvSpPr>
        <p:spPr>
          <a:xfrm>
            <a:off x="853440" y="1706880"/>
            <a:ext cx="4632960" cy="731520"/>
          </a:xfrm>
          <a:prstGeom prst="rect">
            <a:avLst/>
          </a:prstGeom>
          <a:solidFill>
            <a:srgbClr val="4A3020"/>
          </a:solidFill>
          <a:ln/>
        </p:spPr>
        <p:txBody>
          <a:bodyPr/>
          <a:lstStyle/>
          <a:p>
            <a:endParaRPr lang="en-US" sz="2400"/>
          </a:p>
        </p:txBody>
      </p:sp>
      <p:pic>
        <p:nvPicPr>
          <p:cNvPr id="5" name="Image 0" descr="preencoded.png"/>
          <p:cNvPicPr>
            <a:picLocks noChangeAspect="1"/>
          </p:cNvPicPr>
          <p:nvPr/>
        </p:nvPicPr>
        <p:blipFill>
          <a:blip r:embed="rId3"/>
          <a:stretch>
            <a:fillRect/>
          </a:stretch>
        </p:blipFill>
        <p:spPr>
          <a:xfrm>
            <a:off x="1036320" y="1767840"/>
            <a:ext cx="609600" cy="609600"/>
          </a:xfrm>
          <a:prstGeom prst="rect">
            <a:avLst/>
          </a:prstGeom>
        </p:spPr>
      </p:pic>
      <p:sp>
        <p:nvSpPr>
          <p:cNvPr id="6" name="Text 3"/>
          <p:cNvSpPr/>
          <p:nvPr/>
        </p:nvSpPr>
        <p:spPr>
          <a:xfrm>
            <a:off x="1767840" y="1767840"/>
            <a:ext cx="3535680" cy="609600"/>
          </a:xfrm>
          <a:prstGeom prst="rect">
            <a:avLst/>
          </a:prstGeom>
          <a:noFill/>
          <a:ln/>
        </p:spPr>
        <p:txBody>
          <a:bodyPr wrap="square" lIns="0" tIns="0" rIns="0" bIns="0" rtlCol="0" anchor="ctr"/>
          <a:lstStyle/>
          <a:p>
            <a:r>
              <a:rPr lang="en-US" sz="2133" b="1" dirty="0">
                <a:solidFill>
                  <a:srgbClr val="F0C040"/>
                </a:solidFill>
                <a:ea typeface="Georgia" pitchFamily="34" charset="-122"/>
                <a:cs typeface="Georgia" pitchFamily="34" charset="-120"/>
              </a:rPr>
              <a:t>FIRST CLASS LOUNGE</a:t>
            </a:r>
            <a:endParaRPr lang="en-US" sz="2133" dirty="0"/>
          </a:p>
        </p:txBody>
      </p:sp>
      <p:sp>
        <p:nvSpPr>
          <p:cNvPr id="7" name="Text 4"/>
          <p:cNvSpPr/>
          <p:nvPr/>
        </p:nvSpPr>
        <p:spPr>
          <a:xfrm>
            <a:off x="1036320" y="2682240"/>
            <a:ext cx="4267200" cy="426720"/>
          </a:xfrm>
          <a:prstGeom prst="rect">
            <a:avLst/>
          </a:prstGeom>
          <a:noFill/>
          <a:ln/>
        </p:spPr>
        <p:txBody>
          <a:bodyPr wrap="square" lIns="0" tIns="0" rIns="0" bIns="0" rtlCol="0" anchor="ctr"/>
          <a:lstStyle/>
          <a:p>
            <a:r>
              <a:rPr lang="en-US" sz="1867" b="1" dirty="0">
                <a:solidFill>
                  <a:srgbClr val="FFFFFF"/>
                </a:solidFill>
                <a:ea typeface="Georgia" pitchFamily="34" charset="-122"/>
                <a:cs typeface="Georgia" pitchFamily="34" charset="-120"/>
              </a:rPr>
              <a:t>Premium Per User License</a:t>
            </a:r>
            <a:endParaRPr lang="en-US" sz="1867" dirty="0"/>
          </a:p>
        </p:txBody>
      </p:sp>
      <p:pic>
        <p:nvPicPr>
          <p:cNvPr id="8" name="Image 1" descr="preencoded.png"/>
          <p:cNvPicPr>
            <a:picLocks noChangeAspect="1"/>
          </p:cNvPicPr>
          <p:nvPr/>
        </p:nvPicPr>
        <p:blipFill>
          <a:blip r:embed="rId4"/>
          <a:stretch>
            <a:fillRect/>
          </a:stretch>
        </p:blipFill>
        <p:spPr>
          <a:xfrm>
            <a:off x="4389120" y="3291840"/>
            <a:ext cx="1097280" cy="1097280"/>
          </a:xfrm>
          <a:prstGeom prst="rect">
            <a:avLst/>
          </a:prstGeom>
        </p:spPr>
      </p:pic>
      <p:sp>
        <p:nvSpPr>
          <p:cNvPr id="9" name="Text 5"/>
          <p:cNvSpPr/>
          <p:nvPr/>
        </p:nvSpPr>
        <p:spPr>
          <a:xfrm>
            <a:off x="1036320" y="3169920"/>
            <a:ext cx="3279447" cy="2989720"/>
          </a:xfrm>
          <a:prstGeom prst="rect">
            <a:avLst/>
          </a:prstGeom>
          <a:noFill/>
          <a:ln/>
        </p:spPr>
        <p:txBody>
          <a:bodyPr wrap="square" lIns="0" tIns="0" rIns="0" bIns="0" rtlCol="0" anchor="ctr"/>
          <a:lstStyle/>
          <a:p>
            <a:r>
              <a:rPr lang="en-US" i="1" dirty="0">
                <a:solidFill>
                  <a:schemeClr val="bg1"/>
                </a:solidFill>
                <a:ea typeface="Calibri" pitchFamily="34" charset="-122"/>
                <a:cs typeface="Calibri" pitchFamily="34" charset="-120"/>
              </a:rPr>
              <a:t>The premium lounge with bigger seats,</a:t>
            </a:r>
            <a:endParaRPr lang="en-US" dirty="0">
              <a:solidFill>
                <a:schemeClr val="bg1"/>
              </a:solidFill>
            </a:endParaRPr>
          </a:p>
          <a:p>
            <a:r>
              <a:rPr lang="en-US" i="1" dirty="0">
                <a:solidFill>
                  <a:schemeClr val="bg1"/>
                </a:solidFill>
                <a:ea typeface="Calibri" pitchFamily="34" charset="-122"/>
                <a:cs typeface="Calibri" pitchFamily="34" charset="-120"/>
              </a:rPr>
              <a:t>faster Wi-Fi, and better food.</a:t>
            </a:r>
            <a:endParaRPr lang="en-US" dirty="0">
              <a:solidFill>
                <a:schemeClr val="bg1"/>
              </a:solidFill>
            </a:endParaRPr>
          </a:p>
          <a:p>
            <a:r>
              <a:rPr lang="en-US" sz="1000" dirty="0">
                <a:solidFill>
                  <a:schemeClr val="bg1"/>
                </a:solidFill>
                <a:ea typeface="Calibri" pitchFamily="34" charset="-122"/>
                <a:cs typeface="Calibri" pitchFamily="34" charset="-120"/>
              </a:rPr>
              <a:t> </a:t>
            </a:r>
            <a:endParaRPr lang="en-US" dirty="0">
              <a:solidFill>
                <a:schemeClr val="bg1"/>
              </a:solidFill>
            </a:endParaRPr>
          </a:p>
          <a:p>
            <a:r>
              <a:rPr lang="en-US" dirty="0">
                <a:solidFill>
                  <a:schemeClr val="bg1"/>
                </a:solidFill>
                <a:ea typeface="Calibri" pitchFamily="34" charset="-122"/>
                <a:cs typeface="Calibri" pitchFamily="34" charset="-120"/>
              </a:rPr>
              <a:t>Larger models, more frequent</a:t>
            </a:r>
            <a:endParaRPr lang="en-US" dirty="0">
              <a:solidFill>
                <a:schemeClr val="bg1"/>
              </a:solidFill>
            </a:endParaRPr>
          </a:p>
          <a:p>
            <a:r>
              <a:rPr lang="en-US" dirty="0">
                <a:solidFill>
                  <a:schemeClr val="bg1"/>
                </a:solidFill>
                <a:ea typeface="Calibri" pitchFamily="34" charset="-122"/>
                <a:cs typeface="Calibri" pitchFamily="34" charset="-120"/>
              </a:rPr>
              <a:t>refreshes, XMLA endpoints,</a:t>
            </a:r>
            <a:endParaRPr lang="en-US" dirty="0">
              <a:solidFill>
                <a:schemeClr val="bg1"/>
              </a:solidFill>
            </a:endParaRPr>
          </a:p>
          <a:p>
            <a:r>
              <a:rPr lang="en-US" dirty="0">
                <a:solidFill>
                  <a:schemeClr val="bg1"/>
                </a:solidFill>
                <a:ea typeface="Calibri" pitchFamily="34" charset="-122"/>
                <a:cs typeface="Calibri" pitchFamily="34" charset="-120"/>
              </a:rPr>
              <a:t>and advanced dataflow features.</a:t>
            </a:r>
            <a:endParaRPr lang="en-US" dirty="0">
              <a:solidFill>
                <a:schemeClr val="bg1"/>
              </a:solidFill>
            </a:endParaRPr>
          </a:p>
          <a:p>
            <a:r>
              <a:rPr lang="en-US" sz="1000" dirty="0">
                <a:solidFill>
                  <a:schemeClr val="bg1"/>
                </a:solidFill>
                <a:ea typeface="Calibri" pitchFamily="34" charset="-122"/>
                <a:cs typeface="Calibri" pitchFamily="34" charset="-120"/>
              </a:rPr>
              <a:t> </a:t>
            </a:r>
            <a:endParaRPr lang="en-US" dirty="0">
              <a:solidFill>
                <a:schemeClr val="bg1"/>
              </a:solidFill>
            </a:endParaRPr>
          </a:p>
          <a:p>
            <a:r>
              <a:rPr lang="en-US" b="1" dirty="0">
                <a:solidFill>
                  <a:schemeClr val="bg1"/>
                </a:solidFill>
                <a:ea typeface="Calibri" pitchFamily="34" charset="-122"/>
                <a:cs typeface="Calibri" pitchFamily="34" charset="-120"/>
              </a:rPr>
              <a:t>Everyone in the first class lounge</a:t>
            </a:r>
            <a:endParaRPr lang="en-US" dirty="0">
              <a:solidFill>
                <a:schemeClr val="bg1"/>
              </a:solidFill>
            </a:endParaRPr>
          </a:p>
          <a:p>
            <a:r>
              <a:rPr lang="en-US" b="1" dirty="0">
                <a:solidFill>
                  <a:schemeClr val="bg1"/>
                </a:solidFill>
                <a:ea typeface="Calibri" pitchFamily="34" charset="-122"/>
                <a:cs typeface="Calibri" pitchFamily="34" charset="-120"/>
              </a:rPr>
              <a:t>needs their own PPU pass.</a:t>
            </a:r>
            <a:endParaRPr lang="en-US" dirty="0">
              <a:solidFill>
                <a:schemeClr val="bg1"/>
              </a:solidFill>
            </a:endParaRPr>
          </a:p>
        </p:txBody>
      </p:sp>
      <p:sp>
        <p:nvSpPr>
          <p:cNvPr id="10" name="Text 6"/>
          <p:cNvSpPr/>
          <p:nvPr/>
        </p:nvSpPr>
        <p:spPr>
          <a:xfrm>
            <a:off x="6339840" y="1463040"/>
            <a:ext cx="5486400" cy="548640"/>
          </a:xfrm>
          <a:prstGeom prst="rect">
            <a:avLst/>
          </a:prstGeom>
          <a:noFill/>
          <a:ln/>
        </p:spPr>
        <p:txBody>
          <a:bodyPr wrap="square" lIns="0" tIns="0" rIns="0" bIns="0" rtlCol="0" anchor="ctr"/>
          <a:lstStyle/>
          <a:p>
            <a:r>
              <a:rPr lang="en-US" sz="2933" dirty="0">
                <a:solidFill>
                  <a:srgbClr val="000000"/>
                </a:solidFill>
                <a:ea typeface="Georgia" pitchFamily="34" charset="-122"/>
                <a:cs typeface="Georgia" pitchFamily="34" charset="-120"/>
              </a:rPr>
              <a:t>Premium Per User</a:t>
            </a:r>
            <a:endParaRPr lang="en-US" sz="2933" dirty="0"/>
          </a:p>
        </p:txBody>
      </p:sp>
      <p:sp>
        <p:nvSpPr>
          <p:cNvPr id="11" name="Text 7"/>
          <p:cNvSpPr/>
          <p:nvPr/>
        </p:nvSpPr>
        <p:spPr>
          <a:xfrm>
            <a:off x="6339840" y="2194560"/>
            <a:ext cx="5486400" cy="365760"/>
          </a:xfrm>
          <a:prstGeom prst="rect">
            <a:avLst/>
          </a:prstGeom>
          <a:noFill/>
          <a:ln/>
        </p:spPr>
        <p:txBody>
          <a:bodyPr wrap="square" lIns="0" tIns="0" rIns="0" bIns="0" rtlCol="0" anchor="ctr"/>
          <a:lstStyle/>
          <a:p>
            <a:r>
              <a:rPr lang="en-US" sz="2400" b="1" dirty="0">
                <a:solidFill>
                  <a:srgbClr val="333333"/>
                </a:solidFill>
                <a:ea typeface="Calibri" pitchFamily="34" charset="-122"/>
                <a:cs typeface="Calibri" pitchFamily="34" charset="-120"/>
              </a:rPr>
              <a:t>Cost</a:t>
            </a:r>
            <a:r>
              <a:rPr lang="en-US" sz="2400" dirty="0">
                <a:solidFill>
                  <a:srgbClr val="333333"/>
                </a:solidFill>
                <a:ea typeface="Calibri" pitchFamily="34" charset="-122"/>
                <a:cs typeface="Calibri" pitchFamily="34" charset="-120"/>
              </a:rPr>
              <a:t> - $24/month/user</a:t>
            </a:r>
            <a:endParaRPr lang="en-US" sz="2400" dirty="0"/>
          </a:p>
        </p:txBody>
      </p:sp>
      <p:sp>
        <p:nvSpPr>
          <p:cNvPr id="12" name="Text 8"/>
          <p:cNvSpPr/>
          <p:nvPr/>
        </p:nvSpPr>
        <p:spPr>
          <a:xfrm>
            <a:off x="6339840" y="2751238"/>
            <a:ext cx="5486400" cy="365760"/>
          </a:xfrm>
          <a:prstGeom prst="rect">
            <a:avLst/>
          </a:prstGeom>
          <a:noFill/>
          <a:ln/>
        </p:spPr>
        <p:txBody>
          <a:bodyPr wrap="square" lIns="0" tIns="0" rIns="0" bIns="0" rtlCol="0" anchor="ctr"/>
          <a:lstStyle/>
          <a:p>
            <a:r>
              <a:rPr lang="en-US" sz="2400" b="1" dirty="0">
                <a:solidFill>
                  <a:srgbClr val="333333"/>
                </a:solidFill>
                <a:ea typeface="Calibri" pitchFamily="34" charset="-122"/>
                <a:cs typeface="Calibri" pitchFamily="34" charset="-120"/>
              </a:rPr>
              <a:t>Purchase Location</a:t>
            </a:r>
            <a:r>
              <a:rPr lang="en-US" sz="2400" dirty="0">
                <a:solidFill>
                  <a:srgbClr val="333333"/>
                </a:solidFill>
                <a:ea typeface="Calibri" pitchFamily="34" charset="-122"/>
                <a:cs typeface="Calibri" pitchFamily="34" charset="-120"/>
              </a:rPr>
              <a:t> - M365</a:t>
            </a:r>
            <a:endParaRPr lang="en-US" sz="2400" dirty="0"/>
          </a:p>
        </p:txBody>
      </p:sp>
      <p:sp>
        <p:nvSpPr>
          <p:cNvPr id="13" name="Text 9"/>
          <p:cNvSpPr/>
          <p:nvPr/>
        </p:nvSpPr>
        <p:spPr>
          <a:xfrm>
            <a:off x="6339840" y="3360838"/>
            <a:ext cx="5486400" cy="365760"/>
          </a:xfrm>
          <a:prstGeom prst="rect">
            <a:avLst/>
          </a:prstGeom>
          <a:noFill/>
          <a:ln/>
        </p:spPr>
        <p:txBody>
          <a:bodyPr wrap="square" lIns="0" tIns="0" rIns="0" bIns="0" rtlCol="0" anchor="ctr"/>
          <a:lstStyle/>
          <a:p>
            <a:r>
              <a:rPr lang="en-US" sz="2400" b="1" dirty="0">
                <a:solidFill>
                  <a:srgbClr val="333333"/>
                </a:solidFill>
                <a:ea typeface="Calibri" pitchFamily="34" charset="-122"/>
                <a:cs typeface="Calibri" pitchFamily="34" charset="-120"/>
              </a:rPr>
              <a:t>Enables</a:t>
            </a:r>
            <a:endParaRPr lang="en-US" sz="2400" dirty="0"/>
          </a:p>
        </p:txBody>
      </p:sp>
      <p:sp>
        <p:nvSpPr>
          <p:cNvPr id="14" name="Text 10"/>
          <p:cNvSpPr/>
          <p:nvPr/>
        </p:nvSpPr>
        <p:spPr>
          <a:xfrm>
            <a:off x="6339840" y="3848518"/>
            <a:ext cx="5486400" cy="2796121"/>
          </a:xfrm>
          <a:prstGeom prst="rect">
            <a:avLst/>
          </a:prstGeom>
          <a:noFill/>
          <a:ln/>
        </p:spPr>
        <p:txBody>
          <a:bodyPr wrap="square" lIns="0" tIns="0" rIns="0" bIns="0" rtlCol="0" anchor="t"/>
          <a:lstStyle/>
          <a:p>
            <a:pPr marL="457189" indent="-457189">
              <a:spcAft>
                <a:spcPts val="533"/>
              </a:spcAft>
              <a:buSzPct val="100000"/>
              <a:buChar char="•"/>
            </a:pPr>
            <a:r>
              <a:rPr lang="en-US" sz="2000" dirty="0">
                <a:solidFill>
                  <a:srgbClr val="333333"/>
                </a:solidFill>
                <a:ea typeface="Calibri" pitchFamily="34" charset="-122"/>
                <a:cs typeface="Calibri" pitchFamily="34" charset="-120"/>
              </a:rPr>
              <a:t>Publishing Power BI reports to a shared workspace</a:t>
            </a:r>
            <a:endParaRPr lang="en-US" sz="2000" dirty="0"/>
          </a:p>
          <a:p>
            <a:pPr marL="457189" indent="-457189">
              <a:spcAft>
                <a:spcPts val="533"/>
              </a:spcAft>
              <a:buSzPct val="100000"/>
              <a:buChar char="•"/>
            </a:pPr>
            <a:r>
              <a:rPr lang="en-US" sz="2000" dirty="0">
                <a:solidFill>
                  <a:srgbClr val="333333"/>
                </a:solidFill>
                <a:ea typeface="Calibri" pitchFamily="34" charset="-122"/>
                <a:cs typeface="Calibri" pitchFamily="34" charset="-120"/>
              </a:rPr>
              <a:t>Access to shared capacity workspaces</a:t>
            </a:r>
            <a:endParaRPr lang="en-US" sz="2000" dirty="0"/>
          </a:p>
          <a:p>
            <a:pPr marL="457189" indent="-457189">
              <a:spcAft>
                <a:spcPts val="533"/>
              </a:spcAft>
              <a:buSzPct val="100000"/>
              <a:buChar char="•"/>
            </a:pPr>
            <a:r>
              <a:rPr lang="en-US" sz="2000" dirty="0">
                <a:solidFill>
                  <a:srgbClr val="333333"/>
                </a:solidFill>
                <a:ea typeface="Calibri" pitchFamily="34" charset="-122"/>
                <a:cs typeface="Calibri" pitchFamily="34" charset="-120"/>
              </a:rPr>
              <a:t>Larger model sizes</a:t>
            </a:r>
            <a:endParaRPr lang="en-US" sz="2000" dirty="0"/>
          </a:p>
          <a:p>
            <a:pPr marL="457189" indent="-457189">
              <a:spcAft>
                <a:spcPts val="533"/>
              </a:spcAft>
              <a:buSzPct val="100000"/>
              <a:buChar char="•"/>
            </a:pPr>
            <a:r>
              <a:rPr lang="en-US" sz="2000" dirty="0">
                <a:solidFill>
                  <a:srgbClr val="333333"/>
                </a:solidFill>
                <a:ea typeface="Calibri" pitchFamily="34" charset="-122"/>
                <a:cs typeface="Calibri" pitchFamily="34" charset="-120"/>
              </a:rPr>
              <a:t>More frequent refreshes</a:t>
            </a:r>
            <a:endParaRPr lang="en-US" sz="2000" dirty="0"/>
          </a:p>
          <a:p>
            <a:pPr marL="457189" indent="-457189">
              <a:spcAft>
                <a:spcPts val="533"/>
              </a:spcAft>
              <a:buSzPct val="100000"/>
              <a:buChar char="•"/>
            </a:pPr>
            <a:r>
              <a:rPr lang="en-US" sz="2000" dirty="0">
                <a:solidFill>
                  <a:srgbClr val="333333"/>
                </a:solidFill>
                <a:ea typeface="Calibri" pitchFamily="34" charset="-122"/>
                <a:cs typeface="Calibri" pitchFamily="34" charset="-120"/>
              </a:rPr>
              <a:t>XMLA endpoint connectivity</a:t>
            </a:r>
            <a:endParaRPr lang="en-US" sz="2000" dirty="0"/>
          </a:p>
          <a:p>
            <a:pPr marL="457189" indent="-457189">
              <a:spcAft>
                <a:spcPts val="533"/>
              </a:spcAft>
              <a:buSzPct val="100000"/>
              <a:buChar char="•"/>
            </a:pPr>
            <a:r>
              <a:rPr lang="en-US" sz="2000" dirty="0">
                <a:solidFill>
                  <a:srgbClr val="333333"/>
                </a:solidFill>
                <a:ea typeface="Calibri" pitchFamily="34" charset="-122"/>
                <a:cs typeface="Calibri" pitchFamily="34" charset="-120"/>
              </a:rPr>
              <a:t>Advanced dataflow features</a:t>
            </a:r>
            <a:endParaRPr lang="en-US" sz="2000" dirty="0"/>
          </a:p>
          <a:p>
            <a:pPr marL="457189" indent="-457189">
              <a:spcAft>
                <a:spcPts val="533"/>
              </a:spcAft>
              <a:buSzPct val="100000"/>
              <a:buChar char="•"/>
            </a:pPr>
            <a:r>
              <a:rPr lang="en-US" sz="2000" dirty="0">
                <a:solidFill>
                  <a:srgbClr val="333333"/>
                </a:solidFill>
                <a:ea typeface="Calibri" pitchFamily="34" charset="-122"/>
                <a:cs typeface="Calibri" pitchFamily="34" charset="-120"/>
              </a:rPr>
              <a:t>Incremental refresh</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65760"/>
            <a:ext cx="10972800" cy="731520"/>
          </a:xfrm>
          <a:prstGeom prst="rect">
            <a:avLst/>
          </a:prstGeom>
          <a:noFill/>
          <a:ln/>
        </p:spPr>
        <p:txBody>
          <a:bodyPr wrap="square" lIns="0" tIns="0" rIns="0" bIns="0" rtlCol="0" anchor="ctr"/>
          <a:lstStyle/>
          <a:p>
            <a:r>
              <a:rPr lang="en-US" sz="4000" dirty="0">
                <a:latin typeface="+mj-lt"/>
                <a:ea typeface="Georgia" pitchFamily="34" charset="-122"/>
                <a:cs typeface="Georgia" pitchFamily="34" charset="-120"/>
              </a:rPr>
              <a:t>Upgrade Level 3: Capacity to do More</a:t>
            </a:r>
            <a:endParaRPr lang="en-US" sz="4000" dirty="0">
              <a:latin typeface="+mj-lt"/>
            </a:endParaRPr>
          </a:p>
        </p:txBody>
      </p:sp>
      <p:sp>
        <p:nvSpPr>
          <p:cNvPr id="3" name="Shape 1"/>
          <p:cNvSpPr/>
          <p:nvPr/>
        </p:nvSpPr>
        <p:spPr>
          <a:xfrm>
            <a:off x="609600" y="1463039"/>
            <a:ext cx="5120640" cy="4972929"/>
          </a:xfrm>
          <a:prstGeom prst="rect">
            <a:avLst/>
          </a:prstGeom>
          <a:solidFill>
            <a:srgbClr val="0F1D36"/>
          </a:solidFill>
          <a:ln w="25400">
            <a:solidFill>
              <a:srgbClr val="4A9A7A"/>
            </a:solidFill>
            <a:prstDash val="solid"/>
          </a:ln>
        </p:spPr>
        <p:txBody>
          <a:bodyPr/>
          <a:lstStyle/>
          <a:p>
            <a:endParaRPr lang="en-US" sz="2400"/>
          </a:p>
        </p:txBody>
      </p:sp>
      <p:sp>
        <p:nvSpPr>
          <p:cNvPr id="4" name="Shape 2"/>
          <p:cNvSpPr/>
          <p:nvPr/>
        </p:nvSpPr>
        <p:spPr>
          <a:xfrm>
            <a:off x="853440" y="1706880"/>
            <a:ext cx="4632960" cy="731520"/>
          </a:xfrm>
          <a:prstGeom prst="rect">
            <a:avLst/>
          </a:prstGeom>
          <a:solidFill>
            <a:srgbClr val="1A4A3A"/>
          </a:solidFill>
          <a:ln/>
        </p:spPr>
        <p:txBody>
          <a:bodyPr/>
          <a:lstStyle/>
          <a:p>
            <a:endParaRPr lang="en-US" sz="2400"/>
          </a:p>
        </p:txBody>
      </p:sp>
      <p:pic>
        <p:nvPicPr>
          <p:cNvPr id="5" name="Image 0" descr="preencoded.png"/>
          <p:cNvPicPr>
            <a:picLocks noChangeAspect="1"/>
          </p:cNvPicPr>
          <p:nvPr/>
        </p:nvPicPr>
        <p:blipFill>
          <a:blip r:embed="rId3"/>
          <a:stretch>
            <a:fillRect/>
          </a:stretch>
        </p:blipFill>
        <p:spPr>
          <a:xfrm>
            <a:off x="1036320" y="1767840"/>
            <a:ext cx="609600" cy="609600"/>
          </a:xfrm>
          <a:prstGeom prst="rect">
            <a:avLst/>
          </a:prstGeom>
        </p:spPr>
      </p:pic>
      <p:sp>
        <p:nvSpPr>
          <p:cNvPr id="6" name="Text 3"/>
          <p:cNvSpPr/>
          <p:nvPr/>
        </p:nvSpPr>
        <p:spPr>
          <a:xfrm>
            <a:off x="1767840" y="1767840"/>
            <a:ext cx="3535680" cy="609600"/>
          </a:xfrm>
          <a:prstGeom prst="rect">
            <a:avLst/>
          </a:prstGeom>
          <a:noFill/>
          <a:ln/>
        </p:spPr>
        <p:txBody>
          <a:bodyPr wrap="square" lIns="0" tIns="0" rIns="0" bIns="0" rtlCol="0" anchor="ctr"/>
          <a:lstStyle/>
          <a:p>
            <a:r>
              <a:rPr lang="en-US" sz="2133" b="1" dirty="0">
                <a:solidFill>
                  <a:schemeClr val="bg1"/>
                </a:solidFill>
                <a:ea typeface="Georgia" pitchFamily="34" charset="-122"/>
                <a:cs typeface="Georgia" pitchFamily="34" charset="-120"/>
              </a:rPr>
              <a:t>PRIVATE TERMINAL</a:t>
            </a:r>
            <a:endParaRPr lang="en-US" sz="2133" dirty="0">
              <a:solidFill>
                <a:schemeClr val="bg1"/>
              </a:solidFill>
            </a:endParaRPr>
          </a:p>
        </p:txBody>
      </p:sp>
      <p:sp>
        <p:nvSpPr>
          <p:cNvPr id="7" name="Text 4"/>
          <p:cNvSpPr/>
          <p:nvPr/>
        </p:nvSpPr>
        <p:spPr>
          <a:xfrm>
            <a:off x="1036320" y="2682240"/>
            <a:ext cx="4267200" cy="426720"/>
          </a:xfrm>
          <a:prstGeom prst="rect">
            <a:avLst/>
          </a:prstGeom>
          <a:noFill/>
          <a:ln/>
        </p:spPr>
        <p:txBody>
          <a:bodyPr wrap="square" lIns="0" tIns="0" rIns="0" bIns="0" rtlCol="0" anchor="ctr"/>
          <a:lstStyle/>
          <a:p>
            <a:r>
              <a:rPr lang="en-US" sz="1867" b="1" dirty="0">
                <a:solidFill>
                  <a:srgbClr val="FFFFFF"/>
                </a:solidFill>
                <a:ea typeface="Georgia" pitchFamily="34" charset="-122"/>
                <a:cs typeface="Georgia" pitchFamily="34" charset="-120"/>
              </a:rPr>
              <a:t>Fabric Capacity (F SKU)</a:t>
            </a:r>
            <a:endParaRPr lang="en-US" sz="1867" dirty="0"/>
          </a:p>
        </p:txBody>
      </p:sp>
      <p:pic>
        <p:nvPicPr>
          <p:cNvPr id="8" name="Image 1" descr="preencoded.png"/>
          <p:cNvPicPr>
            <a:picLocks noChangeAspect="1"/>
          </p:cNvPicPr>
          <p:nvPr/>
        </p:nvPicPr>
        <p:blipFill>
          <a:blip r:embed="rId4"/>
          <a:stretch>
            <a:fillRect/>
          </a:stretch>
        </p:blipFill>
        <p:spPr>
          <a:xfrm>
            <a:off x="4389120" y="3291840"/>
            <a:ext cx="1097280" cy="1097280"/>
          </a:xfrm>
          <a:prstGeom prst="rect">
            <a:avLst/>
          </a:prstGeom>
        </p:spPr>
      </p:pic>
      <p:sp>
        <p:nvSpPr>
          <p:cNvPr id="9" name="Text 5"/>
          <p:cNvSpPr/>
          <p:nvPr/>
        </p:nvSpPr>
        <p:spPr>
          <a:xfrm>
            <a:off x="1036320" y="3169920"/>
            <a:ext cx="3766792" cy="2926080"/>
          </a:xfrm>
          <a:prstGeom prst="rect">
            <a:avLst/>
          </a:prstGeom>
          <a:noFill/>
          <a:ln/>
        </p:spPr>
        <p:txBody>
          <a:bodyPr wrap="square" lIns="0" tIns="0" rIns="0" bIns="0" rtlCol="0" anchor="t"/>
          <a:lstStyle/>
          <a:p>
            <a:r>
              <a:rPr lang="en-US" i="1" dirty="0">
                <a:solidFill>
                  <a:schemeClr val="bg1"/>
                </a:solidFill>
                <a:ea typeface="Calibri" pitchFamily="34" charset="-122"/>
                <a:cs typeface="Calibri" pitchFamily="34" charset="-120"/>
              </a:rPr>
              <a:t>Your own terminal. Your own runway.</a:t>
            </a:r>
            <a:endParaRPr lang="en-US" dirty="0">
              <a:solidFill>
                <a:schemeClr val="bg1"/>
              </a:solidFill>
            </a:endParaRPr>
          </a:p>
          <a:p>
            <a:r>
              <a:rPr lang="en-US" i="1" dirty="0">
                <a:solidFill>
                  <a:schemeClr val="bg1"/>
                </a:solidFill>
                <a:ea typeface="Calibri" pitchFamily="34" charset="-122"/>
                <a:cs typeface="Calibri" pitchFamily="34" charset="-120"/>
              </a:rPr>
              <a:t>No sharing with other airlines.</a:t>
            </a:r>
            <a:endParaRPr lang="en-US" dirty="0">
              <a:solidFill>
                <a:schemeClr val="bg1"/>
              </a:solidFill>
            </a:endParaRPr>
          </a:p>
          <a:p>
            <a:r>
              <a:rPr lang="en-US" dirty="0">
                <a:solidFill>
                  <a:schemeClr val="bg1"/>
                </a:solidFill>
                <a:ea typeface="Calibri" pitchFamily="34" charset="-122"/>
                <a:cs typeface="Calibri" pitchFamily="34" charset="-120"/>
              </a:rPr>
              <a:t> </a:t>
            </a:r>
            <a:endParaRPr lang="en-US" dirty="0">
              <a:solidFill>
                <a:schemeClr val="bg1"/>
              </a:solidFill>
            </a:endParaRPr>
          </a:p>
          <a:p>
            <a:r>
              <a:rPr lang="en-US" dirty="0">
                <a:solidFill>
                  <a:schemeClr val="bg1"/>
                </a:solidFill>
                <a:ea typeface="Calibri" pitchFamily="34" charset="-122"/>
                <a:cs typeface="Calibri" pitchFamily="34" charset="-120"/>
              </a:rPr>
              <a:t>Full access to all Fabric artifacts.</a:t>
            </a:r>
            <a:endParaRPr lang="en-US" dirty="0">
              <a:solidFill>
                <a:schemeClr val="bg1"/>
              </a:solidFill>
            </a:endParaRPr>
          </a:p>
          <a:p>
            <a:r>
              <a:rPr lang="en-US" dirty="0">
                <a:solidFill>
                  <a:schemeClr val="bg1"/>
                </a:solidFill>
                <a:ea typeface="Calibri" pitchFamily="34" charset="-122"/>
                <a:cs typeface="Calibri" pitchFamily="34" charset="-120"/>
              </a:rPr>
              <a:t>Size of the terminal (SKU) determines</a:t>
            </a:r>
            <a:endParaRPr lang="en-US" dirty="0">
              <a:solidFill>
                <a:schemeClr val="bg1"/>
              </a:solidFill>
            </a:endParaRPr>
          </a:p>
          <a:p>
            <a:r>
              <a:rPr lang="en-US" dirty="0">
                <a:solidFill>
                  <a:schemeClr val="bg1"/>
                </a:solidFill>
                <a:ea typeface="Calibri" pitchFamily="34" charset="-122"/>
                <a:cs typeface="Calibri" pitchFamily="34" charset="-120"/>
              </a:rPr>
              <a:t>how much traffic you can handle.</a:t>
            </a:r>
            <a:endParaRPr lang="en-US" dirty="0">
              <a:solidFill>
                <a:schemeClr val="bg1"/>
              </a:solidFill>
            </a:endParaRPr>
          </a:p>
          <a:p>
            <a:r>
              <a:rPr lang="en-US" dirty="0">
                <a:solidFill>
                  <a:schemeClr val="bg1"/>
                </a:solidFill>
                <a:ea typeface="Calibri" pitchFamily="34" charset="-122"/>
                <a:cs typeface="Calibri" pitchFamily="34" charset="-120"/>
              </a:rPr>
              <a:t> </a:t>
            </a:r>
            <a:endParaRPr lang="en-US" dirty="0">
              <a:solidFill>
                <a:schemeClr val="bg1"/>
              </a:solidFill>
            </a:endParaRPr>
          </a:p>
          <a:p>
            <a:r>
              <a:rPr lang="en-US" b="1" dirty="0">
                <a:solidFill>
                  <a:schemeClr val="bg1"/>
                </a:solidFill>
                <a:ea typeface="Calibri" pitchFamily="34" charset="-122"/>
                <a:cs typeface="Calibri" pitchFamily="34" charset="-120"/>
              </a:rPr>
              <a:t>F64+ terminal: passengers (viewers)</a:t>
            </a:r>
            <a:endParaRPr lang="en-US" dirty="0">
              <a:solidFill>
                <a:schemeClr val="bg1"/>
              </a:solidFill>
            </a:endParaRPr>
          </a:p>
          <a:p>
            <a:r>
              <a:rPr lang="en-US" b="1" dirty="0">
                <a:solidFill>
                  <a:schemeClr val="bg1"/>
                </a:solidFill>
                <a:ea typeface="Calibri" pitchFamily="34" charset="-122"/>
                <a:cs typeface="Calibri" pitchFamily="34" charset="-120"/>
              </a:rPr>
              <a:t>don't need their own lounge pass.</a:t>
            </a:r>
            <a:endParaRPr lang="en-US" dirty="0">
              <a:solidFill>
                <a:schemeClr val="bg1"/>
              </a:solidFill>
            </a:endParaRPr>
          </a:p>
        </p:txBody>
      </p:sp>
      <p:sp>
        <p:nvSpPr>
          <p:cNvPr id="10" name="Text 6"/>
          <p:cNvSpPr/>
          <p:nvPr/>
        </p:nvSpPr>
        <p:spPr>
          <a:xfrm>
            <a:off x="6339840" y="1463040"/>
            <a:ext cx="5486400" cy="548640"/>
          </a:xfrm>
          <a:prstGeom prst="rect">
            <a:avLst/>
          </a:prstGeom>
          <a:noFill/>
          <a:ln/>
        </p:spPr>
        <p:txBody>
          <a:bodyPr wrap="square" lIns="0" tIns="0" rIns="0" bIns="0" rtlCol="0" anchor="ctr"/>
          <a:lstStyle/>
          <a:p>
            <a:r>
              <a:rPr lang="en-US" sz="2933" dirty="0">
                <a:solidFill>
                  <a:srgbClr val="000000"/>
                </a:solidFill>
                <a:ea typeface="Georgia" pitchFamily="34" charset="-122"/>
                <a:cs typeface="Georgia" pitchFamily="34" charset="-120"/>
              </a:rPr>
              <a:t>Fabric Capacity</a:t>
            </a:r>
            <a:endParaRPr lang="en-US" sz="2933" dirty="0"/>
          </a:p>
        </p:txBody>
      </p:sp>
      <p:sp>
        <p:nvSpPr>
          <p:cNvPr id="11" name="Text 7"/>
          <p:cNvSpPr/>
          <p:nvPr/>
        </p:nvSpPr>
        <p:spPr>
          <a:xfrm>
            <a:off x="6339839" y="2194560"/>
            <a:ext cx="5723205" cy="609600"/>
          </a:xfrm>
          <a:prstGeom prst="rect">
            <a:avLst/>
          </a:prstGeom>
          <a:noFill/>
          <a:ln/>
        </p:spPr>
        <p:txBody>
          <a:bodyPr wrap="square" lIns="0" tIns="0" rIns="0" bIns="0" rtlCol="0" anchor="ctr"/>
          <a:lstStyle/>
          <a:p>
            <a:r>
              <a:rPr lang="en-US" sz="2000" b="1" dirty="0">
                <a:solidFill>
                  <a:srgbClr val="333333"/>
                </a:solidFill>
                <a:ea typeface="Calibri" pitchFamily="34" charset="-122"/>
                <a:cs typeface="Calibri" pitchFamily="34" charset="-120"/>
              </a:rPr>
              <a:t>Cost</a:t>
            </a:r>
            <a:r>
              <a:rPr lang="en-US" sz="2000" dirty="0">
                <a:solidFill>
                  <a:srgbClr val="333333"/>
                </a:solidFill>
                <a:ea typeface="Calibri" pitchFamily="34" charset="-122"/>
                <a:cs typeface="Calibri" pitchFamily="34" charset="-120"/>
              </a:rPr>
              <a:t> - depends on SKU and reserved pricing/pay-as-you-go</a:t>
            </a:r>
            <a:endParaRPr lang="en-US" sz="2000" dirty="0"/>
          </a:p>
        </p:txBody>
      </p:sp>
      <p:sp>
        <p:nvSpPr>
          <p:cNvPr id="12" name="Text 8"/>
          <p:cNvSpPr/>
          <p:nvPr/>
        </p:nvSpPr>
        <p:spPr>
          <a:xfrm>
            <a:off x="6339838" y="3063240"/>
            <a:ext cx="5723206" cy="731520"/>
          </a:xfrm>
          <a:prstGeom prst="rect">
            <a:avLst/>
          </a:prstGeom>
          <a:noFill/>
          <a:ln/>
        </p:spPr>
        <p:txBody>
          <a:bodyPr wrap="square" lIns="0" tIns="0" rIns="0" bIns="0" rtlCol="0" anchor="ctr"/>
          <a:lstStyle/>
          <a:p>
            <a:r>
              <a:rPr lang="en-US" sz="2000" b="1" dirty="0">
                <a:solidFill>
                  <a:srgbClr val="333333"/>
                </a:solidFill>
                <a:ea typeface="Calibri" pitchFamily="34" charset="-122"/>
                <a:cs typeface="Calibri" pitchFamily="34" charset="-120"/>
              </a:rPr>
              <a:t>Purchase Location</a:t>
            </a:r>
            <a:r>
              <a:rPr lang="en-US" sz="2000" dirty="0">
                <a:solidFill>
                  <a:srgbClr val="333333"/>
                </a:solidFill>
                <a:ea typeface="Calibri" pitchFamily="34" charset="-122"/>
                <a:cs typeface="Calibri" pitchFamily="34" charset="-120"/>
              </a:rPr>
              <a:t> - Azure portal. Requires an Azure subscription and resource group.</a:t>
            </a:r>
            <a:endParaRPr lang="en-US" sz="2000" dirty="0"/>
          </a:p>
        </p:txBody>
      </p:sp>
      <p:sp>
        <p:nvSpPr>
          <p:cNvPr id="13" name="Text 9"/>
          <p:cNvSpPr/>
          <p:nvPr/>
        </p:nvSpPr>
        <p:spPr>
          <a:xfrm>
            <a:off x="6339840" y="3964072"/>
            <a:ext cx="5486400" cy="365760"/>
          </a:xfrm>
          <a:prstGeom prst="rect">
            <a:avLst/>
          </a:prstGeom>
          <a:noFill/>
          <a:ln/>
        </p:spPr>
        <p:txBody>
          <a:bodyPr wrap="square" lIns="0" tIns="0" rIns="0" bIns="0" rtlCol="0" anchor="ctr"/>
          <a:lstStyle/>
          <a:p>
            <a:r>
              <a:rPr lang="en-US" sz="2000" b="1" dirty="0">
                <a:solidFill>
                  <a:srgbClr val="333333"/>
                </a:solidFill>
                <a:ea typeface="Calibri" pitchFamily="34" charset="-122"/>
                <a:cs typeface="Calibri" pitchFamily="34" charset="-120"/>
              </a:rPr>
              <a:t>Enables</a:t>
            </a:r>
            <a:endParaRPr lang="en-US" sz="2000" dirty="0"/>
          </a:p>
        </p:txBody>
      </p:sp>
      <p:sp>
        <p:nvSpPr>
          <p:cNvPr id="14" name="Text 10"/>
          <p:cNvSpPr/>
          <p:nvPr/>
        </p:nvSpPr>
        <p:spPr>
          <a:xfrm>
            <a:off x="6339840" y="4427971"/>
            <a:ext cx="5486400" cy="2316480"/>
          </a:xfrm>
          <a:prstGeom prst="rect">
            <a:avLst/>
          </a:prstGeom>
          <a:noFill/>
          <a:ln/>
        </p:spPr>
        <p:txBody>
          <a:bodyPr wrap="square" lIns="0" tIns="0" rIns="0" bIns="0" rtlCol="0" anchor="t"/>
          <a:lstStyle/>
          <a:p>
            <a:pPr marL="457189" indent="-457189">
              <a:spcAft>
                <a:spcPts val="533"/>
              </a:spcAft>
              <a:buSzPct val="100000"/>
              <a:buChar char="•"/>
            </a:pPr>
            <a:r>
              <a:rPr lang="en-US" dirty="0">
                <a:solidFill>
                  <a:srgbClr val="333333"/>
                </a:solidFill>
                <a:ea typeface="Calibri" pitchFamily="34" charset="-122"/>
                <a:cs typeface="Calibri" pitchFamily="34" charset="-120"/>
              </a:rPr>
              <a:t>Fabric artifacts</a:t>
            </a:r>
            <a:endParaRPr lang="en-US" dirty="0"/>
          </a:p>
          <a:p>
            <a:pPr marL="457189" indent="-457189">
              <a:spcAft>
                <a:spcPts val="533"/>
              </a:spcAft>
              <a:buSzPct val="100000"/>
              <a:buChar char="•"/>
            </a:pPr>
            <a:r>
              <a:rPr lang="en-US" dirty="0">
                <a:solidFill>
                  <a:srgbClr val="333333"/>
                </a:solidFill>
                <a:ea typeface="Calibri" pitchFamily="34" charset="-122"/>
                <a:cs typeface="Calibri" pitchFamily="34" charset="-120"/>
              </a:rPr>
              <a:t>&gt;= F64 SKU enables free viewers</a:t>
            </a:r>
            <a:endParaRPr lang="en-US" dirty="0"/>
          </a:p>
          <a:p>
            <a:pPr marL="457189" indent="-457189">
              <a:spcAft>
                <a:spcPts val="533"/>
              </a:spcAft>
              <a:buSzPct val="100000"/>
              <a:buChar char="•"/>
            </a:pPr>
            <a:r>
              <a:rPr lang="en-US" dirty="0">
                <a:solidFill>
                  <a:srgbClr val="333333"/>
                </a:solidFill>
                <a:ea typeface="Calibri" pitchFamily="34" charset="-122"/>
                <a:cs typeface="Calibri" pitchFamily="34" charset="-120"/>
              </a:rPr>
              <a:t>Copilot (any SKU!)</a:t>
            </a:r>
            <a:endParaRPr lang="en-US" dirty="0"/>
          </a:p>
          <a:p>
            <a:pPr marL="457189" indent="-457189">
              <a:spcAft>
                <a:spcPts val="533"/>
              </a:spcAft>
              <a:buSzPct val="100000"/>
              <a:buChar char="•"/>
            </a:pPr>
            <a:r>
              <a:rPr lang="en-US" dirty="0">
                <a:solidFill>
                  <a:srgbClr val="333333"/>
                </a:solidFill>
                <a:ea typeface="Calibri" pitchFamily="34" charset="-122"/>
                <a:cs typeface="Calibri" pitchFamily="34" charset="-120"/>
              </a:rPr>
              <a:t>Managed private endpoints</a:t>
            </a:r>
            <a:endParaRPr lang="en-US" dirty="0"/>
          </a:p>
          <a:p>
            <a:pPr marL="457189" indent="-457189">
              <a:spcAft>
                <a:spcPts val="533"/>
              </a:spcAft>
              <a:buSzPct val="100000"/>
              <a:buChar char="•"/>
            </a:pPr>
            <a:r>
              <a:rPr lang="en-US" dirty="0">
                <a:solidFill>
                  <a:srgbClr val="333333"/>
                </a:solidFill>
                <a:ea typeface="Calibri" pitchFamily="34" charset="-122"/>
                <a:cs typeface="Calibri" pitchFamily="34" charset="-120"/>
              </a:rPr>
              <a:t>On-demand resizing, pause &amp; resume capacity</a:t>
            </a:r>
            <a:endParaRPr lang="en-US" dirty="0"/>
          </a:p>
          <a:p>
            <a:pPr marL="457189" indent="-457189">
              <a:spcAft>
                <a:spcPts val="533"/>
              </a:spcAft>
              <a:buSzPct val="100000"/>
              <a:buChar char="•"/>
            </a:pPr>
            <a:r>
              <a:rPr lang="en-US" dirty="0">
                <a:solidFill>
                  <a:srgbClr val="333333"/>
                </a:solidFill>
                <a:ea typeface="Calibri" pitchFamily="34" charset="-122"/>
                <a:cs typeface="Calibri" pitchFamily="34" charset="-120"/>
              </a:rPr>
              <a:t>Trusted workspace access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2A08-1409-6EC3-24B2-098E97C8F3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45C101-1AC0-9EA0-D235-A7B5EF1F8317}"/>
              </a:ext>
            </a:extLst>
          </p:cNvPr>
          <p:cNvSpPr>
            <a:spLocks noGrp="1"/>
          </p:cNvSpPr>
          <p:nvPr>
            <p:ph type="title"/>
          </p:nvPr>
        </p:nvSpPr>
        <p:spPr>
          <a:xfrm>
            <a:off x="1146082" y="293945"/>
            <a:ext cx="9517686" cy="641060"/>
          </a:xfrm>
        </p:spPr>
        <p:txBody>
          <a:bodyPr>
            <a:normAutofit fontScale="90000"/>
          </a:bodyPr>
          <a:lstStyle/>
          <a:p>
            <a:pPr algn="ctr"/>
            <a:r>
              <a:rPr lang="en-US" dirty="0"/>
              <a:t>Fabric Capacity Pricing</a:t>
            </a:r>
          </a:p>
        </p:txBody>
      </p:sp>
      <p:sp>
        <p:nvSpPr>
          <p:cNvPr id="9" name="Title 3">
            <a:extLst>
              <a:ext uri="{FF2B5EF4-FFF2-40B4-BE49-F238E27FC236}">
                <a16:creationId xmlns:a16="http://schemas.microsoft.com/office/drawing/2014/main" id="{5F6F1D30-2121-EECD-231C-8786069D52AD}"/>
              </a:ext>
            </a:extLst>
          </p:cNvPr>
          <p:cNvSpPr txBox="1">
            <a:spLocks/>
          </p:cNvSpPr>
          <p:nvPr/>
        </p:nvSpPr>
        <p:spPr>
          <a:xfrm>
            <a:off x="748664" y="1579360"/>
            <a:ext cx="2410450" cy="441669"/>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Pay-as-you-go</a:t>
            </a:r>
          </a:p>
        </p:txBody>
      </p:sp>
      <p:sp>
        <p:nvSpPr>
          <p:cNvPr id="10" name="Title 3">
            <a:extLst>
              <a:ext uri="{FF2B5EF4-FFF2-40B4-BE49-F238E27FC236}">
                <a16:creationId xmlns:a16="http://schemas.microsoft.com/office/drawing/2014/main" id="{78DE9982-7B58-3CBE-FA8D-CEF706C57BC5}"/>
              </a:ext>
            </a:extLst>
          </p:cNvPr>
          <p:cNvSpPr txBox="1">
            <a:spLocks/>
          </p:cNvSpPr>
          <p:nvPr/>
        </p:nvSpPr>
        <p:spPr>
          <a:xfrm>
            <a:off x="748664" y="2164183"/>
            <a:ext cx="5012055" cy="4460984"/>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342900" indent="-342900">
              <a:buFont typeface="Arial" panose="020B0604020202020204" pitchFamily="34" charset="0"/>
              <a:buChar char="•"/>
            </a:pPr>
            <a:r>
              <a:rPr lang="en-US" sz="2400" dirty="0">
                <a:latin typeface="+mn-lt"/>
              </a:rPr>
              <a:t>Pausing and auto-scaling capacity</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Can be combined with a reservation to allow for auto-scaling when needed</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More expensive per hour but may be cheaper if paused</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Breaks even in cost with reserved at &lt; 14 hours a day</a:t>
            </a:r>
          </a:p>
        </p:txBody>
      </p:sp>
      <p:sp>
        <p:nvSpPr>
          <p:cNvPr id="16" name="Title 3">
            <a:extLst>
              <a:ext uri="{FF2B5EF4-FFF2-40B4-BE49-F238E27FC236}">
                <a16:creationId xmlns:a16="http://schemas.microsoft.com/office/drawing/2014/main" id="{E935C3DC-7E19-F2C8-DEDE-4CAABE99D8EB}"/>
              </a:ext>
            </a:extLst>
          </p:cNvPr>
          <p:cNvSpPr txBox="1">
            <a:spLocks/>
          </p:cNvSpPr>
          <p:nvPr/>
        </p:nvSpPr>
        <p:spPr>
          <a:xfrm>
            <a:off x="6629400" y="1579360"/>
            <a:ext cx="5211558" cy="441669"/>
          </a:xfrm>
          <a:prstGeom prst="rect">
            <a:avLst/>
          </a:prstGeom>
        </p:spPr>
        <p:txBody>
          <a:bodyPr vert="horz" lIns="0" tIns="45720" rIns="91440" bIns="45720" rtlCol="0" anchor="t">
            <a:normAutofit/>
          </a:bodyPr>
          <a:lstStyle>
            <a:defPPr>
              <a:defRPr lang="en-US"/>
            </a:defPPr>
            <a:lvl1pPr algn="ctr">
              <a:lnSpc>
                <a:spcPct val="90000"/>
              </a:lnSpc>
              <a:spcBef>
                <a:spcPct val="0"/>
              </a:spcBef>
              <a:buNone/>
              <a:defRPr sz="2000">
                <a:ea typeface="+mj-ea"/>
                <a:cs typeface="+mj-cs"/>
              </a:defRPr>
            </a:lvl1pPr>
          </a:lstStyle>
          <a:p>
            <a:pPr algn="l"/>
            <a:r>
              <a:rPr lang="en-US" sz="2400" dirty="0"/>
              <a:t>Reservation</a:t>
            </a:r>
          </a:p>
        </p:txBody>
      </p:sp>
      <p:sp>
        <p:nvSpPr>
          <p:cNvPr id="17" name="Title 3">
            <a:extLst>
              <a:ext uri="{FF2B5EF4-FFF2-40B4-BE49-F238E27FC236}">
                <a16:creationId xmlns:a16="http://schemas.microsoft.com/office/drawing/2014/main" id="{999884F9-9605-5DF8-FEEF-D5F7E0559303}"/>
              </a:ext>
            </a:extLst>
          </p:cNvPr>
          <p:cNvSpPr txBox="1">
            <a:spLocks/>
          </p:cNvSpPr>
          <p:nvPr/>
        </p:nvSpPr>
        <p:spPr>
          <a:xfrm>
            <a:off x="6629400" y="2164183"/>
            <a:ext cx="4536430" cy="3816951"/>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342900" indent="-342900">
              <a:buFont typeface="Arial" panose="020B0604020202020204" pitchFamily="34" charset="0"/>
              <a:buChar char="•"/>
            </a:pPr>
            <a:r>
              <a:rPr lang="en-US" sz="2400" dirty="0">
                <a:latin typeface="+mn-lt"/>
              </a:rPr>
              <a:t>41% discount </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Does not scale up/down nor pause</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Reservation is cheaper because you sign a year long contract for a set number of SKUs</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These SKUs can be split into multiple capacities if desired</a:t>
            </a:r>
          </a:p>
        </p:txBody>
      </p:sp>
    </p:spTree>
    <p:extLst>
      <p:ext uri="{BB962C8B-B14F-4D97-AF65-F5344CB8AC3E}">
        <p14:creationId xmlns:p14="http://schemas.microsoft.com/office/powerpoint/2010/main" val="1520760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B52FB-3EEF-DEFE-8126-49F3C65B10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205B04-525F-EB56-EA92-742241DB0ABB}"/>
              </a:ext>
            </a:extLst>
          </p:cNvPr>
          <p:cNvSpPr>
            <a:spLocks noGrp="1"/>
          </p:cNvSpPr>
          <p:nvPr>
            <p:ph type="title"/>
          </p:nvPr>
        </p:nvSpPr>
        <p:spPr>
          <a:xfrm>
            <a:off x="1146082" y="293945"/>
            <a:ext cx="10019748" cy="641060"/>
          </a:xfrm>
        </p:spPr>
        <p:txBody>
          <a:bodyPr>
            <a:normAutofit fontScale="90000"/>
          </a:bodyPr>
          <a:lstStyle/>
          <a:p>
            <a:pPr algn="ctr"/>
            <a:r>
              <a:rPr lang="en-US" dirty="0"/>
              <a:t>Breakeven Points</a:t>
            </a:r>
          </a:p>
        </p:txBody>
      </p:sp>
      <p:sp>
        <p:nvSpPr>
          <p:cNvPr id="9" name="Title 3">
            <a:extLst>
              <a:ext uri="{FF2B5EF4-FFF2-40B4-BE49-F238E27FC236}">
                <a16:creationId xmlns:a16="http://schemas.microsoft.com/office/drawing/2014/main" id="{767AC74B-0D85-57A0-E2CA-309FB7E89215}"/>
              </a:ext>
            </a:extLst>
          </p:cNvPr>
          <p:cNvSpPr txBox="1">
            <a:spLocks/>
          </p:cNvSpPr>
          <p:nvPr/>
        </p:nvSpPr>
        <p:spPr>
          <a:xfrm>
            <a:off x="6532246" y="1823086"/>
            <a:ext cx="5213984" cy="576618"/>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b="1" dirty="0">
                <a:latin typeface="+mn-lt"/>
              </a:rPr>
              <a:t>F64 Compared to Power BI</a:t>
            </a:r>
          </a:p>
        </p:txBody>
      </p:sp>
      <p:sp>
        <p:nvSpPr>
          <p:cNvPr id="10" name="Title 3">
            <a:extLst>
              <a:ext uri="{FF2B5EF4-FFF2-40B4-BE49-F238E27FC236}">
                <a16:creationId xmlns:a16="http://schemas.microsoft.com/office/drawing/2014/main" id="{D103C322-9196-AE73-8685-1D85EF4E802E}"/>
              </a:ext>
            </a:extLst>
          </p:cNvPr>
          <p:cNvSpPr txBox="1">
            <a:spLocks/>
          </p:cNvSpPr>
          <p:nvPr/>
        </p:nvSpPr>
        <p:spPr>
          <a:xfrm>
            <a:off x="748664" y="2908935"/>
            <a:ext cx="5012055" cy="3716232"/>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dirty="0">
                <a:latin typeface="+mn-lt"/>
              </a:rPr>
              <a:t>730 hours FSKU reserved </a:t>
            </a:r>
          </a:p>
          <a:p>
            <a:pPr algn="ctr"/>
            <a:r>
              <a:rPr lang="en-US" sz="2400" dirty="0">
                <a:latin typeface="+mn-lt"/>
              </a:rPr>
              <a:t>(a month) </a:t>
            </a:r>
          </a:p>
          <a:p>
            <a:pPr algn="ctr"/>
            <a:endParaRPr lang="en-US" sz="2400" dirty="0">
              <a:latin typeface="+mn-lt"/>
            </a:endParaRPr>
          </a:p>
          <a:p>
            <a:pPr algn="ctr"/>
            <a:r>
              <a:rPr lang="en-US" sz="2400" dirty="0">
                <a:latin typeface="+mn-lt"/>
              </a:rPr>
              <a:t>=  </a:t>
            </a:r>
          </a:p>
          <a:p>
            <a:pPr algn="ctr"/>
            <a:endParaRPr lang="en-US" sz="2400" dirty="0">
              <a:latin typeface="+mn-lt"/>
            </a:endParaRPr>
          </a:p>
          <a:p>
            <a:pPr algn="ctr"/>
            <a:r>
              <a:rPr lang="en-US" sz="2400" dirty="0">
                <a:latin typeface="+mn-lt"/>
              </a:rPr>
              <a:t>434 hours FSKU pay-as-you-go </a:t>
            </a:r>
          </a:p>
          <a:p>
            <a:pPr algn="ctr"/>
            <a:r>
              <a:rPr lang="en-US" sz="2400" dirty="0">
                <a:latin typeface="+mn-lt"/>
              </a:rPr>
              <a:t>(18 days) </a:t>
            </a:r>
          </a:p>
        </p:txBody>
      </p:sp>
      <p:sp>
        <p:nvSpPr>
          <p:cNvPr id="16" name="Title 3">
            <a:extLst>
              <a:ext uri="{FF2B5EF4-FFF2-40B4-BE49-F238E27FC236}">
                <a16:creationId xmlns:a16="http://schemas.microsoft.com/office/drawing/2014/main" id="{F1FEFA03-FD91-90AC-4CCE-5C9F528129F5}"/>
              </a:ext>
            </a:extLst>
          </p:cNvPr>
          <p:cNvSpPr txBox="1">
            <a:spLocks/>
          </p:cNvSpPr>
          <p:nvPr/>
        </p:nvSpPr>
        <p:spPr>
          <a:xfrm>
            <a:off x="457200" y="1823085"/>
            <a:ext cx="5852160" cy="576617"/>
          </a:xfrm>
          <a:prstGeom prst="rect">
            <a:avLst/>
          </a:prstGeom>
        </p:spPr>
        <p:txBody>
          <a:bodyPr vert="horz" lIns="0" tIns="45720" rIns="91440" bIns="45720" rtlCol="0" anchor="t">
            <a:normAutofit/>
          </a:bodyPr>
          <a:lstStyle>
            <a:defPPr>
              <a:defRPr lang="en-US"/>
            </a:defPPr>
            <a:lvl1pPr algn="ctr">
              <a:lnSpc>
                <a:spcPct val="90000"/>
              </a:lnSpc>
              <a:spcBef>
                <a:spcPct val="0"/>
              </a:spcBef>
              <a:buNone/>
              <a:defRPr sz="2000">
                <a:ea typeface="+mj-ea"/>
                <a:cs typeface="+mj-cs"/>
              </a:defRPr>
            </a:lvl1pPr>
          </a:lstStyle>
          <a:p>
            <a:r>
              <a:rPr lang="en-US" sz="2400" b="1" dirty="0"/>
              <a:t>Reserved versus pay-as-you-go</a:t>
            </a:r>
          </a:p>
        </p:txBody>
      </p:sp>
      <p:sp>
        <p:nvSpPr>
          <p:cNvPr id="17" name="Title 3">
            <a:extLst>
              <a:ext uri="{FF2B5EF4-FFF2-40B4-BE49-F238E27FC236}">
                <a16:creationId xmlns:a16="http://schemas.microsoft.com/office/drawing/2014/main" id="{57B458E0-C20F-F50F-B147-FE2F0FAF2921}"/>
              </a:ext>
            </a:extLst>
          </p:cNvPr>
          <p:cNvSpPr txBox="1">
            <a:spLocks/>
          </p:cNvSpPr>
          <p:nvPr/>
        </p:nvSpPr>
        <p:spPr>
          <a:xfrm>
            <a:off x="6629400" y="2908935"/>
            <a:ext cx="4536430" cy="3072199"/>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dirty="0">
                <a:latin typeface="+mn-lt"/>
              </a:rPr>
              <a:t>F64 </a:t>
            </a:r>
          </a:p>
          <a:p>
            <a:pPr algn="ctr"/>
            <a:r>
              <a:rPr lang="en-US" sz="2400" dirty="0">
                <a:latin typeface="+mn-lt"/>
              </a:rPr>
              <a:t>= </a:t>
            </a:r>
          </a:p>
          <a:p>
            <a:pPr algn="ctr"/>
            <a:r>
              <a:rPr lang="en-US" sz="2400" dirty="0">
                <a:latin typeface="+mn-lt"/>
              </a:rPr>
              <a:t>358 pro licenses </a:t>
            </a:r>
          </a:p>
          <a:p>
            <a:pPr algn="ctr"/>
            <a:r>
              <a:rPr lang="en-US" sz="2400" dirty="0">
                <a:latin typeface="+mn-lt"/>
              </a:rPr>
              <a:t>= </a:t>
            </a:r>
          </a:p>
          <a:p>
            <a:pPr algn="ctr"/>
            <a:r>
              <a:rPr lang="en-US" sz="2400" dirty="0">
                <a:latin typeface="+mn-lt"/>
              </a:rPr>
              <a:t>209 </a:t>
            </a:r>
            <a:r>
              <a:rPr lang="en-US" sz="2400" dirty="0" err="1">
                <a:latin typeface="+mn-lt"/>
              </a:rPr>
              <a:t>ppu</a:t>
            </a:r>
            <a:r>
              <a:rPr lang="en-US" sz="2400" dirty="0">
                <a:latin typeface="+mn-lt"/>
              </a:rPr>
              <a:t> licenses</a:t>
            </a:r>
          </a:p>
          <a:p>
            <a:pPr algn="ctr"/>
            <a:endParaRPr lang="en-US" sz="2400" dirty="0">
              <a:latin typeface="+mn-lt"/>
            </a:endParaRPr>
          </a:p>
        </p:txBody>
      </p:sp>
    </p:spTree>
    <p:extLst>
      <p:ext uri="{BB962C8B-B14F-4D97-AF65-F5344CB8AC3E}">
        <p14:creationId xmlns:p14="http://schemas.microsoft.com/office/powerpoint/2010/main" val="940224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9606-1201-4182-0F39-68D75463A4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06C57E-7A79-83C1-D373-B43A373FBCF3}"/>
              </a:ext>
            </a:extLst>
          </p:cNvPr>
          <p:cNvSpPr>
            <a:spLocks noGrp="1"/>
          </p:cNvSpPr>
          <p:nvPr>
            <p:ph type="title"/>
          </p:nvPr>
        </p:nvSpPr>
        <p:spPr>
          <a:xfrm>
            <a:off x="1146082" y="293945"/>
            <a:ext cx="9564252" cy="641060"/>
          </a:xfrm>
        </p:spPr>
        <p:txBody>
          <a:bodyPr>
            <a:normAutofit fontScale="90000"/>
          </a:bodyPr>
          <a:lstStyle/>
          <a:p>
            <a:pPr algn="ctr"/>
            <a:r>
              <a:rPr lang="en-US" dirty="0"/>
              <a:t>Picking out a Fabric SKU</a:t>
            </a:r>
          </a:p>
        </p:txBody>
      </p:sp>
      <p:sp>
        <p:nvSpPr>
          <p:cNvPr id="10" name="Title 3">
            <a:extLst>
              <a:ext uri="{FF2B5EF4-FFF2-40B4-BE49-F238E27FC236}">
                <a16:creationId xmlns:a16="http://schemas.microsoft.com/office/drawing/2014/main" id="{7CF1C055-4267-AD1C-EE3C-C0B915ACE389}"/>
              </a:ext>
            </a:extLst>
          </p:cNvPr>
          <p:cNvSpPr txBox="1">
            <a:spLocks/>
          </p:cNvSpPr>
          <p:nvPr/>
        </p:nvSpPr>
        <p:spPr>
          <a:xfrm>
            <a:off x="412018" y="1485900"/>
            <a:ext cx="6365972" cy="5078155"/>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Use a Fabric Trial!  </a:t>
            </a:r>
            <a:br>
              <a:rPr lang="en-US" sz="2400" dirty="0">
                <a:latin typeface="+mn-lt"/>
              </a:rPr>
            </a:br>
            <a:endParaRPr lang="en-US" sz="2400" dirty="0">
              <a:latin typeface="+mn-lt"/>
            </a:endParaRPr>
          </a:p>
          <a:p>
            <a:r>
              <a:rPr lang="en-US" sz="2400" dirty="0">
                <a:latin typeface="+mn-lt"/>
              </a:rPr>
              <a:t>60 days of free F64 usage</a:t>
            </a:r>
            <a:br>
              <a:rPr lang="en-US" sz="2400" dirty="0">
                <a:latin typeface="+mn-lt"/>
              </a:rPr>
            </a:br>
            <a:endParaRPr lang="en-US" sz="2400" dirty="0">
              <a:latin typeface="+mn-lt"/>
            </a:endParaRPr>
          </a:p>
          <a:p>
            <a:r>
              <a:rPr lang="en-US" sz="2400" dirty="0">
                <a:latin typeface="+mn-lt"/>
              </a:rPr>
              <a:t>Aim for maximum 80% of capacity</a:t>
            </a:r>
            <a:br>
              <a:rPr lang="en-US" sz="2400" dirty="0">
                <a:latin typeface="+mn-lt"/>
              </a:rPr>
            </a:br>
            <a:endParaRPr lang="en-US" sz="2400" dirty="0">
              <a:latin typeface="+mn-lt"/>
            </a:endParaRPr>
          </a:p>
          <a:p>
            <a:r>
              <a:rPr lang="en-US" sz="2400" dirty="0">
                <a:latin typeface="+mn-lt"/>
              </a:rPr>
              <a:t>Multiple </a:t>
            </a:r>
            <a:r>
              <a:rPr lang="en-US" sz="2400" b="1" dirty="0">
                <a:latin typeface="+mn-lt"/>
              </a:rPr>
              <a:t>developers</a:t>
            </a:r>
            <a:r>
              <a:rPr lang="en-US" sz="2400" dirty="0">
                <a:latin typeface="+mn-lt"/>
              </a:rPr>
              <a:t>? Min rec SKU is F8</a:t>
            </a:r>
            <a:br>
              <a:rPr lang="en-US" sz="2400" dirty="0">
                <a:latin typeface="+mn-lt"/>
              </a:rPr>
            </a:br>
            <a:endParaRPr lang="en-US" sz="2400" dirty="0">
              <a:latin typeface="+mn-lt"/>
            </a:endParaRPr>
          </a:p>
          <a:p>
            <a:r>
              <a:rPr lang="en-US" sz="2400" dirty="0">
                <a:latin typeface="+mn-lt"/>
              </a:rPr>
              <a:t>Multiple </a:t>
            </a:r>
            <a:r>
              <a:rPr lang="en-US" sz="2400" b="1" dirty="0">
                <a:latin typeface="+mn-lt"/>
              </a:rPr>
              <a:t>data sources</a:t>
            </a:r>
            <a:r>
              <a:rPr lang="en-US" sz="2400" dirty="0">
                <a:latin typeface="+mn-lt"/>
              </a:rPr>
              <a:t> to ingest? Min rec SKU is F16</a:t>
            </a:r>
            <a:br>
              <a:rPr lang="en-US" sz="2400" dirty="0">
                <a:latin typeface="+mn-lt"/>
              </a:rPr>
            </a:br>
            <a:endParaRPr lang="en-US" sz="2400" dirty="0">
              <a:latin typeface="+mn-lt"/>
            </a:endParaRPr>
          </a:p>
          <a:p>
            <a:r>
              <a:rPr lang="en-US" sz="2400" dirty="0">
                <a:latin typeface="+mn-lt"/>
              </a:rPr>
              <a:t>A lot of </a:t>
            </a:r>
            <a:r>
              <a:rPr lang="en-US" sz="2400" b="1" dirty="0">
                <a:latin typeface="+mn-lt"/>
              </a:rPr>
              <a:t>report viewers</a:t>
            </a:r>
            <a:r>
              <a:rPr lang="en-US" sz="2400" dirty="0">
                <a:latin typeface="+mn-lt"/>
              </a:rPr>
              <a:t>? Consider a F64 for free viewer licensing (discussed more in upcoming slides)</a:t>
            </a:r>
            <a:br>
              <a:rPr lang="en-US" sz="2400" dirty="0">
                <a:latin typeface="+mn-lt"/>
              </a:rPr>
            </a:br>
            <a:endParaRPr lang="en-US" sz="2400" dirty="0">
              <a:latin typeface="+mn-lt"/>
            </a:endParaRPr>
          </a:p>
          <a:p>
            <a:r>
              <a:rPr lang="en-US" sz="2400" b="1" dirty="0">
                <a:latin typeface="+mn-lt"/>
              </a:rPr>
              <a:t>Environment</a:t>
            </a:r>
            <a:r>
              <a:rPr lang="en-US" sz="2400" dirty="0">
                <a:latin typeface="+mn-lt"/>
              </a:rPr>
              <a:t> concerns? Use diff capacities for dev, test, prod</a:t>
            </a:r>
          </a:p>
        </p:txBody>
      </p:sp>
      <p:pic>
        <p:nvPicPr>
          <p:cNvPr id="6" name="Picture 5">
            <a:extLst>
              <a:ext uri="{FF2B5EF4-FFF2-40B4-BE49-F238E27FC236}">
                <a16:creationId xmlns:a16="http://schemas.microsoft.com/office/drawing/2014/main" id="{963A8A51-9486-6219-6E8F-16CD5A615CD7}"/>
              </a:ext>
            </a:extLst>
          </p:cNvPr>
          <p:cNvPicPr>
            <a:picLocks noChangeAspect="1"/>
          </p:cNvPicPr>
          <p:nvPr/>
        </p:nvPicPr>
        <p:blipFill>
          <a:blip r:embed="rId3"/>
          <a:stretch>
            <a:fillRect/>
          </a:stretch>
        </p:blipFill>
        <p:spPr>
          <a:xfrm>
            <a:off x="6852285" y="1346911"/>
            <a:ext cx="4927698" cy="5210491"/>
          </a:xfrm>
          <a:prstGeom prst="rect">
            <a:avLst/>
          </a:prstGeom>
        </p:spPr>
      </p:pic>
    </p:spTree>
    <p:extLst>
      <p:ext uri="{BB962C8B-B14F-4D97-AF65-F5344CB8AC3E}">
        <p14:creationId xmlns:p14="http://schemas.microsoft.com/office/powerpoint/2010/main" val="132247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4BE8-91AE-6F37-C1CC-8BD134B9DFE7}"/>
            </a:ext>
          </a:extLst>
        </p:cNvPr>
        <p:cNvGrpSpPr/>
        <p:nvPr/>
      </p:nvGrpSpPr>
      <p:grpSpPr>
        <a:xfrm>
          <a:off x="0" y="0"/>
          <a:ext cx="0" cy="0"/>
          <a:chOff x="0" y="0"/>
          <a:chExt cx="0" cy="0"/>
        </a:xfrm>
      </p:grpSpPr>
      <p:sp>
        <p:nvSpPr>
          <p:cNvPr id="21" name="Rectangle Tenant">
            <a:extLst>
              <a:ext uri="{FF2B5EF4-FFF2-40B4-BE49-F238E27FC236}">
                <a16:creationId xmlns:a16="http://schemas.microsoft.com/office/drawing/2014/main" id="{101797E8-4EA6-DC37-1424-CCABB71AC82E}"/>
              </a:ext>
            </a:extLst>
          </p:cNvPr>
          <p:cNvSpPr/>
          <p:nvPr/>
        </p:nvSpPr>
        <p:spPr>
          <a:xfrm>
            <a:off x="379245" y="1358943"/>
            <a:ext cx="4224752" cy="2184514"/>
          </a:xfrm>
          <a:prstGeom prst="rect">
            <a:avLst/>
          </a:prstGeom>
          <a:solidFill>
            <a:schemeClr val="bg1">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2EBDC9D-2C90-DB37-A5CC-91D6E5D14057}"/>
              </a:ext>
            </a:extLst>
          </p:cNvPr>
          <p:cNvSpPr>
            <a:spLocks noGrp="1"/>
          </p:cNvSpPr>
          <p:nvPr>
            <p:ph type="title"/>
          </p:nvPr>
        </p:nvSpPr>
        <p:spPr>
          <a:xfrm>
            <a:off x="1146082" y="293945"/>
            <a:ext cx="9678552" cy="641060"/>
          </a:xfrm>
        </p:spPr>
        <p:txBody>
          <a:bodyPr>
            <a:normAutofit fontScale="90000"/>
          </a:bodyPr>
          <a:lstStyle/>
          <a:p>
            <a:pPr algn="ctr"/>
            <a:r>
              <a:rPr lang="en-US" dirty="0"/>
              <a:t>How Do Reservations Work?</a:t>
            </a:r>
          </a:p>
        </p:txBody>
      </p:sp>
      <p:sp>
        <p:nvSpPr>
          <p:cNvPr id="10" name="Title 3">
            <a:extLst>
              <a:ext uri="{FF2B5EF4-FFF2-40B4-BE49-F238E27FC236}">
                <a16:creationId xmlns:a16="http://schemas.microsoft.com/office/drawing/2014/main" id="{5E149D8E-7DFF-2261-C034-BF9A5432AB2B}"/>
              </a:ext>
            </a:extLst>
          </p:cNvPr>
          <p:cNvSpPr txBox="1">
            <a:spLocks/>
          </p:cNvSpPr>
          <p:nvPr/>
        </p:nvSpPr>
        <p:spPr>
          <a:xfrm>
            <a:off x="5257800" y="1404257"/>
            <a:ext cx="6187665" cy="5319191"/>
          </a:xfrm>
          <a:prstGeom prst="rect">
            <a:avLst/>
          </a:prstGeom>
        </p:spPr>
        <p:txBody>
          <a:bodyPr vert="horz" lIns="0" tIns="45720" rIns="91440" bIns="45720" numCol="1"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Annual contract with Microsoft for a 41% discount on F SKUs. </a:t>
            </a:r>
          </a:p>
          <a:p>
            <a:br>
              <a:rPr lang="en-US" sz="2400" dirty="0">
                <a:latin typeface="+mn-lt"/>
              </a:rPr>
            </a:br>
            <a:br>
              <a:rPr lang="en-US" sz="2400" dirty="0">
                <a:latin typeface="+mn-lt"/>
              </a:rPr>
            </a:br>
            <a:r>
              <a:rPr lang="en-US" sz="2400" dirty="0">
                <a:latin typeface="+mn-lt"/>
              </a:rPr>
              <a:t>Can be paid monthly or upfront.</a:t>
            </a:r>
          </a:p>
          <a:p>
            <a:br>
              <a:rPr lang="en-US" sz="2400" dirty="0">
                <a:latin typeface="+mn-lt"/>
              </a:rPr>
            </a:br>
            <a:br>
              <a:rPr lang="en-US" sz="2400" dirty="0">
                <a:latin typeface="+mn-lt"/>
              </a:rPr>
            </a:br>
            <a:r>
              <a:rPr lang="en-US" sz="2400" dirty="0">
                <a:latin typeface="+mn-lt"/>
              </a:rPr>
              <a:t>These SKUs can be split into multiple capacities or all used within one capacity. </a:t>
            </a:r>
          </a:p>
          <a:p>
            <a:br>
              <a:rPr lang="en-US" sz="2400" dirty="0">
                <a:latin typeface="+mn-lt"/>
              </a:rPr>
            </a:br>
            <a:br>
              <a:rPr lang="en-US" sz="2400" dirty="0">
                <a:latin typeface="+mn-lt"/>
              </a:rPr>
            </a:br>
            <a:r>
              <a:rPr lang="en-US" sz="2400" dirty="0">
                <a:latin typeface="+mn-lt"/>
              </a:rPr>
              <a:t>You pay for all the SKUs even if they are not assigned to a capacity, so it is best to use them all. </a:t>
            </a:r>
          </a:p>
          <a:p>
            <a:endParaRPr lang="en-US" sz="2400" dirty="0">
              <a:latin typeface="+mn-lt"/>
            </a:endParaRPr>
          </a:p>
          <a:p>
            <a:endParaRPr lang="en-US" sz="2400" dirty="0">
              <a:latin typeface="+mn-lt"/>
            </a:endParaRPr>
          </a:p>
          <a:p>
            <a:r>
              <a:rPr lang="en-US" sz="2400" dirty="0">
                <a:latin typeface="+mn-lt"/>
              </a:rPr>
              <a:t>You can get cancel, exchange, or refund reservations with certain </a:t>
            </a:r>
            <a:r>
              <a:rPr lang="en-US" sz="2400" dirty="0">
                <a:solidFill>
                  <a:schemeClr val="accent1"/>
                </a:solidFill>
                <a:latin typeface="+mn-lt"/>
                <a:hlinkClick r:id="rId3">
                  <a:extLst>
                    <a:ext uri="{A12FA001-AC4F-418D-AE19-62706E023703}">
                      <ahyp:hlinkClr xmlns:ahyp="http://schemas.microsoft.com/office/drawing/2018/hyperlinkcolor" val="tx"/>
                    </a:ext>
                  </a:extLst>
                </a:hlinkClick>
              </a:rPr>
              <a:t>limitations</a:t>
            </a:r>
            <a:endParaRPr lang="en-US" sz="2000" dirty="0">
              <a:solidFill>
                <a:schemeClr val="accent1"/>
              </a:solidFill>
              <a:latin typeface="+mn-lt"/>
            </a:endParaRPr>
          </a:p>
        </p:txBody>
      </p:sp>
      <p:sp>
        <p:nvSpPr>
          <p:cNvPr id="5" name="Rectangle Paid Cap">
            <a:extLst>
              <a:ext uri="{FF2B5EF4-FFF2-40B4-BE49-F238E27FC236}">
                <a16:creationId xmlns:a16="http://schemas.microsoft.com/office/drawing/2014/main" id="{CABEBDDA-5A5E-96B2-3627-D7C76E8BBDB1}"/>
              </a:ext>
            </a:extLst>
          </p:cNvPr>
          <p:cNvSpPr/>
          <p:nvPr/>
        </p:nvSpPr>
        <p:spPr>
          <a:xfrm>
            <a:off x="579333" y="2374541"/>
            <a:ext cx="1817517" cy="449594"/>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Paid Cap">
            <a:extLst>
              <a:ext uri="{FF2B5EF4-FFF2-40B4-BE49-F238E27FC236}">
                <a16:creationId xmlns:a16="http://schemas.microsoft.com/office/drawing/2014/main" id="{8B0BBDFE-5741-2BAD-EB66-4AE07AD4139C}"/>
              </a:ext>
            </a:extLst>
          </p:cNvPr>
          <p:cNvSpPr txBox="1">
            <a:spLocks/>
          </p:cNvSpPr>
          <p:nvPr/>
        </p:nvSpPr>
        <p:spPr>
          <a:xfrm>
            <a:off x="653144" y="2415353"/>
            <a:ext cx="1700716" cy="408781"/>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1 | F16</a:t>
            </a:r>
          </a:p>
        </p:txBody>
      </p:sp>
      <p:sp>
        <p:nvSpPr>
          <p:cNvPr id="26" name="Rectangle Paid Cap">
            <a:extLst>
              <a:ext uri="{FF2B5EF4-FFF2-40B4-BE49-F238E27FC236}">
                <a16:creationId xmlns:a16="http://schemas.microsoft.com/office/drawing/2014/main" id="{2AD1E4F7-2DBA-E8C2-9260-D715AD5525D1}"/>
              </a:ext>
            </a:extLst>
          </p:cNvPr>
          <p:cNvSpPr/>
          <p:nvPr/>
        </p:nvSpPr>
        <p:spPr>
          <a:xfrm>
            <a:off x="2593212" y="2353950"/>
            <a:ext cx="1817517" cy="1032304"/>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Paid Cap">
            <a:extLst>
              <a:ext uri="{FF2B5EF4-FFF2-40B4-BE49-F238E27FC236}">
                <a16:creationId xmlns:a16="http://schemas.microsoft.com/office/drawing/2014/main" id="{98487582-5D07-7F43-1E15-39E165EFAAEA}"/>
              </a:ext>
            </a:extLst>
          </p:cNvPr>
          <p:cNvSpPr txBox="1">
            <a:spLocks/>
          </p:cNvSpPr>
          <p:nvPr/>
        </p:nvSpPr>
        <p:spPr>
          <a:xfrm>
            <a:off x="2636202" y="2389639"/>
            <a:ext cx="1731536" cy="408781"/>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3 | F32</a:t>
            </a:r>
          </a:p>
        </p:txBody>
      </p:sp>
      <p:sp>
        <p:nvSpPr>
          <p:cNvPr id="33" name="Rectangle Paid Cap">
            <a:extLst>
              <a:ext uri="{FF2B5EF4-FFF2-40B4-BE49-F238E27FC236}">
                <a16:creationId xmlns:a16="http://schemas.microsoft.com/office/drawing/2014/main" id="{49466FB1-0F71-2098-6514-783E76B7CAFA}"/>
              </a:ext>
            </a:extLst>
          </p:cNvPr>
          <p:cNvSpPr/>
          <p:nvPr/>
        </p:nvSpPr>
        <p:spPr>
          <a:xfrm>
            <a:off x="579333" y="2936658"/>
            <a:ext cx="1817517" cy="449595"/>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Paid Cap">
            <a:extLst>
              <a:ext uri="{FF2B5EF4-FFF2-40B4-BE49-F238E27FC236}">
                <a16:creationId xmlns:a16="http://schemas.microsoft.com/office/drawing/2014/main" id="{379C1A01-D09E-E668-B538-FF2F547E20D2}"/>
              </a:ext>
            </a:extLst>
          </p:cNvPr>
          <p:cNvSpPr txBox="1">
            <a:spLocks/>
          </p:cNvSpPr>
          <p:nvPr/>
        </p:nvSpPr>
        <p:spPr>
          <a:xfrm>
            <a:off x="653144" y="2967723"/>
            <a:ext cx="1743706" cy="479607"/>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2 | F16</a:t>
            </a:r>
          </a:p>
        </p:txBody>
      </p:sp>
      <p:sp>
        <p:nvSpPr>
          <p:cNvPr id="38" name="Rectangle Tenant">
            <a:extLst>
              <a:ext uri="{FF2B5EF4-FFF2-40B4-BE49-F238E27FC236}">
                <a16:creationId xmlns:a16="http://schemas.microsoft.com/office/drawing/2014/main" id="{EFCEE517-00B7-9D5B-AA9C-20F767913905}"/>
              </a:ext>
            </a:extLst>
          </p:cNvPr>
          <p:cNvSpPr/>
          <p:nvPr/>
        </p:nvSpPr>
        <p:spPr>
          <a:xfrm>
            <a:off x="379244" y="3855127"/>
            <a:ext cx="4224751" cy="2630496"/>
          </a:xfrm>
          <a:prstGeom prst="rect">
            <a:avLst/>
          </a:prstGeom>
          <a:solidFill>
            <a:schemeClr val="bg1">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Paid Cap">
            <a:extLst>
              <a:ext uri="{FF2B5EF4-FFF2-40B4-BE49-F238E27FC236}">
                <a16:creationId xmlns:a16="http://schemas.microsoft.com/office/drawing/2014/main" id="{E4610D8D-8616-C353-688A-5DA90B4A59A3}"/>
              </a:ext>
            </a:extLst>
          </p:cNvPr>
          <p:cNvSpPr txBox="1">
            <a:spLocks/>
          </p:cNvSpPr>
          <p:nvPr/>
        </p:nvSpPr>
        <p:spPr>
          <a:xfrm>
            <a:off x="746534" y="3963919"/>
            <a:ext cx="3477123" cy="727598"/>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000" dirty="0">
                <a:latin typeface="+mn-lt"/>
              </a:rPr>
              <a:t>Reservation </a:t>
            </a:r>
            <a:r>
              <a:rPr lang="en-US" sz="2000" b="1" dirty="0">
                <a:latin typeface="+mn-lt"/>
              </a:rPr>
              <a:t>Scenario 2</a:t>
            </a:r>
            <a:r>
              <a:rPr lang="en-US" sz="2000" dirty="0">
                <a:latin typeface="+mn-lt"/>
              </a:rPr>
              <a:t> </a:t>
            </a:r>
            <a:br>
              <a:rPr lang="en-US" sz="2000" dirty="0">
                <a:latin typeface="+mn-lt"/>
              </a:rPr>
            </a:br>
            <a:r>
              <a:rPr lang="en-US" sz="2000" dirty="0">
                <a:latin typeface="+mn-lt"/>
              </a:rPr>
              <a:t>F64 one capacity</a:t>
            </a:r>
          </a:p>
        </p:txBody>
      </p:sp>
      <p:sp>
        <p:nvSpPr>
          <p:cNvPr id="44" name="Rectangle Paid Cap">
            <a:extLst>
              <a:ext uri="{FF2B5EF4-FFF2-40B4-BE49-F238E27FC236}">
                <a16:creationId xmlns:a16="http://schemas.microsoft.com/office/drawing/2014/main" id="{D3F95913-EE4D-FE44-7D4B-6C7B81A8EFFF}"/>
              </a:ext>
            </a:extLst>
          </p:cNvPr>
          <p:cNvSpPr/>
          <p:nvPr/>
        </p:nvSpPr>
        <p:spPr>
          <a:xfrm>
            <a:off x="579333" y="4691517"/>
            <a:ext cx="3831396" cy="1605288"/>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itle Paid Cap">
            <a:extLst>
              <a:ext uri="{FF2B5EF4-FFF2-40B4-BE49-F238E27FC236}">
                <a16:creationId xmlns:a16="http://schemas.microsoft.com/office/drawing/2014/main" id="{FF0CA745-1254-8188-9A14-807F25C9CCD4}"/>
              </a:ext>
            </a:extLst>
          </p:cNvPr>
          <p:cNvSpPr txBox="1">
            <a:spLocks/>
          </p:cNvSpPr>
          <p:nvPr/>
        </p:nvSpPr>
        <p:spPr>
          <a:xfrm>
            <a:off x="789561" y="4762787"/>
            <a:ext cx="2628466" cy="592455"/>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1 | F64*</a:t>
            </a:r>
          </a:p>
        </p:txBody>
      </p:sp>
      <p:sp>
        <p:nvSpPr>
          <p:cNvPr id="52" name="Title Paid Cap">
            <a:extLst>
              <a:ext uri="{FF2B5EF4-FFF2-40B4-BE49-F238E27FC236}">
                <a16:creationId xmlns:a16="http://schemas.microsoft.com/office/drawing/2014/main" id="{A2E68694-A40D-491E-E893-422A0655696D}"/>
              </a:ext>
            </a:extLst>
          </p:cNvPr>
          <p:cNvSpPr txBox="1">
            <a:spLocks/>
          </p:cNvSpPr>
          <p:nvPr/>
        </p:nvSpPr>
        <p:spPr>
          <a:xfrm>
            <a:off x="579333" y="1476193"/>
            <a:ext cx="3831396" cy="720553"/>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000" dirty="0">
                <a:latin typeface="+mn-lt"/>
              </a:rPr>
              <a:t>Reservation </a:t>
            </a:r>
            <a:r>
              <a:rPr lang="en-US" sz="2000" b="1" dirty="0">
                <a:latin typeface="+mn-lt"/>
              </a:rPr>
              <a:t>Scenario 1</a:t>
            </a:r>
            <a:r>
              <a:rPr lang="en-US" sz="2000" dirty="0">
                <a:latin typeface="+mn-lt"/>
              </a:rPr>
              <a:t> </a:t>
            </a:r>
            <a:br>
              <a:rPr lang="en-US" sz="2000" dirty="0">
                <a:latin typeface="+mn-lt"/>
              </a:rPr>
            </a:br>
            <a:r>
              <a:rPr lang="en-US" sz="2000" dirty="0">
                <a:latin typeface="+mn-lt"/>
              </a:rPr>
              <a:t>F64 split</a:t>
            </a:r>
          </a:p>
        </p:txBody>
      </p:sp>
      <p:sp>
        <p:nvSpPr>
          <p:cNvPr id="53" name="Title Fab Work">
            <a:extLst>
              <a:ext uri="{FF2B5EF4-FFF2-40B4-BE49-F238E27FC236}">
                <a16:creationId xmlns:a16="http://schemas.microsoft.com/office/drawing/2014/main" id="{6036D3C1-7BFC-DAB1-800B-535CB491258D}"/>
              </a:ext>
            </a:extLst>
          </p:cNvPr>
          <p:cNvSpPr txBox="1">
            <a:spLocks/>
          </p:cNvSpPr>
          <p:nvPr/>
        </p:nvSpPr>
        <p:spPr>
          <a:xfrm>
            <a:off x="746534" y="5140180"/>
            <a:ext cx="3664195" cy="1605288"/>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dirty="0">
                <a:latin typeface="+mn-lt"/>
              </a:rPr>
              <a:t>* These workspaces get the benefits of an F64 capacity (Copilot, free license viewing, and AI skills)</a:t>
            </a:r>
          </a:p>
        </p:txBody>
      </p:sp>
    </p:spTree>
    <p:extLst>
      <p:ext uri="{BB962C8B-B14F-4D97-AF65-F5344CB8AC3E}">
        <p14:creationId xmlns:p14="http://schemas.microsoft.com/office/powerpoint/2010/main" val="3560228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D56F-6455-DB57-E022-4F55A5EBA6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5065010-101B-A31C-F40D-A3351F0A6F5F}"/>
              </a:ext>
            </a:extLst>
          </p:cNvPr>
          <p:cNvSpPr>
            <a:spLocks noGrp="1"/>
          </p:cNvSpPr>
          <p:nvPr>
            <p:ph type="title"/>
          </p:nvPr>
        </p:nvSpPr>
        <p:spPr>
          <a:xfrm>
            <a:off x="466287" y="293945"/>
            <a:ext cx="11390768" cy="641060"/>
          </a:xfrm>
        </p:spPr>
        <p:txBody>
          <a:bodyPr>
            <a:noAutofit/>
          </a:bodyPr>
          <a:lstStyle/>
          <a:p>
            <a:pPr algn="ctr"/>
            <a:r>
              <a:rPr lang="en-US" sz="4000" dirty="0"/>
              <a:t>How-To Purchase Capacity Reservation </a:t>
            </a:r>
          </a:p>
        </p:txBody>
      </p:sp>
      <p:sp>
        <p:nvSpPr>
          <p:cNvPr id="2" name="Title 3">
            <a:extLst>
              <a:ext uri="{FF2B5EF4-FFF2-40B4-BE49-F238E27FC236}">
                <a16:creationId xmlns:a16="http://schemas.microsoft.com/office/drawing/2014/main" id="{AA46D335-7878-2A21-A902-82B718386F6E}"/>
              </a:ext>
            </a:extLst>
          </p:cNvPr>
          <p:cNvSpPr txBox="1">
            <a:spLocks/>
          </p:cNvSpPr>
          <p:nvPr/>
        </p:nvSpPr>
        <p:spPr>
          <a:xfrm>
            <a:off x="377257" y="1062224"/>
            <a:ext cx="10961303" cy="548494"/>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i="1" dirty="0">
                <a:latin typeface="+mn-lt"/>
              </a:rPr>
              <a:t>portal.azure.com &gt; Reservations &gt; Microsoft Fabric</a:t>
            </a:r>
            <a:endParaRPr lang="en-US" sz="3200" i="1" dirty="0">
              <a:latin typeface="+mn-lt"/>
            </a:endParaRPr>
          </a:p>
        </p:txBody>
      </p:sp>
      <p:sp>
        <p:nvSpPr>
          <p:cNvPr id="9" name="Title 3">
            <a:extLst>
              <a:ext uri="{FF2B5EF4-FFF2-40B4-BE49-F238E27FC236}">
                <a16:creationId xmlns:a16="http://schemas.microsoft.com/office/drawing/2014/main" id="{B6A5E241-A85F-AB7B-B43E-2A65CAE1E13F}"/>
              </a:ext>
            </a:extLst>
          </p:cNvPr>
          <p:cNvSpPr txBox="1">
            <a:spLocks/>
          </p:cNvSpPr>
          <p:nvPr/>
        </p:nvSpPr>
        <p:spPr>
          <a:xfrm>
            <a:off x="268289" y="1872759"/>
            <a:ext cx="3751955" cy="441669"/>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800" dirty="0">
                <a:latin typeface="+mn-lt"/>
              </a:rPr>
              <a:t>Prerequisites</a:t>
            </a:r>
          </a:p>
        </p:txBody>
      </p:sp>
      <p:sp>
        <p:nvSpPr>
          <p:cNvPr id="10" name="Title 3">
            <a:extLst>
              <a:ext uri="{FF2B5EF4-FFF2-40B4-BE49-F238E27FC236}">
                <a16:creationId xmlns:a16="http://schemas.microsoft.com/office/drawing/2014/main" id="{4BB3AE77-A36C-83C1-8EA8-760E45C41234}"/>
              </a:ext>
            </a:extLst>
          </p:cNvPr>
          <p:cNvSpPr txBox="1">
            <a:spLocks/>
          </p:cNvSpPr>
          <p:nvPr/>
        </p:nvSpPr>
        <p:spPr>
          <a:xfrm>
            <a:off x="368209" y="2394717"/>
            <a:ext cx="3678839" cy="3816951"/>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342900" indent="-342900">
              <a:buFont typeface="Arial" panose="020B0604020202020204" pitchFamily="34" charset="0"/>
              <a:buChar char="•"/>
            </a:pPr>
            <a:r>
              <a:rPr lang="en-US" sz="2400" dirty="0">
                <a:latin typeface="+mn-lt"/>
              </a:rPr>
              <a:t>Azure Subscription (method for paying)</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Azure Resource Group (tool for grouping your Azure resources)</a:t>
            </a:r>
            <a:br>
              <a:rPr lang="en-US" sz="2400" dirty="0">
                <a:latin typeface="+mn-lt"/>
              </a:rPr>
            </a:br>
            <a:endParaRPr lang="en-US" sz="2400" dirty="0">
              <a:latin typeface="+mn-lt"/>
            </a:endParaRPr>
          </a:p>
          <a:p>
            <a:pPr marL="342900" indent="-342900">
              <a:buFont typeface="Arial" panose="020B0604020202020204" pitchFamily="34" charset="0"/>
              <a:buChar char="•"/>
            </a:pPr>
            <a:r>
              <a:rPr lang="en-US" sz="2400" dirty="0">
                <a:latin typeface="+mn-lt"/>
              </a:rPr>
              <a:t>Must have owner role or reservation purchaser role on an Azure subscription</a:t>
            </a:r>
          </a:p>
          <a:p>
            <a:pPr marL="342900" indent="-342900">
              <a:buFont typeface="Arial" panose="020B0604020202020204" pitchFamily="34" charset="0"/>
              <a:buChar char="•"/>
            </a:pPr>
            <a:endParaRPr lang="en-US" sz="2400" dirty="0">
              <a:latin typeface="+mn-lt"/>
            </a:endParaRPr>
          </a:p>
        </p:txBody>
      </p:sp>
      <p:pic>
        <p:nvPicPr>
          <p:cNvPr id="13" name="Picture 12">
            <a:extLst>
              <a:ext uri="{FF2B5EF4-FFF2-40B4-BE49-F238E27FC236}">
                <a16:creationId xmlns:a16="http://schemas.microsoft.com/office/drawing/2014/main" id="{9DF1B0A6-9AE4-3451-D2B9-F2046175E4DA}"/>
              </a:ext>
            </a:extLst>
          </p:cNvPr>
          <p:cNvPicPr>
            <a:picLocks noChangeAspect="1"/>
          </p:cNvPicPr>
          <p:nvPr/>
        </p:nvPicPr>
        <p:blipFill>
          <a:blip r:embed="rId3"/>
          <a:srcRect t="7651" b="20242"/>
          <a:stretch/>
        </p:blipFill>
        <p:spPr>
          <a:xfrm>
            <a:off x="4274068" y="1667289"/>
            <a:ext cx="7649643" cy="4574859"/>
          </a:xfrm>
          <a:prstGeom prst="rect">
            <a:avLst/>
          </a:prstGeom>
        </p:spPr>
      </p:pic>
    </p:spTree>
    <p:extLst>
      <p:ext uri="{BB962C8B-B14F-4D97-AF65-F5344CB8AC3E}">
        <p14:creationId xmlns:p14="http://schemas.microsoft.com/office/powerpoint/2010/main" val="1899300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89DB4-EA6F-2E3E-F5DF-71508C7AC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092310-8189-7D57-9FF1-BAD04B711EA6}"/>
              </a:ext>
            </a:extLst>
          </p:cNvPr>
          <p:cNvSpPr>
            <a:spLocks noGrp="1"/>
          </p:cNvSpPr>
          <p:nvPr>
            <p:ph type="title"/>
          </p:nvPr>
        </p:nvSpPr>
        <p:spPr>
          <a:xfrm>
            <a:off x="0" y="365125"/>
            <a:ext cx="12188952" cy="1325563"/>
          </a:xfrm>
        </p:spPr>
        <p:txBody>
          <a:bodyPr vert="horz" lIns="91440" tIns="45720" rIns="91440" bIns="45720" rtlCol="0" anchor="ctr">
            <a:normAutofit/>
          </a:bodyPr>
          <a:lstStyle/>
          <a:p>
            <a:pPr algn="ctr"/>
            <a:r>
              <a:rPr lang="en-US" sz="4000" kern="1200" dirty="0">
                <a:solidFill>
                  <a:schemeClr val="tx1"/>
                </a:solidFill>
                <a:latin typeface="+mj-lt"/>
                <a:ea typeface="+mj-ea"/>
                <a:cs typeface="+mj-cs"/>
              </a:rPr>
              <a:t>What’s the Right Option for You?</a:t>
            </a:r>
          </a:p>
        </p:txBody>
      </p:sp>
      <p:pic>
        <p:nvPicPr>
          <p:cNvPr id="7170" name="Picture 2" descr="Meme Creator - Funny TOO MANY CHOIces Meme Generator at MemeCreator.org!">
            <a:extLst>
              <a:ext uri="{FF2B5EF4-FFF2-40B4-BE49-F238E27FC236}">
                <a16:creationId xmlns:a16="http://schemas.microsoft.com/office/drawing/2014/main" id="{4D54BDB2-B65D-A99C-0524-FABDC9CE9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1150" y="1858146"/>
            <a:ext cx="5995670" cy="4531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808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59D9F-E28C-A4ED-A3E9-10A17A053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0AA04-1755-4E13-8AA8-2D3B42D81FC2}"/>
              </a:ext>
            </a:extLst>
          </p:cNvPr>
          <p:cNvSpPr>
            <a:spLocks noGrp="1"/>
          </p:cNvSpPr>
          <p:nvPr>
            <p:ph type="title"/>
          </p:nvPr>
        </p:nvSpPr>
        <p:spPr>
          <a:xfrm>
            <a:off x="0" y="365125"/>
            <a:ext cx="12188952" cy="1325563"/>
          </a:xfrm>
        </p:spPr>
        <p:txBody>
          <a:bodyPr vert="horz" lIns="91440" tIns="45720" rIns="91440" bIns="45720" rtlCol="0" anchor="ctr">
            <a:normAutofit/>
          </a:bodyPr>
          <a:lstStyle/>
          <a:p>
            <a:pPr algn="ctr"/>
            <a:r>
              <a:rPr lang="en-US" sz="4000" dirty="0"/>
              <a:t>What’s the Right Option for You?</a:t>
            </a:r>
            <a:endParaRPr lang="en-US" sz="4000" kern="1200" dirty="0">
              <a:solidFill>
                <a:schemeClr val="tx1"/>
              </a:solidFill>
              <a:latin typeface="+mj-lt"/>
              <a:ea typeface="+mj-ea"/>
              <a:cs typeface="+mj-cs"/>
            </a:endParaRPr>
          </a:p>
        </p:txBody>
      </p:sp>
      <p:pic>
        <p:nvPicPr>
          <p:cNvPr id="8194" name="Picture 2" descr="Dont Worry We Got This Meme">
            <a:extLst>
              <a:ext uri="{FF2B5EF4-FFF2-40B4-BE49-F238E27FC236}">
                <a16:creationId xmlns:a16="http://schemas.microsoft.com/office/drawing/2014/main" id="{2B6EEE69-10A9-CC24-0DD8-422CD7286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0888" y="1765300"/>
            <a:ext cx="8243712" cy="4637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276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63618-A76B-832A-546A-87ED09C856AF}"/>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E40A7034-CBB2-07AC-19EA-A61DB67C262D}"/>
              </a:ext>
            </a:extLst>
          </p:cNvPr>
          <p:cNvSpPr/>
          <p:nvPr/>
        </p:nvSpPr>
        <p:spPr>
          <a:xfrm>
            <a:off x="8050708" y="1844803"/>
            <a:ext cx="3370275" cy="3367277"/>
          </a:xfrm>
          <a:prstGeom prst="rect">
            <a:avLst/>
          </a:prstGeom>
          <a:solidFill>
            <a:srgbClr val="F5CFE8">
              <a:alpha val="60000"/>
            </a:srgb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2" name="Rectangle 31">
            <a:extLst>
              <a:ext uri="{FF2B5EF4-FFF2-40B4-BE49-F238E27FC236}">
                <a16:creationId xmlns:a16="http://schemas.microsoft.com/office/drawing/2014/main" id="{DE86AC42-2B32-73B3-06CE-5D7931BFFA31}"/>
              </a:ext>
            </a:extLst>
          </p:cNvPr>
          <p:cNvSpPr/>
          <p:nvPr/>
        </p:nvSpPr>
        <p:spPr>
          <a:xfrm>
            <a:off x="4432394" y="1851870"/>
            <a:ext cx="3173319" cy="3360210"/>
          </a:xfrm>
          <a:prstGeom prst="rect">
            <a:avLst/>
          </a:prstGeom>
          <a:solidFill>
            <a:srgbClr val="FFD28F">
              <a:alpha val="60000"/>
            </a:srgbClr>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31" name="Rectangle 30">
            <a:extLst>
              <a:ext uri="{FF2B5EF4-FFF2-40B4-BE49-F238E27FC236}">
                <a16:creationId xmlns:a16="http://schemas.microsoft.com/office/drawing/2014/main" id="{085AFAA6-332B-B0A6-52FC-7A344BBF93F2}"/>
              </a:ext>
            </a:extLst>
          </p:cNvPr>
          <p:cNvSpPr/>
          <p:nvPr/>
        </p:nvSpPr>
        <p:spPr>
          <a:xfrm>
            <a:off x="706368" y="1851870"/>
            <a:ext cx="3270212" cy="3360210"/>
          </a:xfrm>
          <a:prstGeom prst="rect">
            <a:avLst/>
          </a:prstGeom>
          <a:solidFill>
            <a:srgbClr val="D1FFF6">
              <a:alpha val="6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Title 3">
            <a:extLst>
              <a:ext uri="{FF2B5EF4-FFF2-40B4-BE49-F238E27FC236}">
                <a16:creationId xmlns:a16="http://schemas.microsoft.com/office/drawing/2014/main" id="{22B2CC76-997C-61A7-EF72-B9A87C251693}"/>
              </a:ext>
            </a:extLst>
          </p:cNvPr>
          <p:cNvSpPr>
            <a:spLocks noGrp="1"/>
          </p:cNvSpPr>
          <p:nvPr>
            <p:ph type="title"/>
          </p:nvPr>
        </p:nvSpPr>
        <p:spPr>
          <a:xfrm>
            <a:off x="1146081" y="293945"/>
            <a:ext cx="10647986" cy="641060"/>
          </a:xfrm>
        </p:spPr>
        <p:txBody>
          <a:bodyPr>
            <a:noAutofit/>
          </a:bodyPr>
          <a:lstStyle/>
          <a:p>
            <a:r>
              <a:rPr lang="en-US" sz="3600" dirty="0"/>
              <a:t>Licensing Scenario Personas &amp; Workspace Types</a:t>
            </a:r>
          </a:p>
        </p:txBody>
      </p:sp>
      <p:pic>
        <p:nvPicPr>
          <p:cNvPr id="168" name="Graphic 167" descr="Airplane with solid fill">
            <a:extLst>
              <a:ext uri="{FF2B5EF4-FFF2-40B4-BE49-F238E27FC236}">
                <a16:creationId xmlns:a16="http://schemas.microsoft.com/office/drawing/2014/main" id="{C30A5D07-EEBA-A2BE-658C-8166F1137F0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4799" y="91252"/>
            <a:ext cx="914400" cy="914400"/>
          </a:xfrm>
          <a:prstGeom prst="rect">
            <a:avLst/>
          </a:prstGeom>
        </p:spPr>
      </p:pic>
      <p:sp>
        <p:nvSpPr>
          <p:cNvPr id="2" name="Title 3">
            <a:extLst>
              <a:ext uri="{FF2B5EF4-FFF2-40B4-BE49-F238E27FC236}">
                <a16:creationId xmlns:a16="http://schemas.microsoft.com/office/drawing/2014/main" id="{D548FB7B-D82F-45C8-6B1E-BB4560AE574D}"/>
              </a:ext>
            </a:extLst>
          </p:cNvPr>
          <p:cNvSpPr txBox="1">
            <a:spLocks/>
          </p:cNvSpPr>
          <p:nvPr/>
        </p:nvSpPr>
        <p:spPr>
          <a:xfrm>
            <a:off x="771017" y="2587365"/>
            <a:ext cx="3116352" cy="2447549"/>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dirty="0">
                <a:latin typeface="+mn-lt"/>
              </a:rPr>
              <a:t>Ground Crew &amp; Mechanics</a:t>
            </a:r>
          </a:p>
          <a:p>
            <a:endParaRPr lang="en-US" sz="2000" dirty="0">
              <a:latin typeface="+mn-lt"/>
            </a:endParaRPr>
          </a:p>
          <a:p>
            <a:r>
              <a:rPr lang="en-US" sz="2000" dirty="0">
                <a:latin typeface="+mn-lt"/>
              </a:rPr>
              <a:t>Create Fabric artifacts </a:t>
            </a:r>
          </a:p>
          <a:p>
            <a:endParaRPr lang="en-US" sz="2000" dirty="0">
              <a:latin typeface="+mn-lt"/>
            </a:endParaRPr>
          </a:p>
          <a:p>
            <a:r>
              <a:rPr lang="en-US" sz="2000" dirty="0">
                <a:latin typeface="+mn-lt"/>
              </a:rPr>
              <a:t>(</a:t>
            </a:r>
            <a:r>
              <a:rPr lang="en-US" sz="2000" dirty="0" err="1">
                <a:latin typeface="+mn-lt"/>
              </a:rPr>
              <a:t>lakehouses</a:t>
            </a:r>
            <a:r>
              <a:rPr lang="en-US" sz="2000" dirty="0">
                <a:latin typeface="+mn-lt"/>
              </a:rPr>
              <a:t>, warehouses, notebooks, data pipelines, etc.)</a:t>
            </a:r>
          </a:p>
          <a:p>
            <a:pPr marL="342900" indent="-342900" algn="ctr">
              <a:buFont typeface="Arial" panose="020B0604020202020204" pitchFamily="34" charset="0"/>
              <a:buChar char="•"/>
            </a:pPr>
            <a:endParaRPr lang="en-US" sz="2000" dirty="0">
              <a:latin typeface="+mn-lt"/>
            </a:endParaRPr>
          </a:p>
        </p:txBody>
      </p:sp>
      <p:sp>
        <p:nvSpPr>
          <p:cNvPr id="3" name="Title 3">
            <a:extLst>
              <a:ext uri="{FF2B5EF4-FFF2-40B4-BE49-F238E27FC236}">
                <a16:creationId xmlns:a16="http://schemas.microsoft.com/office/drawing/2014/main" id="{39F1C964-D653-9011-022E-DDD46B6AAC2D}"/>
              </a:ext>
            </a:extLst>
          </p:cNvPr>
          <p:cNvSpPr txBox="1">
            <a:spLocks/>
          </p:cNvSpPr>
          <p:nvPr/>
        </p:nvSpPr>
        <p:spPr>
          <a:xfrm>
            <a:off x="941859" y="1933032"/>
            <a:ext cx="2510953" cy="548494"/>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r"/>
            <a:r>
              <a:rPr lang="en-US" sz="2400" dirty="0">
                <a:latin typeface="+mn-lt"/>
              </a:rPr>
              <a:t>Data Engineers</a:t>
            </a:r>
          </a:p>
        </p:txBody>
      </p:sp>
      <p:sp>
        <p:nvSpPr>
          <p:cNvPr id="5" name="Title 3">
            <a:extLst>
              <a:ext uri="{FF2B5EF4-FFF2-40B4-BE49-F238E27FC236}">
                <a16:creationId xmlns:a16="http://schemas.microsoft.com/office/drawing/2014/main" id="{815552CE-D616-2DC0-5EC5-B0E1AE932462}"/>
              </a:ext>
            </a:extLst>
          </p:cNvPr>
          <p:cNvSpPr txBox="1">
            <a:spLocks/>
          </p:cNvSpPr>
          <p:nvPr/>
        </p:nvSpPr>
        <p:spPr>
          <a:xfrm>
            <a:off x="4471436" y="1935974"/>
            <a:ext cx="2817119" cy="548494"/>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r"/>
            <a:r>
              <a:rPr lang="en-US" sz="2400" dirty="0">
                <a:latin typeface="+mn-lt"/>
              </a:rPr>
              <a:t>PBI Developers</a:t>
            </a:r>
          </a:p>
        </p:txBody>
      </p:sp>
      <p:sp>
        <p:nvSpPr>
          <p:cNvPr id="6" name="Title 3">
            <a:extLst>
              <a:ext uri="{FF2B5EF4-FFF2-40B4-BE49-F238E27FC236}">
                <a16:creationId xmlns:a16="http://schemas.microsoft.com/office/drawing/2014/main" id="{9C505FB0-6A10-2745-BCE0-3C40C0C8B63F}"/>
              </a:ext>
            </a:extLst>
          </p:cNvPr>
          <p:cNvSpPr txBox="1">
            <a:spLocks/>
          </p:cNvSpPr>
          <p:nvPr/>
        </p:nvSpPr>
        <p:spPr>
          <a:xfrm>
            <a:off x="8298315" y="1957865"/>
            <a:ext cx="2814174" cy="523661"/>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r"/>
            <a:r>
              <a:rPr lang="en-US" sz="2400" dirty="0">
                <a:latin typeface="+mn-lt"/>
              </a:rPr>
              <a:t>Report Viewers</a:t>
            </a:r>
          </a:p>
        </p:txBody>
      </p:sp>
      <p:sp>
        <p:nvSpPr>
          <p:cNvPr id="7" name="Title 3">
            <a:extLst>
              <a:ext uri="{FF2B5EF4-FFF2-40B4-BE49-F238E27FC236}">
                <a16:creationId xmlns:a16="http://schemas.microsoft.com/office/drawing/2014/main" id="{54FB029F-6F89-E988-90E1-1723B13A4A2A}"/>
              </a:ext>
            </a:extLst>
          </p:cNvPr>
          <p:cNvSpPr txBox="1">
            <a:spLocks/>
          </p:cNvSpPr>
          <p:nvPr/>
        </p:nvSpPr>
        <p:spPr>
          <a:xfrm>
            <a:off x="4471435" y="2587365"/>
            <a:ext cx="3066324" cy="2447550"/>
          </a:xfrm>
          <a:prstGeom prst="rect">
            <a:avLst/>
          </a:prstGeom>
          <a:ln>
            <a:noFill/>
          </a:ln>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dirty="0">
                <a:latin typeface="+mn-lt"/>
              </a:rPr>
              <a:t>Pilots</a:t>
            </a:r>
          </a:p>
          <a:p>
            <a:endParaRPr lang="en-US" sz="2000" dirty="0">
              <a:latin typeface="+mn-lt"/>
            </a:endParaRPr>
          </a:p>
          <a:p>
            <a:r>
              <a:rPr lang="en-US" sz="2000" dirty="0">
                <a:latin typeface="+mn-lt"/>
              </a:rPr>
              <a:t>Create Power BI semantic models </a:t>
            </a:r>
            <a:br>
              <a:rPr lang="en-US" sz="2000" dirty="0">
                <a:latin typeface="+mn-lt"/>
              </a:rPr>
            </a:br>
            <a:endParaRPr lang="en-US" sz="2000" dirty="0">
              <a:latin typeface="+mn-lt"/>
            </a:endParaRPr>
          </a:p>
          <a:p>
            <a:r>
              <a:rPr lang="en-US" sz="2000" dirty="0">
                <a:latin typeface="+mn-lt"/>
              </a:rPr>
              <a:t>Create Power BI reports</a:t>
            </a:r>
            <a:br>
              <a:rPr lang="en-US" sz="2000" dirty="0">
                <a:latin typeface="+mn-lt"/>
              </a:rPr>
            </a:br>
            <a:endParaRPr lang="en-US" sz="2000" dirty="0">
              <a:latin typeface="+mn-lt"/>
            </a:endParaRPr>
          </a:p>
          <a:p>
            <a:r>
              <a:rPr lang="en-US" sz="2000" dirty="0">
                <a:latin typeface="+mn-lt"/>
              </a:rPr>
              <a:t>** Publish reports to shared workspaces  </a:t>
            </a:r>
          </a:p>
          <a:p>
            <a:endParaRPr lang="en-US" sz="2000" dirty="0">
              <a:latin typeface="+mn-lt"/>
            </a:endParaRPr>
          </a:p>
          <a:p>
            <a:pPr marL="342900" indent="-342900">
              <a:buFont typeface="Arial" panose="020B0604020202020204" pitchFamily="34" charset="0"/>
              <a:buChar char="•"/>
            </a:pPr>
            <a:endParaRPr lang="en-US" sz="2000" dirty="0">
              <a:latin typeface="+mn-lt"/>
            </a:endParaRPr>
          </a:p>
        </p:txBody>
      </p:sp>
      <p:sp>
        <p:nvSpPr>
          <p:cNvPr id="8" name="Title 3">
            <a:extLst>
              <a:ext uri="{FF2B5EF4-FFF2-40B4-BE49-F238E27FC236}">
                <a16:creationId xmlns:a16="http://schemas.microsoft.com/office/drawing/2014/main" id="{451D558B-0597-6D94-C0FB-C35B3EA03948}"/>
              </a:ext>
            </a:extLst>
          </p:cNvPr>
          <p:cNvSpPr txBox="1">
            <a:spLocks/>
          </p:cNvSpPr>
          <p:nvPr/>
        </p:nvSpPr>
        <p:spPr>
          <a:xfrm>
            <a:off x="8298315" y="2587365"/>
            <a:ext cx="2951826" cy="2447550"/>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dirty="0">
                <a:latin typeface="+mn-lt"/>
              </a:rPr>
              <a:t>Passengers</a:t>
            </a:r>
          </a:p>
          <a:p>
            <a:endParaRPr lang="en-US" sz="2000" dirty="0">
              <a:latin typeface="+mn-lt"/>
            </a:endParaRPr>
          </a:p>
          <a:p>
            <a:r>
              <a:rPr lang="en-US" sz="2000" dirty="0">
                <a:latin typeface="+mn-lt"/>
              </a:rPr>
              <a:t>*** Utilize Power BI reports to answer business questions</a:t>
            </a:r>
          </a:p>
        </p:txBody>
      </p:sp>
      <p:sp>
        <p:nvSpPr>
          <p:cNvPr id="10" name="Title 3">
            <a:extLst>
              <a:ext uri="{FF2B5EF4-FFF2-40B4-BE49-F238E27FC236}">
                <a16:creationId xmlns:a16="http://schemas.microsoft.com/office/drawing/2014/main" id="{C39A1C6B-580C-4F2F-757C-C23F5D313946}"/>
              </a:ext>
            </a:extLst>
          </p:cNvPr>
          <p:cNvSpPr txBox="1">
            <a:spLocks/>
          </p:cNvSpPr>
          <p:nvPr/>
        </p:nvSpPr>
        <p:spPr>
          <a:xfrm>
            <a:off x="74798" y="5823585"/>
            <a:ext cx="12117201" cy="1123604"/>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i="1" dirty="0">
                <a:latin typeface="+mn-lt"/>
              </a:rPr>
              <a:t>** Requires either a pro or </a:t>
            </a:r>
            <a:r>
              <a:rPr lang="en-US" sz="1800" i="1" dirty="0" err="1">
                <a:latin typeface="+mn-lt"/>
              </a:rPr>
              <a:t>ppu</a:t>
            </a:r>
            <a:r>
              <a:rPr lang="en-US" sz="1800" i="1" dirty="0">
                <a:latin typeface="+mn-lt"/>
              </a:rPr>
              <a:t> license </a:t>
            </a:r>
          </a:p>
          <a:p>
            <a:r>
              <a:rPr lang="en-US" sz="1800" i="1" dirty="0">
                <a:latin typeface="+mn-lt"/>
              </a:rPr>
              <a:t>*** Requires a pro license if in a shared workspace, </a:t>
            </a:r>
            <a:r>
              <a:rPr lang="en-US" sz="1800" i="1" dirty="0" err="1">
                <a:latin typeface="+mn-lt"/>
              </a:rPr>
              <a:t>ppu</a:t>
            </a:r>
            <a:r>
              <a:rPr lang="en-US" sz="1800" i="1" dirty="0">
                <a:latin typeface="+mn-lt"/>
              </a:rPr>
              <a:t> license if in a </a:t>
            </a:r>
            <a:r>
              <a:rPr lang="en-US" sz="1800" i="1" dirty="0" err="1">
                <a:latin typeface="+mn-lt"/>
              </a:rPr>
              <a:t>ppu</a:t>
            </a:r>
            <a:r>
              <a:rPr lang="en-US" sz="1800" i="1" dirty="0">
                <a:latin typeface="+mn-lt"/>
              </a:rPr>
              <a:t> workspace, and no license if in a F64 capacity workspace</a:t>
            </a:r>
          </a:p>
        </p:txBody>
      </p:sp>
      <p:pic>
        <p:nvPicPr>
          <p:cNvPr id="9" name="Image 1" descr="preencoded.png">
            <a:extLst>
              <a:ext uri="{FF2B5EF4-FFF2-40B4-BE49-F238E27FC236}">
                <a16:creationId xmlns:a16="http://schemas.microsoft.com/office/drawing/2014/main" id="{863A9745-2B98-B01B-2704-DB58F34C34C6}"/>
              </a:ext>
            </a:extLst>
          </p:cNvPr>
          <p:cNvPicPr>
            <a:picLocks noChangeAspect="1"/>
          </p:cNvPicPr>
          <p:nvPr/>
        </p:nvPicPr>
        <p:blipFill>
          <a:blip r:embed="rId4"/>
          <a:stretch>
            <a:fillRect/>
          </a:stretch>
        </p:blipFill>
        <p:spPr>
          <a:xfrm>
            <a:off x="780321" y="1957710"/>
            <a:ext cx="365760" cy="365760"/>
          </a:xfrm>
          <a:prstGeom prst="rect">
            <a:avLst/>
          </a:prstGeom>
        </p:spPr>
      </p:pic>
      <p:pic>
        <p:nvPicPr>
          <p:cNvPr id="11" name="Image 2" descr="preencoded.png">
            <a:extLst>
              <a:ext uri="{FF2B5EF4-FFF2-40B4-BE49-F238E27FC236}">
                <a16:creationId xmlns:a16="http://schemas.microsoft.com/office/drawing/2014/main" id="{4002F1EC-7F1B-7849-F5A9-2E6B2A49AB66}"/>
              </a:ext>
            </a:extLst>
          </p:cNvPr>
          <p:cNvPicPr>
            <a:picLocks noChangeAspect="1"/>
          </p:cNvPicPr>
          <p:nvPr/>
        </p:nvPicPr>
        <p:blipFill>
          <a:blip r:embed="rId5"/>
          <a:stretch>
            <a:fillRect/>
          </a:stretch>
        </p:blipFill>
        <p:spPr>
          <a:xfrm>
            <a:off x="4581305" y="1955652"/>
            <a:ext cx="365760" cy="365760"/>
          </a:xfrm>
          <a:prstGeom prst="rect">
            <a:avLst/>
          </a:prstGeom>
        </p:spPr>
      </p:pic>
      <p:pic>
        <p:nvPicPr>
          <p:cNvPr id="12" name="Image 3" descr="preencoded.png">
            <a:extLst>
              <a:ext uri="{FF2B5EF4-FFF2-40B4-BE49-F238E27FC236}">
                <a16:creationId xmlns:a16="http://schemas.microsoft.com/office/drawing/2014/main" id="{C0346B15-9B8D-56D5-6CB3-D9823F77A090}"/>
              </a:ext>
            </a:extLst>
          </p:cNvPr>
          <p:cNvPicPr>
            <a:picLocks noChangeAspect="1"/>
          </p:cNvPicPr>
          <p:nvPr/>
        </p:nvPicPr>
        <p:blipFill>
          <a:blip r:embed="rId6"/>
          <a:stretch>
            <a:fillRect/>
          </a:stretch>
        </p:blipFill>
        <p:spPr>
          <a:xfrm>
            <a:off x="8227818" y="1926172"/>
            <a:ext cx="365760" cy="365760"/>
          </a:xfrm>
          <a:prstGeom prst="rect">
            <a:avLst/>
          </a:prstGeom>
        </p:spPr>
      </p:pic>
      <p:sp>
        <p:nvSpPr>
          <p:cNvPr id="13" name="Shape 3">
            <a:extLst>
              <a:ext uri="{FF2B5EF4-FFF2-40B4-BE49-F238E27FC236}">
                <a16:creationId xmlns:a16="http://schemas.microsoft.com/office/drawing/2014/main" id="{65F5A33D-BF9A-CC99-8349-22775415DFF4}"/>
              </a:ext>
            </a:extLst>
          </p:cNvPr>
          <p:cNvSpPr/>
          <p:nvPr/>
        </p:nvSpPr>
        <p:spPr>
          <a:xfrm>
            <a:off x="1258252" y="2400363"/>
            <a:ext cx="2194560" cy="0"/>
          </a:xfrm>
          <a:prstGeom prst="line">
            <a:avLst/>
          </a:prstGeom>
          <a:noFill/>
          <a:ln w="12700">
            <a:solidFill>
              <a:srgbClr val="4CAF50"/>
            </a:solidFill>
            <a:prstDash val="solid"/>
          </a:ln>
        </p:spPr>
        <p:txBody>
          <a:bodyPr/>
          <a:lstStyle/>
          <a:p>
            <a:endParaRPr lang="en-US" sz="2000"/>
          </a:p>
        </p:txBody>
      </p:sp>
      <p:sp>
        <p:nvSpPr>
          <p:cNvPr id="14" name="Shape 8">
            <a:extLst>
              <a:ext uri="{FF2B5EF4-FFF2-40B4-BE49-F238E27FC236}">
                <a16:creationId xmlns:a16="http://schemas.microsoft.com/office/drawing/2014/main" id="{942E3F01-D28E-5636-9779-B58294BD13BE}"/>
              </a:ext>
            </a:extLst>
          </p:cNvPr>
          <p:cNvSpPr/>
          <p:nvPr/>
        </p:nvSpPr>
        <p:spPr>
          <a:xfrm>
            <a:off x="5093995" y="2400363"/>
            <a:ext cx="2194560" cy="0"/>
          </a:xfrm>
          <a:prstGeom prst="line">
            <a:avLst/>
          </a:prstGeom>
          <a:noFill/>
          <a:ln w="12700">
            <a:solidFill>
              <a:srgbClr val="FFA000"/>
            </a:solidFill>
            <a:prstDash val="solid"/>
          </a:ln>
        </p:spPr>
        <p:txBody>
          <a:bodyPr/>
          <a:lstStyle/>
          <a:p>
            <a:endParaRPr lang="en-US" sz="2000"/>
          </a:p>
        </p:txBody>
      </p:sp>
      <p:sp>
        <p:nvSpPr>
          <p:cNvPr id="15" name="Shape 13">
            <a:extLst>
              <a:ext uri="{FF2B5EF4-FFF2-40B4-BE49-F238E27FC236}">
                <a16:creationId xmlns:a16="http://schemas.microsoft.com/office/drawing/2014/main" id="{84845400-83B1-7124-8839-6065202970C0}"/>
              </a:ext>
            </a:extLst>
          </p:cNvPr>
          <p:cNvSpPr/>
          <p:nvPr/>
        </p:nvSpPr>
        <p:spPr>
          <a:xfrm>
            <a:off x="8785860" y="2400363"/>
            <a:ext cx="2194560" cy="0"/>
          </a:xfrm>
          <a:prstGeom prst="line">
            <a:avLst/>
          </a:prstGeom>
          <a:noFill/>
          <a:ln w="12700">
            <a:solidFill>
              <a:srgbClr val="AB47BC"/>
            </a:solidFill>
            <a:prstDash val="solid"/>
          </a:ln>
        </p:spPr>
        <p:txBody>
          <a:bodyPr/>
          <a:lstStyle/>
          <a:p>
            <a:endParaRPr lang="en-US" sz="2000"/>
          </a:p>
        </p:txBody>
      </p:sp>
    </p:spTree>
    <p:extLst>
      <p:ext uri="{BB962C8B-B14F-4D97-AF65-F5344CB8AC3E}">
        <p14:creationId xmlns:p14="http://schemas.microsoft.com/office/powerpoint/2010/main" val="2916825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9144F-7980-BBE1-A3BE-C823F702654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5925DE58-8925-7B98-7B88-8C641AA09278}"/>
              </a:ext>
            </a:extLst>
          </p:cNvPr>
          <p:cNvSpPr/>
          <p:nvPr/>
        </p:nvSpPr>
        <p:spPr>
          <a:xfrm>
            <a:off x="244807" y="4748645"/>
            <a:ext cx="5544488" cy="1786103"/>
          </a:xfrm>
          <a:prstGeom prst="rect">
            <a:avLst/>
          </a:prstGeom>
          <a:solidFill>
            <a:srgbClr val="00604E">
              <a:alpha val="3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43D39EF-CDF1-E07B-0CF1-B140EB600717}"/>
              </a:ext>
            </a:extLst>
          </p:cNvPr>
          <p:cNvSpPr>
            <a:spLocks noGrp="1"/>
          </p:cNvSpPr>
          <p:nvPr>
            <p:ph type="title"/>
          </p:nvPr>
        </p:nvSpPr>
        <p:spPr>
          <a:xfrm>
            <a:off x="1146081" y="293944"/>
            <a:ext cx="10281507" cy="1295865"/>
          </a:xfrm>
        </p:spPr>
        <p:txBody>
          <a:bodyPr anchor="t">
            <a:normAutofit/>
          </a:bodyPr>
          <a:lstStyle/>
          <a:p>
            <a:r>
              <a:rPr lang="en-US" dirty="0"/>
              <a:t>Licensing Example 1 </a:t>
            </a:r>
            <a:br>
              <a:rPr lang="en-US" dirty="0"/>
            </a:br>
            <a:r>
              <a:rPr lang="en-US" sz="2400" i="1" dirty="0"/>
              <a:t>No ETL, Small User Base</a:t>
            </a:r>
            <a:endParaRPr lang="en-US" i="1" dirty="0"/>
          </a:p>
        </p:txBody>
      </p:sp>
      <p:sp>
        <p:nvSpPr>
          <p:cNvPr id="2" name="Title 3">
            <a:extLst>
              <a:ext uri="{FF2B5EF4-FFF2-40B4-BE49-F238E27FC236}">
                <a16:creationId xmlns:a16="http://schemas.microsoft.com/office/drawing/2014/main" id="{476E1242-257A-D7C8-8071-5D330580D89D}"/>
              </a:ext>
            </a:extLst>
          </p:cNvPr>
          <p:cNvSpPr txBox="1">
            <a:spLocks/>
          </p:cNvSpPr>
          <p:nvPr/>
        </p:nvSpPr>
        <p:spPr>
          <a:xfrm>
            <a:off x="6333587" y="1930826"/>
            <a:ext cx="5659121" cy="3885773"/>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Assumptions</a:t>
            </a:r>
            <a:br>
              <a:rPr lang="en-US" sz="2400" dirty="0">
                <a:latin typeface="+mn-lt"/>
              </a:rPr>
            </a:br>
            <a:endParaRPr lang="en-US" sz="2400" dirty="0">
              <a:latin typeface="+mn-lt"/>
            </a:endParaRPr>
          </a:p>
          <a:p>
            <a:r>
              <a:rPr lang="en-US" sz="2400" dirty="0">
                <a:latin typeface="+mn-lt"/>
              </a:rPr>
              <a:t>0 Fabric Data Engineers </a:t>
            </a:r>
          </a:p>
          <a:p>
            <a:pPr marL="800100" lvl="1" indent="-342900">
              <a:buFont typeface="Arial" panose="020B0604020202020204" pitchFamily="34" charset="0"/>
              <a:buChar char="•"/>
            </a:pPr>
            <a:r>
              <a:rPr lang="en-US" sz="2400" dirty="0"/>
              <a:t>Engineering is handled outside Fabric</a:t>
            </a:r>
            <a:br>
              <a:rPr lang="en-US" sz="2400" dirty="0"/>
            </a:br>
            <a:endParaRPr lang="en-US" sz="2400" dirty="0"/>
          </a:p>
          <a:p>
            <a:r>
              <a:rPr lang="en-US" sz="2400" dirty="0">
                <a:latin typeface="+mn-lt"/>
              </a:rPr>
              <a:t>2 Power BI Developers</a:t>
            </a:r>
          </a:p>
          <a:p>
            <a:pPr marL="342900" indent="-342900">
              <a:buFont typeface="Arial" panose="020B0604020202020204" pitchFamily="34" charset="0"/>
              <a:buChar char="•"/>
            </a:pPr>
            <a:endParaRPr lang="en-US" sz="2400" dirty="0">
              <a:latin typeface="+mn-lt"/>
            </a:endParaRPr>
          </a:p>
          <a:p>
            <a:r>
              <a:rPr lang="en-US" sz="2400" dirty="0">
                <a:latin typeface="+mn-lt"/>
              </a:rPr>
              <a:t>50 Report Viewers</a:t>
            </a:r>
          </a:p>
        </p:txBody>
      </p:sp>
      <p:sp>
        <p:nvSpPr>
          <p:cNvPr id="9" name="Title 3">
            <a:extLst>
              <a:ext uri="{FF2B5EF4-FFF2-40B4-BE49-F238E27FC236}">
                <a16:creationId xmlns:a16="http://schemas.microsoft.com/office/drawing/2014/main" id="{28170936-0910-7A57-766D-B5A336C71977}"/>
              </a:ext>
            </a:extLst>
          </p:cNvPr>
          <p:cNvSpPr txBox="1">
            <a:spLocks/>
          </p:cNvSpPr>
          <p:nvPr/>
        </p:nvSpPr>
        <p:spPr>
          <a:xfrm>
            <a:off x="1182418" y="2166472"/>
            <a:ext cx="4913579" cy="2130136"/>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X 0 = $0</a:t>
            </a:r>
          </a:p>
          <a:p>
            <a:endParaRPr lang="en-US" sz="2400" dirty="0">
              <a:latin typeface="+mn-lt"/>
            </a:endParaRPr>
          </a:p>
          <a:p>
            <a:endParaRPr lang="en-US" sz="2400" dirty="0">
              <a:latin typeface="+mn-lt"/>
            </a:endParaRPr>
          </a:p>
          <a:p>
            <a:r>
              <a:rPr lang="en-US" sz="2400" dirty="0">
                <a:latin typeface="+mn-lt"/>
              </a:rPr>
              <a:t>X 2 x $14/pro license = $ 28</a:t>
            </a:r>
            <a:br>
              <a:rPr lang="en-US" sz="2400" dirty="0">
                <a:latin typeface="+mn-lt"/>
              </a:rPr>
            </a:br>
            <a:endParaRPr lang="en-US" sz="2400" dirty="0">
              <a:latin typeface="+mn-lt"/>
            </a:endParaRPr>
          </a:p>
          <a:p>
            <a:endParaRPr lang="en-US" sz="2400" dirty="0">
              <a:latin typeface="+mn-lt"/>
            </a:endParaRPr>
          </a:p>
          <a:p>
            <a:r>
              <a:rPr lang="en-US" sz="2400" dirty="0">
                <a:latin typeface="+mn-lt"/>
              </a:rPr>
              <a:t>X 50 x $14/pro license = $700</a:t>
            </a:r>
          </a:p>
        </p:txBody>
      </p:sp>
      <p:sp>
        <p:nvSpPr>
          <p:cNvPr id="13" name="Title 3">
            <a:extLst>
              <a:ext uri="{FF2B5EF4-FFF2-40B4-BE49-F238E27FC236}">
                <a16:creationId xmlns:a16="http://schemas.microsoft.com/office/drawing/2014/main" id="{62A673F0-1E69-A63F-54D6-92F60AB2852D}"/>
              </a:ext>
            </a:extLst>
          </p:cNvPr>
          <p:cNvSpPr txBox="1">
            <a:spLocks/>
          </p:cNvSpPr>
          <p:nvPr/>
        </p:nvSpPr>
        <p:spPr>
          <a:xfrm>
            <a:off x="531999" y="4873271"/>
            <a:ext cx="4361734" cy="1601957"/>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Total Monthly Estimate: $728</a:t>
            </a:r>
            <a:br>
              <a:rPr lang="en-US" sz="2400" b="1" dirty="0">
                <a:latin typeface="+mn-lt"/>
              </a:rPr>
            </a:br>
            <a:endParaRPr lang="en-US" sz="2400" b="1" dirty="0">
              <a:latin typeface="+mn-lt"/>
            </a:endParaRPr>
          </a:p>
          <a:p>
            <a:r>
              <a:rPr lang="en-US" sz="2400" b="1" dirty="0">
                <a:latin typeface="+mn-lt"/>
              </a:rPr>
              <a:t>Total Annual Estimate: $8,736</a:t>
            </a:r>
          </a:p>
          <a:p>
            <a:endParaRPr lang="en-US" sz="2400" b="1" dirty="0">
              <a:latin typeface="+mn-lt"/>
            </a:endParaRPr>
          </a:p>
          <a:p>
            <a:r>
              <a:rPr lang="en-US" sz="2400" b="1" dirty="0">
                <a:latin typeface="+mn-lt"/>
              </a:rPr>
              <a:t>+ External Engineering Costs</a:t>
            </a:r>
            <a:endParaRPr lang="en-US" sz="1800" b="1" dirty="0">
              <a:latin typeface="+mn-lt"/>
            </a:endParaRPr>
          </a:p>
        </p:txBody>
      </p:sp>
      <p:pic>
        <p:nvPicPr>
          <p:cNvPr id="15" name="Graphic 14" descr="Users outline">
            <a:extLst>
              <a:ext uri="{FF2B5EF4-FFF2-40B4-BE49-F238E27FC236}">
                <a16:creationId xmlns:a16="http://schemas.microsoft.com/office/drawing/2014/main" id="{537594B4-106E-6EA6-7C94-3F0121E4ADF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23837" y="234424"/>
            <a:ext cx="816575" cy="816575"/>
          </a:xfrm>
          <a:prstGeom prst="rect">
            <a:avLst/>
          </a:prstGeom>
        </p:spPr>
      </p:pic>
      <p:pic>
        <p:nvPicPr>
          <p:cNvPr id="3" name="Image 1" descr="preencoded.png">
            <a:extLst>
              <a:ext uri="{FF2B5EF4-FFF2-40B4-BE49-F238E27FC236}">
                <a16:creationId xmlns:a16="http://schemas.microsoft.com/office/drawing/2014/main" id="{92BEE364-FBDE-2E42-E28F-3347EC0C2825}"/>
              </a:ext>
            </a:extLst>
          </p:cNvPr>
          <p:cNvPicPr>
            <a:picLocks noChangeAspect="1"/>
          </p:cNvPicPr>
          <p:nvPr/>
        </p:nvPicPr>
        <p:blipFill>
          <a:blip r:embed="rId4"/>
          <a:stretch>
            <a:fillRect/>
          </a:stretch>
        </p:blipFill>
        <p:spPr>
          <a:xfrm>
            <a:off x="371476" y="2071250"/>
            <a:ext cx="512575" cy="512575"/>
          </a:xfrm>
          <a:prstGeom prst="rect">
            <a:avLst/>
          </a:prstGeom>
        </p:spPr>
      </p:pic>
      <p:pic>
        <p:nvPicPr>
          <p:cNvPr id="5" name="Image 2" descr="preencoded.png">
            <a:extLst>
              <a:ext uri="{FF2B5EF4-FFF2-40B4-BE49-F238E27FC236}">
                <a16:creationId xmlns:a16="http://schemas.microsoft.com/office/drawing/2014/main" id="{B7C4E35B-CD3E-327E-0234-D9AFCF18CDBB}"/>
              </a:ext>
            </a:extLst>
          </p:cNvPr>
          <p:cNvPicPr>
            <a:picLocks noChangeAspect="1"/>
          </p:cNvPicPr>
          <p:nvPr/>
        </p:nvPicPr>
        <p:blipFill>
          <a:blip r:embed="rId5"/>
          <a:stretch>
            <a:fillRect/>
          </a:stretch>
        </p:blipFill>
        <p:spPr>
          <a:xfrm>
            <a:off x="398388" y="2888305"/>
            <a:ext cx="474523" cy="474523"/>
          </a:xfrm>
          <a:prstGeom prst="rect">
            <a:avLst/>
          </a:prstGeom>
        </p:spPr>
      </p:pic>
      <p:pic>
        <p:nvPicPr>
          <p:cNvPr id="6" name="Image 3" descr="preencoded.png">
            <a:extLst>
              <a:ext uri="{FF2B5EF4-FFF2-40B4-BE49-F238E27FC236}">
                <a16:creationId xmlns:a16="http://schemas.microsoft.com/office/drawing/2014/main" id="{7A59B24F-0DFA-E176-0FBC-396705FF68EF}"/>
              </a:ext>
            </a:extLst>
          </p:cNvPr>
          <p:cNvPicPr>
            <a:picLocks noChangeAspect="1"/>
          </p:cNvPicPr>
          <p:nvPr/>
        </p:nvPicPr>
        <p:blipFill>
          <a:blip r:embed="rId6"/>
          <a:stretch>
            <a:fillRect/>
          </a:stretch>
        </p:blipFill>
        <p:spPr>
          <a:xfrm>
            <a:off x="406832" y="3651239"/>
            <a:ext cx="512574" cy="512574"/>
          </a:xfrm>
          <a:prstGeom prst="rect">
            <a:avLst/>
          </a:prstGeom>
        </p:spPr>
      </p:pic>
    </p:spTree>
    <p:extLst>
      <p:ext uri="{BB962C8B-B14F-4D97-AF65-F5344CB8AC3E}">
        <p14:creationId xmlns:p14="http://schemas.microsoft.com/office/powerpoint/2010/main" val="466001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1C63-CE63-CE79-FC01-4A02294C65D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A99E180-6846-2874-2D62-384AF02452A6}"/>
              </a:ext>
            </a:extLst>
          </p:cNvPr>
          <p:cNvSpPr/>
          <p:nvPr/>
        </p:nvSpPr>
        <p:spPr>
          <a:xfrm>
            <a:off x="244807" y="4748645"/>
            <a:ext cx="5755943" cy="1786103"/>
          </a:xfrm>
          <a:prstGeom prst="rect">
            <a:avLst/>
          </a:prstGeom>
          <a:solidFill>
            <a:srgbClr val="00604E">
              <a:alpha val="3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52E1A5D-7765-6EB8-EFF8-089D61EC7402}"/>
              </a:ext>
            </a:extLst>
          </p:cNvPr>
          <p:cNvSpPr>
            <a:spLocks noGrp="1"/>
          </p:cNvSpPr>
          <p:nvPr>
            <p:ph type="title"/>
          </p:nvPr>
        </p:nvSpPr>
        <p:spPr>
          <a:xfrm>
            <a:off x="1146081" y="293944"/>
            <a:ext cx="10281507" cy="1295865"/>
          </a:xfrm>
        </p:spPr>
        <p:txBody>
          <a:bodyPr anchor="t">
            <a:normAutofit/>
          </a:bodyPr>
          <a:lstStyle/>
          <a:p>
            <a:r>
              <a:rPr lang="en-US" dirty="0"/>
              <a:t>Licensing Example 2 </a:t>
            </a:r>
            <a:br>
              <a:rPr lang="en-US" dirty="0"/>
            </a:br>
            <a:r>
              <a:rPr lang="en-US" sz="2400" i="1" dirty="0"/>
              <a:t>No ETL, Small User Base, PPU Workspaces Needed</a:t>
            </a:r>
            <a:endParaRPr lang="en-US" i="1" dirty="0"/>
          </a:p>
        </p:txBody>
      </p:sp>
      <p:sp>
        <p:nvSpPr>
          <p:cNvPr id="2" name="Title 3">
            <a:extLst>
              <a:ext uri="{FF2B5EF4-FFF2-40B4-BE49-F238E27FC236}">
                <a16:creationId xmlns:a16="http://schemas.microsoft.com/office/drawing/2014/main" id="{6C0755D5-9BD6-6323-CD61-343CEAC80875}"/>
              </a:ext>
            </a:extLst>
          </p:cNvPr>
          <p:cNvSpPr txBox="1">
            <a:spLocks/>
          </p:cNvSpPr>
          <p:nvPr/>
        </p:nvSpPr>
        <p:spPr>
          <a:xfrm>
            <a:off x="6524625" y="1930827"/>
            <a:ext cx="5282141" cy="3754540"/>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Assumptions</a:t>
            </a:r>
            <a:br>
              <a:rPr lang="en-US" sz="2400" dirty="0">
                <a:latin typeface="+mn-lt"/>
              </a:rPr>
            </a:br>
            <a:endParaRPr lang="en-US" sz="2400" dirty="0">
              <a:latin typeface="+mn-lt"/>
            </a:endParaRPr>
          </a:p>
          <a:p>
            <a:r>
              <a:rPr lang="en-US" sz="2400" dirty="0">
                <a:latin typeface="+mn-lt"/>
              </a:rPr>
              <a:t>0 Fabric Data Engineers </a:t>
            </a:r>
          </a:p>
          <a:p>
            <a:pPr marL="800100" lvl="1" indent="-342900">
              <a:buFont typeface="Arial" panose="020B0604020202020204" pitchFamily="34" charset="0"/>
              <a:buChar char="•"/>
            </a:pPr>
            <a:r>
              <a:rPr lang="en-US" sz="2400" dirty="0"/>
              <a:t>Engineering is handled outside Fabric</a:t>
            </a:r>
            <a:br>
              <a:rPr lang="en-US" sz="2400" dirty="0"/>
            </a:br>
            <a:endParaRPr lang="en-US" sz="2400" dirty="0"/>
          </a:p>
          <a:p>
            <a:r>
              <a:rPr lang="en-US" sz="2400" dirty="0">
                <a:latin typeface="+mn-lt"/>
              </a:rPr>
              <a:t>2 Power BI Developers</a:t>
            </a:r>
          </a:p>
          <a:p>
            <a:pPr marL="342900" indent="-342900">
              <a:buFont typeface="Arial" panose="020B0604020202020204" pitchFamily="34" charset="0"/>
              <a:buChar char="•"/>
            </a:pPr>
            <a:endParaRPr lang="en-US" sz="2400" dirty="0">
              <a:latin typeface="+mn-lt"/>
            </a:endParaRPr>
          </a:p>
          <a:p>
            <a:r>
              <a:rPr lang="en-US" sz="2400" dirty="0">
                <a:latin typeface="+mn-lt"/>
              </a:rPr>
              <a:t>50 Report Viewers</a:t>
            </a:r>
          </a:p>
        </p:txBody>
      </p:sp>
      <p:sp>
        <p:nvSpPr>
          <p:cNvPr id="9" name="Title 3">
            <a:extLst>
              <a:ext uri="{FF2B5EF4-FFF2-40B4-BE49-F238E27FC236}">
                <a16:creationId xmlns:a16="http://schemas.microsoft.com/office/drawing/2014/main" id="{557D3908-6B98-8776-AAEA-F26B958ABD87}"/>
              </a:ext>
            </a:extLst>
          </p:cNvPr>
          <p:cNvSpPr txBox="1">
            <a:spLocks/>
          </p:cNvSpPr>
          <p:nvPr/>
        </p:nvSpPr>
        <p:spPr>
          <a:xfrm>
            <a:off x="1182418" y="2166472"/>
            <a:ext cx="5232670" cy="2130136"/>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X 0 = $0</a:t>
            </a:r>
          </a:p>
          <a:p>
            <a:endParaRPr lang="en-US" sz="2400" dirty="0">
              <a:latin typeface="+mn-lt"/>
            </a:endParaRPr>
          </a:p>
          <a:p>
            <a:endParaRPr lang="en-US" sz="2400" dirty="0">
              <a:latin typeface="+mn-lt"/>
            </a:endParaRPr>
          </a:p>
          <a:p>
            <a:r>
              <a:rPr lang="en-US" sz="2400" dirty="0">
                <a:latin typeface="+mn-lt"/>
              </a:rPr>
              <a:t>X 2 x $24/</a:t>
            </a:r>
            <a:r>
              <a:rPr lang="en-US" sz="2400" dirty="0" err="1">
                <a:latin typeface="+mn-lt"/>
              </a:rPr>
              <a:t>ppu</a:t>
            </a:r>
            <a:r>
              <a:rPr lang="en-US" sz="2400" dirty="0">
                <a:latin typeface="+mn-lt"/>
              </a:rPr>
              <a:t> license = $48</a:t>
            </a:r>
            <a:br>
              <a:rPr lang="en-US" sz="2400" dirty="0">
                <a:latin typeface="+mn-lt"/>
              </a:rPr>
            </a:br>
            <a:endParaRPr lang="en-US" sz="2400" dirty="0">
              <a:latin typeface="+mn-lt"/>
            </a:endParaRPr>
          </a:p>
          <a:p>
            <a:endParaRPr lang="en-US" sz="2400" dirty="0">
              <a:latin typeface="+mn-lt"/>
            </a:endParaRPr>
          </a:p>
          <a:p>
            <a:r>
              <a:rPr lang="en-US" sz="2400" dirty="0">
                <a:latin typeface="+mn-lt"/>
              </a:rPr>
              <a:t>X 50 x $24/</a:t>
            </a:r>
            <a:r>
              <a:rPr lang="en-US" sz="2400" dirty="0" err="1">
                <a:latin typeface="+mn-lt"/>
              </a:rPr>
              <a:t>ppu</a:t>
            </a:r>
            <a:r>
              <a:rPr lang="en-US" sz="2400" dirty="0">
                <a:latin typeface="+mn-lt"/>
              </a:rPr>
              <a:t> license = $1,200</a:t>
            </a:r>
          </a:p>
        </p:txBody>
      </p:sp>
      <p:sp>
        <p:nvSpPr>
          <p:cNvPr id="7" name="Title 3">
            <a:extLst>
              <a:ext uri="{FF2B5EF4-FFF2-40B4-BE49-F238E27FC236}">
                <a16:creationId xmlns:a16="http://schemas.microsoft.com/office/drawing/2014/main" id="{EE34352D-E92F-9433-B17A-756CDD333598}"/>
              </a:ext>
            </a:extLst>
          </p:cNvPr>
          <p:cNvSpPr txBox="1">
            <a:spLocks/>
          </p:cNvSpPr>
          <p:nvPr/>
        </p:nvSpPr>
        <p:spPr>
          <a:xfrm>
            <a:off x="333375" y="4873271"/>
            <a:ext cx="4619625" cy="1601957"/>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Total Monthly Estimate: $1,248</a:t>
            </a:r>
            <a:br>
              <a:rPr lang="en-US" sz="2400" b="1" dirty="0">
                <a:latin typeface="+mn-lt"/>
              </a:rPr>
            </a:br>
            <a:endParaRPr lang="en-US" sz="2400" b="1" dirty="0">
              <a:latin typeface="+mn-lt"/>
            </a:endParaRPr>
          </a:p>
          <a:p>
            <a:r>
              <a:rPr lang="en-US" sz="2400" b="1" dirty="0">
                <a:latin typeface="+mn-lt"/>
              </a:rPr>
              <a:t>Total Annual Estimate: $14,976</a:t>
            </a:r>
          </a:p>
          <a:p>
            <a:endParaRPr lang="en-US" sz="2400" b="1" dirty="0">
              <a:latin typeface="+mn-lt"/>
            </a:endParaRPr>
          </a:p>
          <a:p>
            <a:r>
              <a:rPr lang="en-US" sz="2400" b="1" dirty="0">
                <a:latin typeface="+mn-lt"/>
              </a:rPr>
              <a:t>+ External Engineering Costs</a:t>
            </a:r>
            <a:endParaRPr lang="en-US" sz="1800" b="1" dirty="0">
              <a:latin typeface="+mn-lt"/>
            </a:endParaRPr>
          </a:p>
        </p:txBody>
      </p:sp>
      <p:pic>
        <p:nvPicPr>
          <p:cNvPr id="15" name="Graphic 14" descr="Diamond with solid fill">
            <a:extLst>
              <a:ext uri="{FF2B5EF4-FFF2-40B4-BE49-F238E27FC236}">
                <a16:creationId xmlns:a16="http://schemas.microsoft.com/office/drawing/2014/main" id="{2E5B1944-204B-AFED-FA65-82C633A821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771" y="355122"/>
            <a:ext cx="755916" cy="755916"/>
          </a:xfrm>
          <a:prstGeom prst="rect">
            <a:avLst/>
          </a:prstGeom>
        </p:spPr>
      </p:pic>
      <p:pic>
        <p:nvPicPr>
          <p:cNvPr id="16" name="Graphic 15" descr="User outline">
            <a:extLst>
              <a:ext uri="{FF2B5EF4-FFF2-40B4-BE49-F238E27FC236}">
                <a16:creationId xmlns:a16="http://schemas.microsoft.com/office/drawing/2014/main" id="{F62347F6-6A06-31A8-1D9D-CF8914E742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6628" y="675583"/>
            <a:ext cx="481239" cy="481239"/>
          </a:xfrm>
          <a:prstGeom prst="rect">
            <a:avLst/>
          </a:prstGeom>
        </p:spPr>
      </p:pic>
      <p:pic>
        <p:nvPicPr>
          <p:cNvPr id="5" name="Image 1" descr="preencoded.png">
            <a:extLst>
              <a:ext uri="{FF2B5EF4-FFF2-40B4-BE49-F238E27FC236}">
                <a16:creationId xmlns:a16="http://schemas.microsoft.com/office/drawing/2014/main" id="{6E4F4A58-D86D-C582-0CA0-53A4A32A5543}"/>
              </a:ext>
            </a:extLst>
          </p:cNvPr>
          <p:cNvPicPr>
            <a:picLocks noChangeAspect="1"/>
          </p:cNvPicPr>
          <p:nvPr/>
        </p:nvPicPr>
        <p:blipFill>
          <a:blip r:embed="rId5"/>
          <a:stretch>
            <a:fillRect/>
          </a:stretch>
        </p:blipFill>
        <p:spPr>
          <a:xfrm>
            <a:off x="371476" y="2071250"/>
            <a:ext cx="512575" cy="512575"/>
          </a:xfrm>
          <a:prstGeom prst="rect">
            <a:avLst/>
          </a:prstGeom>
        </p:spPr>
      </p:pic>
      <p:pic>
        <p:nvPicPr>
          <p:cNvPr id="6" name="Image 2" descr="preencoded.png">
            <a:extLst>
              <a:ext uri="{FF2B5EF4-FFF2-40B4-BE49-F238E27FC236}">
                <a16:creationId xmlns:a16="http://schemas.microsoft.com/office/drawing/2014/main" id="{6BFB6F19-2F39-3A5D-C5A5-2D9B54EDA144}"/>
              </a:ext>
            </a:extLst>
          </p:cNvPr>
          <p:cNvPicPr>
            <a:picLocks noChangeAspect="1"/>
          </p:cNvPicPr>
          <p:nvPr/>
        </p:nvPicPr>
        <p:blipFill>
          <a:blip r:embed="rId6"/>
          <a:stretch>
            <a:fillRect/>
          </a:stretch>
        </p:blipFill>
        <p:spPr>
          <a:xfrm>
            <a:off x="398388" y="2888305"/>
            <a:ext cx="474523" cy="474523"/>
          </a:xfrm>
          <a:prstGeom prst="rect">
            <a:avLst/>
          </a:prstGeom>
        </p:spPr>
      </p:pic>
      <p:pic>
        <p:nvPicPr>
          <p:cNvPr id="11" name="Image 3" descr="preencoded.png">
            <a:extLst>
              <a:ext uri="{FF2B5EF4-FFF2-40B4-BE49-F238E27FC236}">
                <a16:creationId xmlns:a16="http://schemas.microsoft.com/office/drawing/2014/main" id="{22DE07E2-C241-F1FB-8017-CD655E6E70FB}"/>
              </a:ext>
            </a:extLst>
          </p:cNvPr>
          <p:cNvPicPr>
            <a:picLocks noChangeAspect="1"/>
          </p:cNvPicPr>
          <p:nvPr/>
        </p:nvPicPr>
        <p:blipFill>
          <a:blip r:embed="rId7"/>
          <a:stretch>
            <a:fillRect/>
          </a:stretch>
        </p:blipFill>
        <p:spPr>
          <a:xfrm>
            <a:off x="406832" y="3651239"/>
            <a:ext cx="512574" cy="512574"/>
          </a:xfrm>
          <a:prstGeom prst="rect">
            <a:avLst/>
          </a:prstGeom>
        </p:spPr>
      </p:pic>
    </p:spTree>
    <p:extLst>
      <p:ext uri="{BB962C8B-B14F-4D97-AF65-F5344CB8AC3E}">
        <p14:creationId xmlns:p14="http://schemas.microsoft.com/office/powerpoint/2010/main" val="1966224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C2C62-12A3-2C38-60E8-293E9B5B85F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C7E9BA8-36C2-37FF-7A7F-7997359AC234}"/>
              </a:ext>
            </a:extLst>
          </p:cNvPr>
          <p:cNvSpPr/>
          <p:nvPr/>
        </p:nvSpPr>
        <p:spPr>
          <a:xfrm>
            <a:off x="244807" y="4748645"/>
            <a:ext cx="5744513" cy="1786103"/>
          </a:xfrm>
          <a:prstGeom prst="rect">
            <a:avLst/>
          </a:prstGeom>
          <a:solidFill>
            <a:srgbClr val="00604E">
              <a:alpha val="3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46134C8-5EA6-E3E9-C819-CFA57E9C8A2C}"/>
              </a:ext>
            </a:extLst>
          </p:cNvPr>
          <p:cNvSpPr>
            <a:spLocks noGrp="1"/>
          </p:cNvSpPr>
          <p:nvPr>
            <p:ph type="title"/>
          </p:nvPr>
        </p:nvSpPr>
        <p:spPr>
          <a:xfrm>
            <a:off x="1146081" y="293944"/>
            <a:ext cx="10281507" cy="1295865"/>
          </a:xfrm>
        </p:spPr>
        <p:txBody>
          <a:bodyPr anchor="t">
            <a:normAutofit/>
          </a:bodyPr>
          <a:lstStyle/>
          <a:p>
            <a:r>
              <a:rPr lang="en-US" dirty="0"/>
              <a:t>Licensing Example 3 </a:t>
            </a:r>
            <a:br>
              <a:rPr lang="en-US" dirty="0"/>
            </a:br>
            <a:r>
              <a:rPr lang="en-US" sz="2400" i="1" dirty="0"/>
              <a:t>No ETL, Large User Base</a:t>
            </a:r>
            <a:endParaRPr lang="en-US" i="1" dirty="0"/>
          </a:p>
        </p:txBody>
      </p:sp>
      <p:pic>
        <p:nvPicPr>
          <p:cNvPr id="168" name="Graphic 167" descr="Diamond with solid fill">
            <a:extLst>
              <a:ext uri="{FF2B5EF4-FFF2-40B4-BE49-F238E27FC236}">
                <a16:creationId xmlns:a16="http://schemas.microsoft.com/office/drawing/2014/main" id="{24F25516-42BB-107F-0B41-C94579CF001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4799" y="91252"/>
            <a:ext cx="914400" cy="914400"/>
          </a:xfrm>
          <a:prstGeom prst="rect">
            <a:avLst/>
          </a:prstGeom>
        </p:spPr>
      </p:pic>
      <p:sp>
        <p:nvSpPr>
          <p:cNvPr id="2" name="Title 3">
            <a:extLst>
              <a:ext uri="{FF2B5EF4-FFF2-40B4-BE49-F238E27FC236}">
                <a16:creationId xmlns:a16="http://schemas.microsoft.com/office/drawing/2014/main" id="{CAD06CD3-C921-65B6-CE68-C5EE77F8543C}"/>
              </a:ext>
            </a:extLst>
          </p:cNvPr>
          <p:cNvSpPr txBox="1">
            <a:spLocks/>
          </p:cNvSpPr>
          <p:nvPr/>
        </p:nvSpPr>
        <p:spPr>
          <a:xfrm>
            <a:off x="6448425" y="1930827"/>
            <a:ext cx="5853113" cy="4046640"/>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Assumptions</a:t>
            </a:r>
            <a:br>
              <a:rPr lang="en-US" sz="2400" dirty="0">
                <a:latin typeface="+mn-lt"/>
              </a:rPr>
            </a:br>
            <a:endParaRPr lang="en-US" sz="2400" dirty="0">
              <a:latin typeface="+mn-lt"/>
            </a:endParaRPr>
          </a:p>
          <a:p>
            <a:r>
              <a:rPr lang="en-US" sz="2400" dirty="0">
                <a:latin typeface="+mn-lt"/>
              </a:rPr>
              <a:t>0 Fabric Data Engineers </a:t>
            </a:r>
          </a:p>
          <a:p>
            <a:pPr marL="800100" lvl="1" indent="-342900">
              <a:buFont typeface="Arial" panose="020B0604020202020204" pitchFamily="34" charset="0"/>
              <a:buChar char="•"/>
            </a:pPr>
            <a:r>
              <a:rPr lang="en-US" sz="2400" dirty="0"/>
              <a:t>Engineering is handled outside Fabric</a:t>
            </a:r>
            <a:br>
              <a:rPr lang="en-US" sz="2400" dirty="0"/>
            </a:br>
            <a:endParaRPr lang="en-US" sz="2400" dirty="0"/>
          </a:p>
          <a:p>
            <a:r>
              <a:rPr lang="en-US" sz="2400" dirty="0">
                <a:latin typeface="+mn-lt"/>
              </a:rPr>
              <a:t>5 Power BI Developers</a:t>
            </a:r>
          </a:p>
          <a:p>
            <a:pPr marL="342900" indent="-342900">
              <a:buFont typeface="Arial" panose="020B0604020202020204" pitchFamily="34" charset="0"/>
              <a:buChar char="•"/>
            </a:pPr>
            <a:endParaRPr lang="en-US" sz="2400" dirty="0">
              <a:latin typeface="+mn-lt"/>
            </a:endParaRPr>
          </a:p>
          <a:p>
            <a:r>
              <a:rPr lang="en-US" sz="2400" dirty="0">
                <a:latin typeface="+mn-lt"/>
              </a:rPr>
              <a:t>∞ Report Viewers</a:t>
            </a:r>
            <a:br>
              <a:rPr lang="en-US" sz="2400" dirty="0">
                <a:latin typeface="+mn-lt"/>
              </a:rPr>
            </a:br>
            <a:endParaRPr lang="en-US" sz="2400" dirty="0">
              <a:latin typeface="+mn-lt"/>
            </a:endParaRPr>
          </a:p>
          <a:p>
            <a:r>
              <a:rPr lang="en-US" sz="2400" dirty="0">
                <a:latin typeface="+mn-lt"/>
              </a:rPr>
              <a:t>Reserved F64 pricing</a:t>
            </a:r>
          </a:p>
        </p:txBody>
      </p:sp>
      <p:sp>
        <p:nvSpPr>
          <p:cNvPr id="9" name="Title 3">
            <a:extLst>
              <a:ext uri="{FF2B5EF4-FFF2-40B4-BE49-F238E27FC236}">
                <a16:creationId xmlns:a16="http://schemas.microsoft.com/office/drawing/2014/main" id="{8F784876-702D-2DDB-A585-8B4013D95DBA}"/>
              </a:ext>
            </a:extLst>
          </p:cNvPr>
          <p:cNvSpPr txBox="1">
            <a:spLocks/>
          </p:cNvSpPr>
          <p:nvPr/>
        </p:nvSpPr>
        <p:spPr>
          <a:xfrm>
            <a:off x="1182418" y="2166471"/>
            <a:ext cx="5170757" cy="2447861"/>
          </a:xfrm>
          <a:prstGeom prst="rect">
            <a:avLst/>
          </a:prstGeom>
        </p:spPr>
        <p:txBody>
          <a:bodyPr vert="horz" lIns="0" tIns="45720" rIns="91440" bIns="45720" rtlCol="0" anchor="t">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X 0 = $0</a:t>
            </a:r>
          </a:p>
          <a:p>
            <a:endParaRPr lang="en-US" sz="2400" dirty="0">
              <a:latin typeface="+mn-lt"/>
            </a:endParaRPr>
          </a:p>
          <a:p>
            <a:endParaRPr lang="en-US" sz="2400" dirty="0">
              <a:latin typeface="+mn-lt"/>
            </a:endParaRPr>
          </a:p>
          <a:p>
            <a:r>
              <a:rPr lang="en-US" sz="2400" dirty="0">
                <a:latin typeface="+mn-lt"/>
              </a:rPr>
              <a:t>X 5 x $14/pro license = $70</a:t>
            </a:r>
            <a:br>
              <a:rPr lang="en-US" sz="2400" dirty="0">
                <a:latin typeface="+mn-lt"/>
              </a:rPr>
            </a:br>
            <a:endParaRPr lang="en-US" sz="2400" dirty="0">
              <a:latin typeface="+mn-lt"/>
            </a:endParaRPr>
          </a:p>
          <a:p>
            <a:r>
              <a:rPr lang="en-US" sz="2400" dirty="0">
                <a:latin typeface="+mn-lt"/>
              </a:rPr>
              <a:t>F64 = $5,000</a:t>
            </a:r>
            <a:br>
              <a:rPr lang="en-US" sz="2400" dirty="0">
                <a:latin typeface="+mn-lt"/>
              </a:rPr>
            </a:br>
            <a:endParaRPr lang="en-US" sz="2400" dirty="0">
              <a:latin typeface="+mn-lt"/>
            </a:endParaRPr>
          </a:p>
          <a:p>
            <a:endParaRPr lang="en-US" sz="2400" dirty="0">
              <a:latin typeface="+mn-lt"/>
            </a:endParaRPr>
          </a:p>
          <a:p>
            <a:r>
              <a:rPr lang="en-US" sz="2400" dirty="0">
                <a:latin typeface="+mn-lt"/>
              </a:rPr>
              <a:t>X ∞ x $0 viewer = $0</a:t>
            </a:r>
          </a:p>
        </p:txBody>
      </p:sp>
      <p:sp>
        <p:nvSpPr>
          <p:cNvPr id="7" name="Title 3">
            <a:extLst>
              <a:ext uri="{FF2B5EF4-FFF2-40B4-BE49-F238E27FC236}">
                <a16:creationId xmlns:a16="http://schemas.microsoft.com/office/drawing/2014/main" id="{C3DF9DF7-CFDB-4406-F059-B2E69A77893E}"/>
              </a:ext>
            </a:extLst>
          </p:cNvPr>
          <p:cNvSpPr txBox="1">
            <a:spLocks/>
          </p:cNvSpPr>
          <p:nvPr/>
        </p:nvSpPr>
        <p:spPr>
          <a:xfrm>
            <a:off x="295751" y="4873271"/>
            <a:ext cx="4699581" cy="1601957"/>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Total Monthly Estimate: $5,070</a:t>
            </a:r>
            <a:br>
              <a:rPr lang="en-US" sz="2400" b="1" dirty="0">
                <a:latin typeface="+mn-lt"/>
              </a:rPr>
            </a:br>
            <a:endParaRPr lang="en-US" sz="2400" b="1" dirty="0">
              <a:latin typeface="+mn-lt"/>
            </a:endParaRPr>
          </a:p>
          <a:p>
            <a:r>
              <a:rPr lang="en-US" sz="2400" b="1" dirty="0">
                <a:latin typeface="+mn-lt"/>
              </a:rPr>
              <a:t>Total Annual Estimate: $60,840</a:t>
            </a:r>
          </a:p>
          <a:p>
            <a:endParaRPr lang="en-US" sz="2400" b="1" dirty="0">
              <a:latin typeface="+mn-lt"/>
            </a:endParaRPr>
          </a:p>
          <a:p>
            <a:r>
              <a:rPr lang="en-US" sz="2400" b="1" dirty="0">
                <a:latin typeface="+mn-lt"/>
              </a:rPr>
              <a:t>+ External Engineering Costs</a:t>
            </a:r>
            <a:endParaRPr lang="en-US" sz="1800" b="1" dirty="0">
              <a:latin typeface="+mn-lt"/>
            </a:endParaRPr>
          </a:p>
        </p:txBody>
      </p:sp>
      <p:pic>
        <p:nvPicPr>
          <p:cNvPr id="5" name="Image 1" descr="preencoded.png">
            <a:extLst>
              <a:ext uri="{FF2B5EF4-FFF2-40B4-BE49-F238E27FC236}">
                <a16:creationId xmlns:a16="http://schemas.microsoft.com/office/drawing/2014/main" id="{8B79F073-A066-A5BD-ED8A-EFEDF2B56618}"/>
              </a:ext>
            </a:extLst>
          </p:cNvPr>
          <p:cNvPicPr>
            <a:picLocks noChangeAspect="1"/>
          </p:cNvPicPr>
          <p:nvPr/>
        </p:nvPicPr>
        <p:blipFill>
          <a:blip r:embed="rId4"/>
          <a:stretch>
            <a:fillRect/>
          </a:stretch>
        </p:blipFill>
        <p:spPr>
          <a:xfrm>
            <a:off x="371476" y="2071250"/>
            <a:ext cx="512575" cy="512575"/>
          </a:xfrm>
          <a:prstGeom prst="rect">
            <a:avLst/>
          </a:prstGeom>
        </p:spPr>
      </p:pic>
      <p:pic>
        <p:nvPicPr>
          <p:cNvPr id="6" name="Image 2" descr="preencoded.png">
            <a:extLst>
              <a:ext uri="{FF2B5EF4-FFF2-40B4-BE49-F238E27FC236}">
                <a16:creationId xmlns:a16="http://schemas.microsoft.com/office/drawing/2014/main" id="{A885CC3A-121E-3BC4-8374-4752EDC631A1}"/>
              </a:ext>
            </a:extLst>
          </p:cNvPr>
          <p:cNvPicPr>
            <a:picLocks noChangeAspect="1"/>
          </p:cNvPicPr>
          <p:nvPr/>
        </p:nvPicPr>
        <p:blipFill>
          <a:blip r:embed="rId5"/>
          <a:stretch>
            <a:fillRect/>
          </a:stretch>
        </p:blipFill>
        <p:spPr>
          <a:xfrm>
            <a:off x="398388" y="2888305"/>
            <a:ext cx="474523" cy="474523"/>
          </a:xfrm>
          <a:prstGeom prst="rect">
            <a:avLst/>
          </a:prstGeom>
        </p:spPr>
      </p:pic>
      <p:pic>
        <p:nvPicPr>
          <p:cNvPr id="11" name="Image 3" descr="preencoded.png">
            <a:extLst>
              <a:ext uri="{FF2B5EF4-FFF2-40B4-BE49-F238E27FC236}">
                <a16:creationId xmlns:a16="http://schemas.microsoft.com/office/drawing/2014/main" id="{5577A7F5-99C0-D798-876E-D6413B584789}"/>
              </a:ext>
            </a:extLst>
          </p:cNvPr>
          <p:cNvPicPr>
            <a:picLocks noChangeAspect="1"/>
          </p:cNvPicPr>
          <p:nvPr/>
        </p:nvPicPr>
        <p:blipFill>
          <a:blip r:embed="rId6"/>
          <a:stretch>
            <a:fillRect/>
          </a:stretch>
        </p:blipFill>
        <p:spPr>
          <a:xfrm>
            <a:off x="406832" y="3897425"/>
            <a:ext cx="512574" cy="512574"/>
          </a:xfrm>
          <a:prstGeom prst="rect">
            <a:avLst/>
          </a:prstGeom>
        </p:spPr>
      </p:pic>
    </p:spTree>
    <p:extLst>
      <p:ext uri="{BB962C8B-B14F-4D97-AF65-F5344CB8AC3E}">
        <p14:creationId xmlns:p14="http://schemas.microsoft.com/office/powerpoint/2010/main" val="4273620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D0900-5F18-0FCC-51DF-BBDF27BB7CE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E7C0406-8CF5-B2E5-FA2D-FCBF7EF168F1}"/>
              </a:ext>
            </a:extLst>
          </p:cNvPr>
          <p:cNvSpPr/>
          <p:nvPr/>
        </p:nvSpPr>
        <p:spPr>
          <a:xfrm>
            <a:off x="244807" y="4748645"/>
            <a:ext cx="5698793" cy="1786103"/>
          </a:xfrm>
          <a:prstGeom prst="rect">
            <a:avLst/>
          </a:prstGeom>
          <a:solidFill>
            <a:srgbClr val="00604E">
              <a:alpha val="3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4E47D48-43A7-8D43-06D1-06079E5FD7F1}"/>
              </a:ext>
            </a:extLst>
          </p:cNvPr>
          <p:cNvSpPr>
            <a:spLocks noGrp="1"/>
          </p:cNvSpPr>
          <p:nvPr>
            <p:ph type="title"/>
          </p:nvPr>
        </p:nvSpPr>
        <p:spPr>
          <a:xfrm>
            <a:off x="1146081" y="293944"/>
            <a:ext cx="10281507" cy="1295865"/>
          </a:xfrm>
        </p:spPr>
        <p:txBody>
          <a:bodyPr anchor="t">
            <a:normAutofit/>
          </a:bodyPr>
          <a:lstStyle/>
          <a:p>
            <a:r>
              <a:rPr lang="en-US" dirty="0"/>
              <a:t>Licensing Example 4 </a:t>
            </a:r>
            <a:br>
              <a:rPr lang="en-US" dirty="0"/>
            </a:br>
            <a:r>
              <a:rPr lang="en-US" sz="2400" i="1" dirty="0"/>
              <a:t>Small ETL, Small User Base</a:t>
            </a:r>
            <a:endParaRPr lang="en-US" i="1" dirty="0"/>
          </a:p>
        </p:txBody>
      </p:sp>
      <p:sp>
        <p:nvSpPr>
          <p:cNvPr id="2" name="Title 3">
            <a:extLst>
              <a:ext uri="{FF2B5EF4-FFF2-40B4-BE49-F238E27FC236}">
                <a16:creationId xmlns:a16="http://schemas.microsoft.com/office/drawing/2014/main" id="{E7DE534E-C620-0AA6-D63F-105D51590981}"/>
              </a:ext>
            </a:extLst>
          </p:cNvPr>
          <p:cNvSpPr txBox="1">
            <a:spLocks/>
          </p:cNvSpPr>
          <p:nvPr/>
        </p:nvSpPr>
        <p:spPr>
          <a:xfrm>
            <a:off x="6381752" y="1930826"/>
            <a:ext cx="5565440" cy="4215973"/>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Assumptions</a:t>
            </a:r>
            <a:br>
              <a:rPr lang="en-US" sz="2400" dirty="0">
                <a:latin typeface="+mn-lt"/>
              </a:rPr>
            </a:br>
            <a:endParaRPr lang="en-US" sz="2400" dirty="0">
              <a:latin typeface="+mn-lt"/>
            </a:endParaRPr>
          </a:p>
          <a:p>
            <a:r>
              <a:rPr lang="en-US" sz="2400" dirty="0">
                <a:latin typeface="+mn-lt"/>
              </a:rPr>
              <a:t>2 Fabric Data Engineers </a:t>
            </a:r>
          </a:p>
          <a:p>
            <a:pPr marL="800100" lvl="1" indent="-342900">
              <a:buFont typeface="Arial" panose="020B0604020202020204" pitchFamily="34" charset="0"/>
              <a:buChar char="•"/>
            </a:pPr>
            <a:r>
              <a:rPr lang="en-US" sz="2400" dirty="0"/>
              <a:t>Going with F16 for the estimate</a:t>
            </a:r>
          </a:p>
          <a:p>
            <a:pPr marL="800100" lvl="1" indent="-342900">
              <a:buFont typeface="Arial" panose="020B0604020202020204" pitchFamily="34" charset="0"/>
              <a:buChar char="•"/>
            </a:pPr>
            <a:r>
              <a:rPr lang="en-US" sz="2400" dirty="0"/>
              <a:t>Using reserved pricing</a:t>
            </a:r>
            <a:br>
              <a:rPr lang="en-US" sz="2400" dirty="0"/>
            </a:br>
            <a:endParaRPr lang="en-US" sz="2400" dirty="0"/>
          </a:p>
          <a:p>
            <a:r>
              <a:rPr lang="en-US" sz="2400" dirty="0">
                <a:latin typeface="+mn-lt"/>
              </a:rPr>
              <a:t>2 Power BI Developers</a:t>
            </a:r>
          </a:p>
          <a:p>
            <a:pPr marL="342900" indent="-342900">
              <a:buFont typeface="Arial" panose="020B0604020202020204" pitchFamily="34" charset="0"/>
              <a:buChar char="•"/>
            </a:pPr>
            <a:endParaRPr lang="en-US" sz="2400" dirty="0">
              <a:latin typeface="+mn-lt"/>
            </a:endParaRPr>
          </a:p>
          <a:p>
            <a:r>
              <a:rPr lang="en-US" sz="2400" dirty="0">
                <a:latin typeface="+mn-lt"/>
              </a:rPr>
              <a:t>50 Report Viewers</a:t>
            </a:r>
          </a:p>
        </p:txBody>
      </p:sp>
      <p:sp>
        <p:nvSpPr>
          <p:cNvPr id="9" name="Title 3">
            <a:extLst>
              <a:ext uri="{FF2B5EF4-FFF2-40B4-BE49-F238E27FC236}">
                <a16:creationId xmlns:a16="http://schemas.microsoft.com/office/drawing/2014/main" id="{B781F79B-5E6B-F4E4-FBFE-3B97590CB90E}"/>
              </a:ext>
            </a:extLst>
          </p:cNvPr>
          <p:cNvSpPr txBox="1">
            <a:spLocks/>
          </p:cNvSpPr>
          <p:nvPr/>
        </p:nvSpPr>
        <p:spPr>
          <a:xfrm>
            <a:off x="1182418" y="2166472"/>
            <a:ext cx="4627832" cy="2130136"/>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F16 = $1,250</a:t>
            </a:r>
          </a:p>
          <a:p>
            <a:endParaRPr lang="en-US" sz="2400" dirty="0">
              <a:latin typeface="+mn-lt"/>
            </a:endParaRPr>
          </a:p>
          <a:p>
            <a:endParaRPr lang="en-US" sz="2400" dirty="0">
              <a:latin typeface="+mn-lt"/>
            </a:endParaRPr>
          </a:p>
          <a:p>
            <a:r>
              <a:rPr lang="en-US" sz="2400" dirty="0">
                <a:latin typeface="+mn-lt"/>
              </a:rPr>
              <a:t>X 2 x $14/pro license = $28</a:t>
            </a:r>
            <a:br>
              <a:rPr lang="en-US" sz="2400" dirty="0">
                <a:latin typeface="+mn-lt"/>
              </a:rPr>
            </a:br>
            <a:endParaRPr lang="en-US" sz="2400" dirty="0">
              <a:latin typeface="+mn-lt"/>
            </a:endParaRPr>
          </a:p>
          <a:p>
            <a:endParaRPr lang="en-US" sz="2400" dirty="0">
              <a:latin typeface="+mn-lt"/>
            </a:endParaRPr>
          </a:p>
          <a:p>
            <a:r>
              <a:rPr lang="en-US" sz="2400" dirty="0">
                <a:latin typeface="+mn-lt"/>
              </a:rPr>
              <a:t>X 50 x $14/pro license = $700</a:t>
            </a:r>
          </a:p>
        </p:txBody>
      </p:sp>
      <p:sp>
        <p:nvSpPr>
          <p:cNvPr id="7" name="Title 3">
            <a:extLst>
              <a:ext uri="{FF2B5EF4-FFF2-40B4-BE49-F238E27FC236}">
                <a16:creationId xmlns:a16="http://schemas.microsoft.com/office/drawing/2014/main" id="{5DDE761C-53DA-4B10-FF92-8B12220E0E4D}"/>
              </a:ext>
            </a:extLst>
          </p:cNvPr>
          <p:cNvSpPr txBox="1">
            <a:spLocks/>
          </p:cNvSpPr>
          <p:nvPr/>
        </p:nvSpPr>
        <p:spPr>
          <a:xfrm>
            <a:off x="295752" y="4873271"/>
            <a:ext cx="4619148" cy="1091111"/>
          </a:xfrm>
          <a:prstGeom prst="rect">
            <a:avLst/>
          </a:prstGeom>
        </p:spPr>
        <p:txBody>
          <a:bodyPr vert="horz" lIns="0" tIns="45720" rIns="91440" bIns="45720" rtlCol="0" anchor="t">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Total Monthly Estimate: $1,978</a:t>
            </a:r>
            <a:br>
              <a:rPr lang="en-US" sz="2400" b="1" dirty="0">
                <a:latin typeface="+mn-lt"/>
              </a:rPr>
            </a:br>
            <a:br>
              <a:rPr lang="en-US" sz="2400" b="1" dirty="0">
                <a:latin typeface="+mn-lt"/>
              </a:rPr>
            </a:br>
            <a:endParaRPr lang="en-US" sz="2400" b="1" dirty="0">
              <a:latin typeface="+mn-lt"/>
            </a:endParaRPr>
          </a:p>
          <a:p>
            <a:r>
              <a:rPr lang="en-US" sz="2400" b="1" dirty="0">
                <a:latin typeface="+mn-lt"/>
              </a:rPr>
              <a:t>Total Annual Estimate: $23,736</a:t>
            </a:r>
          </a:p>
        </p:txBody>
      </p:sp>
      <p:pic>
        <p:nvPicPr>
          <p:cNvPr id="6" name="Image 1" descr="preencoded.png">
            <a:extLst>
              <a:ext uri="{FF2B5EF4-FFF2-40B4-BE49-F238E27FC236}">
                <a16:creationId xmlns:a16="http://schemas.microsoft.com/office/drawing/2014/main" id="{A2A9BAB2-5B1F-0835-A71D-6B081EE81599}"/>
              </a:ext>
            </a:extLst>
          </p:cNvPr>
          <p:cNvPicPr>
            <a:picLocks noChangeAspect="1"/>
          </p:cNvPicPr>
          <p:nvPr/>
        </p:nvPicPr>
        <p:blipFill>
          <a:blip r:embed="rId3"/>
          <a:stretch>
            <a:fillRect/>
          </a:stretch>
        </p:blipFill>
        <p:spPr>
          <a:xfrm>
            <a:off x="371476" y="2071250"/>
            <a:ext cx="512575" cy="512575"/>
          </a:xfrm>
          <a:prstGeom prst="rect">
            <a:avLst/>
          </a:prstGeom>
        </p:spPr>
      </p:pic>
      <p:pic>
        <p:nvPicPr>
          <p:cNvPr id="11" name="Image 2" descr="preencoded.png">
            <a:extLst>
              <a:ext uri="{FF2B5EF4-FFF2-40B4-BE49-F238E27FC236}">
                <a16:creationId xmlns:a16="http://schemas.microsoft.com/office/drawing/2014/main" id="{E67C90FE-7212-7345-82F8-C5926D8BA40C}"/>
              </a:ext>
            </a:extLst>
          </p:cNvPr>
          <p:cNvPicPr>
            <a:picLocks noChangeAspect="1"/>
          </p:cNvPicPr>
          <p:nvPr/>
        </p:nvPicPr>
        <p:blipFill>
          <a:blip r:embed="rId4"/>
          <a:stretch>
            <a:fillRect/>
          </a:stretch>
        </p:blipFill>
        <p:spPr>
          <a:xfrm>
            <a:off x="398388" y="2888305"/>
            <a:ext cx="474523" cy="474523"/>
          </a:xfrm>
          <a:prstGeom prst="rect">
            <a:avLst/>
          </a:prstGeom>
        </p:spPr>
      </p:pic>
      <p:pic>
        <p:nvPicPr>
          <p:cNvPr id="13" name="Image 3" descr="preencoded.png">
            <a:extLst>
              <a:ext uri="{FF2B5EF4-FFF2-40B4-BE49-F238E27FC236}">
                <a16:creationId xmlns:a16="http://schemas.microsoft.com/office/drawing/2014/main" id="{38E2AA24-A219-D8BB-922B-05EE6B1E77FD}"/>
              </a:ext>
            </a:extLst>
          </p:cNvPr>
          <p:cNvPicPr>
            <a:picLocks noChangeAspect="1"/>
          </p:cNvPicPr>
          <p:nvPr/>
        </p:nvPicPr>
        <p:blipFill>
          <a:blip r:embed="rId5"/>
          <a:stretch>
            <a:fillRect/>
          </a:stretch>
        </p:blipFill>
        <p:spPr>
          <a:xfrm>
            <a:off x="406832" y="3651239"/>
            <a:ext cx="512574" cy="512574"/>
          </a:xfrm>
          <a:prstGeom prst="rect">
            <a:avLst/>
          </a:prstGeom>
        </p:spPr>
      </p:pic>
      <p:pic>
        <p:nvPicPr>
          <p:cNvPr id="10" name="Graphic 9" descr="Diamond with solid fill">
            <a:extLst>
              <a:ext uri="{FF2B5EF4-FFF2-40B4-BE49-F238E27FC236}">
                <a16:creationId xmlns:a16="http://schemas.microsoft.com/office/drawing/2014/main" id="{4A43A5F1-48F2-9478-931A-1D8468A3007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4799" y="91252"/>
            <a:ext cx="914400" cy="914400"/>
          </a:xfrm>
          <a:prstGeom prst="rect">
            <a:avLst/>
          </a:prstGeom>
        </p:spPr>
      </p:pic>
    </p:spTree>
    <p:extLst>
      <p:ext uri="{BB962C8B-B14F-4D97-AF65-F5344CB8AC3E}">
        <p14:creationId xmlns:p14="http://schemas.microsoft.com/office/powerpoint/2010/main" val="1264232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9A05F-7B4A-A1ED-7AFA-607E9A75235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45908DB-04D7-16E3-3FA9-F4522E092A6C}"/>
              </a:ext>
            </a:extLst>
          </p:cNvPr>
          <p:cNvSpPr/>
          <p:nvPr/>
        </p:nvSpPr>
        <p:spPr>
          <a:xfrm>
            <a:off x="257507" y="4777953"/>
            <a:ext cx="5726098" cy="1786103"/>
          </a:xfrm>
          <a:prstGeom prst="rect">
            <a:avLst/>
          </a:prstGeom>
          <a:solidFill>
            <a:srgbClr val="00604E">
              <a:alpha val="3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37B0337-CF85-F9BD-EAAE-3E12C37240D6}"/>
              </a:ext>
            </a:extLst>
          </p:cNvPr>
          <p:cNvSpPr>
            <a:spLocks noGrp="1"/>
          </p:cNvSpPr>
          <p:nvPr>
            <p:ph type="title"/>
          </p:nvPr>
        </p:nvSpPr>
        <p:spPr>
          <a:xfrm>
            <a:off x="1146081" y="293944"/>
            <a:ext cx="10281507" cy="1295865"/>
          </a:xfrm>
        </p:spPr>
        <p:txBody>
          <a:bodyPr anchor="t">
            <a:normAutofit/>
          </a:bodyPr>
          <a:lstStyle/>
          <a:p>
            <a:r>
              <a:rPr lang="en-US" dirty="0"/>
              <a:t>Licensing Example 5 </a:t>
            </a:r>
            <a:br>
              <a:rPr lang="en-US" dirty="0"/>
            </a:br>
            <a:r>
              <a:rPr lang="en-US" sz="2400" i="1" dirty="0"/>
              <a:t>Larger ETL, Small User Base</a:t>
            </a:r>
            <a:endParaRPr lang="en-US" i="1" dirty="0"/>
          </a:p>
        </p:txBody>
      </p:sp>
      <p:sp>
        <p:nvSpPr>
          <p:cNvPr id="2" name="Title 3">
            <a:extLst>
              <a:ext uri="{FF2B5EF4-FFF2-40B4-BE49-F238E27FC236}">
                <a16:creationId xmlns:a16="http://schemas.microsoft.com/office/drawing/2014/main" id="{B81EA808-2914-C591-32A2-043AAD7DD9A5}"/>
              </a:ext>
            </a:extLst>
          </p:cNvPr>
          <p:cNvSpPr txBox="1">
            <a:spLocks/>
          </p:cNvSpPr>
          <p:nvPr/>
        </p:nvSpPr>
        <p:spPr>
          <a:xfrm>
            <a:off x="6462712" y="1930827"/>
            <a:ext cx="5081587" cy="3966206"/>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Assumptions</a:t>
            </a:r>
            <a:br>
              <a:rPr lang="en-US" sz="2400" dirty="0">
                <a:latin typeface="+mn-lt"/>
              </a:rPr>
            </a:br>
            <a:endParaRPr lang="en-US" sz="2400" dirty="0">
              <a:latin typeface="+mn-lt"/>
            </a:endParaRPr>
          </a:p>
          <a:p>
            <a:r>
              <a:rPr lang="en-US" sz="2400" dirty="0">
                <a:latin typeface="+mn-lt"/>
              </a:rPr>
              <a:t>2 Fabric Data Engineers </a:t>
            </a:r>
          </a:p>
          <a:p>
            <a:pPr marL="800100" lvl="1" indent="-342900">
              <a:buFont typeface="Arial" panose="020B0604020202020204" pitchFamily="34" charset="0"/>
              <a:buChar char="•"/>
            </a:pPr>
            <a:r>
              <a:rPr lang="en-US" sz="2400" dirty="0"/>
              <a:t>Going with F32 for the estimate</a:t>
            </a:r>
          </a:p>
          <a:p>
            <a:pPr marL="800100" lvl="1" indent="-342900">
              <a:buFont typeface="Arial" panose="020B0604020202020204" pitchFamily="34" charset="0"/>
              <a:buChar char="•"/>
            </a:pPr>
            <a:r>
              <a:rPr lang="en-US" sz="2400" dirty="0"/>
              <a:t>Using reserved pricing</a:t>
            </a:r>
            <a:br>
              <a:rPr lang="en-US" sz="2400" dirty="0"/>
            </a:br>
            <a:endParaRPr lang="en-US" sz="2400" dirty="0"/>
          </a:p>
          <a:p>
            <a:r>
              <a:rPr lang="en-US" sz="2400" dirty="0">
                <a:latin typeface="+mn-lt"/>
              </a:rPr>
              <a:t>2 Power BI Developers</a:t>
            </a:r>
          </a:p>
          <a:p>
            <a:pPr marL="342900" indent="-342900">
              <a:buFont typeface="Arial" panose="020B0604020202020204" pitchFamily="34" charset="0"/>
              <a:buChar char="•"/>
            </a:pPr>
            <a:endParaRPr lang="en-US" sz="2400" dirty="0">
              <a:latin typeface="+mn-lt"/>
            </a:endParaRPr>
          </a:p>
          <a:p>
            <a:r>
              <a:rPr lang="en-US" sz="2400" dirty="0">
                <a:latin typeface="+mn-lt"/>
              </a:rPr>
              <a:t>50 Report Viewers</a:t>
            </a:r>
          </a:p>
        </p:txBody>
      </p:sp>
      <p:sp>
        <p:nvSpPr>
          <p:cNvPr id="9" name="Title 3">
            <a:extLst>
              <a:ext uri="{FF2B5EF4-FFF2-40B4-BE49-F238E27FC236}">
                <a16:creationId xmlns:a16="http://schemas.microsoft.com/office/drawing/2014/main" id="{90819BF9-0465-2D0C-EB11-B890B10DDBED}"/>
              </a:ext>
            </a:extLst>
          </p:cNvPr>
          <p:cNvSpPr txBox="1">
            <a:spLocks/>
          </p:cNvSpPr>
          <p:nvPr/>
        </p:nvSpPr>
        <p:spPr>
          <a:xfrm>
            <a:off x="1182418" y="2166472"/>
            <a:ext cx="4665932" cy="2130136"/>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F32 = $2,501</a:t>
            </a:r>
          </a:p>
          <a:p>
            <a:endParaRPr lang="en-US" sz="2400" dirty="0">
              <a:latin typeface="+mn-lt"/>
            </a:endParaRPr>
          </a:p>
          <a:p>
            <a:endParaRPr lang="en-US" sz="2400" dirty="0">
              <a:latin typeface="+mn-lt"/>
            </a:endParaRPr>
          </a:p>
          <a:p>
            <a:r>
              <a:rPr lang="en-US" sz="2400" dirty="0">
                <a:latin typeface="+mn-lt"/>
              </a:rPr>
              <a:t>X 2 x $14/pro license = $28</a:t>
            </a:r>
            <a:br>
              <a:rPr lang="en-US" sz="2400" dirty="0">
                <a:latin typeface="+mn-lt"/>
              </a:rPr>
            </a:br>
            <a:endParaRPr lang="en-US" sz="2400" dirty="0">
              <a:latin typeface="+mn-lt"/>
            </a:endParaRPr>
          </a:p>
          <a:p>
            <a:endParaRPr lang="en-US" sz="2400" dirty="0">
              <a:latin typeface="+mn-lt"/>
            </a:endParaRPr>
          </a:p>
          <a:p>
            <a:r>
              <a:rPr lang="en-US" sz="2400" dirty="0">
                <a:latin typeface="+mn-lt"/>
              </a:rPr>
              <a:t>X 50 x $10/pro license = $700</a:t>
            </a:r>
          </a:p>
        </p:txBody>
      </p:sp>
      <p:sp>
        <p:nvSpPr>
          <p:cNvPr id="7" name="Title 3">
            <a:extLst>
              <a:ext uri="{FF2B5EF4-FFF2-40B4-BE49-F238E27FC236}">
                <a16:creationId xmlns:a16="http://schemas.microsoft.com/office/drawing/2014/main" id="{11B066CB-D101-F828-51FB-C7EC6D8C9993}"/>
              </a:ext>
            </a:extLst>
          </p:cNvPr>
          <p:cNvSpPr txBox="1">
            <a:spLocks/>
          </p:cNvSpPr>
          <p:nvPr/>
        </p:nvSpPr>
        <p:spPr>
          <a:xfrm>
            <a:off x="295751" y="4873271"/>
            <a:ext cx="4662012" cy="1091111"/>
          </a:xfrm>
          <a:prstGeom prst="rect">
            <a:avLst/>
          </a:prstGeom>
        </p:spPr>
        <p:txBody>
          <a:bodyPr vert="horz" lIns="0" tIns="45720" rIns="91440" bIns="45720" rtlCol="0" anchor="t">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Total Monthly Estimate: $3,229</a:t>
            </a:r>
            <a:br>
              <a:rPr lang="en-US" sz="2400" b="1" dirty="0">
                <a:latin typeface="+mn-lt"/>
              </a:rPr>
            </a:br>
            <a:br>
              <a:rPr lang="en-US" sz="2400" b="1" dirty="0">
                <a:latin typeface="+mn-lt"/>
              </a:rPr>
            </a:br>
            <a:endParaRPr lang="en-US" sz="2400" b="1" dirty="0">
              <a:latin typeface="+mn-lt"/>
            </a:endParaRPr>
          </a:p>
          <a:p>
            <a:r>
              <a:rPr lang="en-US" sz="2400" b="1" dirty="0">
                <a:latin typeface="+mn-lt"/>
              </a:rPr>
              <a:t>Total Annual Estimate: $38,748</a:t>
            </a:r>
          </a:p>
        </p:txBody>
      </p:sp>
      <p:pic>
        <p:nvPicPr>
          <p:cNvPr id="5" name="Image 1" descr="preencoded.png">
            <a:extLst>
              <a:ext uri="{FF2B5EF4-FFF2-40B4-BE49-F238E27FC236}">
                <a16:creationId xmlns:a16="http://schemas.microsoft.com/office/drawing/2014/main" id="{3DED24EF-6B13-97A2-B849-ED18AAEE9BF6}"/>
              </a:ext>
            </a:extLst>
          </p:cNvPr>
          <p:cNvPicPr>
            <a:picLocks noChangeAspect="1"/>
          </p:cNvPicPr>
          <p:nvPr/>
        </p:nvPicPr>
        <p:blipFill>
          <a:blip r:embed="rId3"/>
          <a:stretch>
            <a:fillRect/>
          </a:stretch>
        </p:blipFill>
        <p:spPr>
          <a:xfrm>
            <a:off x="371476" y="2071250"/>
            <a:ext cx="512575" cy="512575"/>
          </a:xfrm>
          <a:prstGeom prst="rect">
            <a:avLst/>
          </a:prstGeom>
        </p:spPr>
      </p:pic>
      <p:pic>
        <p:nvPicPr>
          <p:cNvPr id="6" name="Image 2" descr="preencoded.png">
            <a:extLst>
              <a:ext uri="{FF2B5EF4-FFF2-40B4-BE49-F238E27FC236}">
                <a16:creationId xmlns:a16="http://schemas.microsoft.com/office/drawing/2014/main" id="{0EEDA29F-EB15-DA2B-EBAC-DA4A3161DCD2}"/>
              </a:ext>
            </a:extLst>
          </p:cNvPr>
          <p:cNvPicPr>
            <a:picLocks noChangeAspect="1"/>
          </p:cNvPicPr>
          <p:nvPr/>
        </p:nvPicPr>
        <p:blipFill>
          <a:blip r:embed="rId4"/>
          <a:stretch>
            <a:fillRect/>
          </a:stretch>
        </p:blipFill>
        <p:spPr>
          <a:xfrm>
            <a:off x="398388" y="2888305"/>
            <a:ext cx="474523" cy="474523"/>
          </a:xfrm>
          <a:prstGeom prst="rect">
            <a:avLst/>
          </a:prstGeom>
        </p:spPr>
      </p:pic>
      <p:pic>
        <p:nvPicPr>
          <p:cNvPr id="11" name="Image 3" descr="preencoded.png">
            <a:extLst>
              <a:ext uri="{FF2B5EF4-FFF2-40B4-BE49-F238E27FC236}">
                <a16:creationId xmlns:a16="http://schemas.microsoft.com/office/drawing/2014/main" id="{0B736752-0F87-E0E6-E656-6A85B08D4BDD}"/>
              </a:ext>
            </a:extLst>
          </p:cNvPr>
          <p:cNvPicPr>
            <a:picLocks noChangeAspect="1"/>
          </p:cNvPicPr>
          <p:nvPr/>
        </p:nvPicPr>
        <p:blipFill>
          <a:blip r:embed="rId5"/>
          <a:stretch>
            <a:fillRect/>
          </a:stretch>
        </p:blipFill>
        <p:spPr>
          <a:xfrm>
            <a:off x="406832" y="3651239"/>
            <a:ext cx="512574" cy="512574"/>
          </a:xfrm>
          <a:prstGeom prst="rect">
            <a:avLst/>
          </a:prstGeom>
        </p:spPr>
      </p:pic>
      <p:pic>
        <p:nvPicPr>
          <p:cNvPr id="10" name="Graphic 9" descr="Diamond with solid fill">
            <a:extLst>
              <a:ext uri="{FF2B5EF4-FFF2-40B4-BE49-F238E27FC236}">
                <a16:creationId xmlns:a16="http://schemas.microsoft.com/office/drawing/2014/main" id="{E16B4641-DAD2-0084-B39D-6903B4AB91F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4799" y="91252"/>
            <a:ext cx="914400" cy="914400"/>
          </a:xfrm>
          <a:prstGeom prst="rect">
            <a:avLst/>
          </a:prstGeom>
        </p:spPr>
      </p:pic>
    </p:spTree>
    <p:extLst>
      <p:ext uri="{BB962C8B-B14F-4D97-AF65-F5344CB8AC3E}">
        <p14:creationId xmlns:p14="http://schemas.microsoft.com/office/powerpoint/2010/main" val="2737249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38497-9020-1D47-8301-A4F3CC1EBA6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19938E5-82BD-EBCD-9447-31BBA5D9E0B6}"/>
              </a:ext>
            </a:extLst>
          </p:cNvPr>
          <p:cNvSpPr/>
          <p:nvPr/>
        </p:nvSpPr>
        <p:spPr>
          <a:xfrm>
            <a:off x="244807" y="4748645"/>
            <a:ext cx="5693078" cy="1786103"/>
          </a:xfrm>
          <a:prstGeom prst="rect">
            <a:avLst/>
          </a:prstGeom>
          <a:solidFill>
            <a:srgbClr val="00604E">
              <a:alpha val="3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38E016B-E3A3-72D4-37B6-1165C2324A2C}"/>
              </a:ext>
            </a:extLst>
          </p:cNvPr>
          <p:cNvSpPr>
            <a:spLocks noGrp="1"/>
          </p:cNvSpPr>
          <p:nvPr>
            <p:ph type="title"/>
          </p:nvPr>
        </p:nvSpPr>
        <p:spPr>
          <a:xfrm>
            <a:off x="1146081" y="293944"/>
            <a:ext cx="10281507" cy="1295865"/>
          </a:xfrm>
        </p:spPr>
        <p:txBody>
          <a:bodyPr anchor="t">
            <a:normAutofit/>
          </a:bodyPr>
          <a:lstStyle/>
          <a:p>
            <a:r>
              <a:rPr lang="en-US" dirty="0"/>
              <a:t>Licensing Example 6 </a:t>
            </a:r>
            <a:br>
              <a:rPr lang="en-US" dirty="0"/>
            </a:br>
            <a:r>
              <a:rPr lang="en-US" sz="2400" i="1" dirty="0"/>
              <a:t>Larger ETL, Large User Base</a:t>
            </a:r>
            <a:endParaRPr lang="en-US" i="1" dirty="0"/>
          </a:p>
        </p:txBody>
      </p:sp>
      <p:pic>
        <p:nvPicPr>
          <p:cNvPr id="168" name="Graphic 167" descr="Diamond with solid fill">
            <a:extLst>
              <a:ext uri="{FF2B5EF4-FFF2-40B4-BE49-F238E27FC236}">
                <a16:creationId xmlns:a16="http://schemas.microsoft.com/office/drawing/2014/main" id="{98E838C3-04B6-2C4E-5A8B-0E4D603B9D6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4799" y="91252"/>
            <a:ext cx="914400" cy="914400"/>
          </a:xfrm>
          <a:prstGeom prst="rect">
            <a:avLst/>
          </a:prstGeom>
        </p:spPr>
      </p:pic>
      <p:sp>
        <p:nvSpPr>
          <p:cNvPr id="2" name="Title 3">
            <a:extLst>
              <a:ext uri="{FF2B5EF4-FFF2-40B4-BE49-F238E27FC236}">
                <a16:creationId xmlns:a16="http://schemas.microsoft.com/office/drawing/2014/main" id="{63D296AC-A588-B2C6-F57C-702FA96A270A}"/>
              </a:ext>
            </a:extLst>
          </p:cNvPr>
          <p:cNvSpPr txBox="1">
            <a:spLocks/>
          </p:cNvSpPr>
          <p:nvPr/>
        </p:nvSpPr>
        <p:spPr>
          <a:xfrm>
            <a:off x="6424614" y="1930826"/>
            <a:ext cx="5356752" cy="4330273"/>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800" b="1" dirty="0">
                <a:latin typeface="+mn-lt"/>
              </a:rPr>
              <a:t>Assumptions</a:t>
            </a:r>
            <a:br>
              <a:rPr lang="en-US" sz="2800" dirty="0">
                <a:latin typeface="+mn-lt"/>
              </a:rPr>
            </a:br>
            <a:endParaRPr lang="en-US" sz="2800" dirty="0">
              <a:latin typeface="+mn-lt"/>
            </a:endParaRPr>
          </a:p>
          <a:p>
            <a:r>
              <a:rPr lang="en-US" sz="2400" dirty="0">
                <a:latin typeface="+mn-lt"/>
              </a:rPr>
              <a:t>10 Fabric Data Engineers </a:t>
            </a:r>
          </a:p>
          <a:p>
            <a:pPr marL="800100" lvl="1" indent="-342900">
              <a:buFont typeface="Arial" panose="020B0604020202020204" pitchFamily="34" charset="0"/>
              <a:buChar char="•"/>
            </a:pPr>
            <a:r>
              <a:rPr lang="en-US" sz="2400" dirty="0"/>
              <a:t>Going with F64 for the estimate</a:t>
            </a:r>
          </a:p>
          <a:p>
            <a:pPr marL="800100" lvl="1" indent="-342900">
              <a:buFont typeface="Arial" panose="020B0604020202020204" pitchFamily="34" charset="0"/>
              <a:buChar char="•"/>
            </a:pPr>
            <a:r>
              <a:rPr lang="en-US" sz="2400" dirty="0"/>
              <a:t>Using reserved pricing</a:t>
            </a:r>
            <a:br>
              <a:rPr lang="en-US" sz="2400" dirty="0"/>
            </a:br>
            <a:endParaRPr lang="en-US" sz="2400" dirty="0"/>
          </a:p>
          <a:p>
            <a:r>
              <a:rPr lang="en-US" sz="2400" dirty="0">
                <a:latin typeface="+mn-lt"/>
              </a:rPr>
              <a:t>5 Power BI Developers</a:t>
            </a:r>
          </a:p>
          <a:p>
            <a:pPr marL="342900" indent="-342900">
              <a:buFont typeface="Arial" panose="020B0604020202020204" pitchFamily="34" charset="0"/>
              <a:buChar char="•"/>
            </a:pPr>
            <a:endParaRPr lang="en-US" sz="2400" dirty="0">
              <a:latin typeface="+mn-lt"/>
            </a:endParaRPr>
          </a:p>
          <a:p>
            <a:r>
              <a:rPr lang="en-US" sz="2400" dirty="0">
                <a:latin typeface="+mn-lt"/>
              </a:rPr>
              <a:t>∞ Report Viewers</a:t>
            </a:r>
          </a:p>
        </p:txBody>
      </p:sp>
      <p:sp>
        <p:nvSpPr>
          <p:cNvPr id="9" name="Title 3">
            <a:extLst>
              <a:ext uri="{FF2B5EF4-FFF2-40B4-BE49-F238E27FC236}">
                <a16:creationId xmlns:a16="http://schemas.microsoft.com/office/drawing/2014/main" id="{490F85CA-F89C-7A49-516D-E4D2322B13DA}"/>
              </a:ext>
            </a:extLst>
          </p:cNvPr>
          <p:cNvSpPr txBox="1">
            <a:spLocks/>
          </p:cNvSpPr>
          <p:nvPr/>
        </p:nvSpPr>
        <p:spPr>
          <a:xfrm>
            <a:off x="1182418" y="2166472"/>
            <a:ext cx="4584970" cy="2130136"/>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F64 = $5,000</a:t>
            </a:r>
          </a:p>
          <a:p>
            <a:endParaRPr lang="en-US" sz="2400" dirty="0">
              <a:latin typeface="+mn-lt"/>
            </a:endParaRPr>
          </a:p>
          <a:p>
            <a:endParaRPr lang="en-US" sz="2400" dirty="0">
              <a:latin typeface="+mn-lt"/>
            </a:endParaRPr>
          </a:p>
          <a:p>
            <a:r>
              <a:rPr lang="en-US" sz="2400" dirty="0">
                <a:latin typeface="+mn-lt"/>
              </a:rPr>
              <a:t>X 5 x $14/pro license = $70</a:t>
            </a:r>
            <a:br>
              <a:rPr lang="en-US" sz="2400" dirty="0">
                <a:latin typeface="+mn-lt"/>
              </a:rPr>
            </a:br>
            <a:endParaRPr lang="en-US" sz="2400" dirty="0">
              <a:latin typeface="+mn-lt"/>
            </a:endParaRPr>
          </a:p>
          <a:p>
            <a:endParaRPr lang="en-US" sz="2400" dirty="0">
              <a:latin typeface="+mn-lt"/>
            </a:endParaRPr>
          </a:p>
          <a:p>
            <a:r>
              <a:rPr lang="en-US" sz="2400" dirty="0">
                <a:latin typeface="+mn-lt"/>
              </a:rPr>
              <a:t>X ∞ x $0 viewer license = $0</a:t>
            </a:r>
          </a:p>
        </p:txBody>
      </p:sp>
      <p:sp>
        <p:nvSpPr>
          <p:cNvPr id="7" name="Title 3">
            <a:extLst>
              <a:ext uri="{FF2B5EF4-FFF2-40B4-BE49-F238E27FC236}">
                <a16:creationId xmlns:a16="http://schemas.microsoft.com/office/drawing/2014/main" id="{F6D8152C-346A-FC9C-359E-38D6FD0BC7D8}"/>
              </a:ext>
            </a:extLst>
          </p:cNvPr>
          <p:cNvSpPr txBox="1">
            <a:spLocks/>
          </p:cNvSpPr>
          <p:nvPr/>
        </p:nvSpPr>
        <p:spPr>
          <a:xfrm>
            <a:off x="295750" y="4873271"/>
            <a:ext cx="4633437" cy="1091111"/>
          </a:xfrm>
          <a:prstGeom prst="rect">
            <a:avLst/>
          </a:prstGeom>
        </p:spPr>
        <p:txBody>
          <a:bodyPr vert="horz" lIns="0" tIns="45720" rIns="91440" bIns="45720" rtlCol="0" anchor="t">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Total Monthly Estimate: $5,070</a:t>
            </a:r>
            <a:br>
              <a:rPr lang="en-US" sz="2400" b="1" dirty="0">
                <a:latin typeface="+mn-lt"/>
              </a:rPr>
            </a:br>
            <a:br>
              <a:rPr lang="en-US" sz="2400" b="1" dirty="0">
                <a:latin typeface="+mn-lt"/>
              </a:rPr>
            </a:br>
            <a:endParaRPr lang="en-US" sz="2400" b="1" dirty="0">
              <a:latin typeface="+mn-lt"/>
            </a:endParaRPr>
          </a:p>
          <a:p>
            <a:r>
              <a:rPr lang="en-US" sz="2400" b="1" dirty="0">
                <a:latin typeface="+mn-lt"/>
              </a:rPr>
              <a:t>Total Annual Estimate: $60,840</a:t>
            </a:r>
          </a:p>
          <a:p>
            <a:endParaRPr lang="en-US" sz="2400" b="1" dirty="0">
              <a:latin typeface="+mn-lt"/>
            </a:endParaRPr>
          </a:p>
        </p:txBody>
      </p:sp>
      <p:pic>
        <p:nvPicPr>
          <p:cNvPr id="5" name="Image 1" descr="preencoded.png">
            <a:extLst>
              <a:ext uri="{FF2B5EF4-FFF2-40B4-BE49-F238E27FC236}">
                <a16:creationId xmlns:a16="http://schemas.microsoft.com/office/drawing/2014/main" id="{DBDA6969-DEFE-DA9F-9DD7-BF3EA39796D8}"/>
              </a:ext>
            </a:extLst>
          </p:cNvPr>
          <p:cNvPicPr>
            <a:picLocks noChangeAspect="1"/>
          </p:cNvPicPr>
          <p:nvPr/>
        </p:nvPicPr>
        <p:blipFill>
          <a:blip r:embed="rId4"/>
          <a:stretch>
            <a:fillRect/>
          </a:stretch>
        </p:blipFill>
        <p:spPr>
          <a:xfrm>
            <a:off x="371476" y="2071250"/>
            <a:ext cx="512575" cy="512575"/>
          </a:xfrm>
          <a:prstGeom prst="rect">
            <a:avLst/>
          </a:prstGeom>
        </p:spPr>
      </p:pic>
      <p:pic>
        <p:nvPicPr>
          <p:cNvPr id="6" name="Image 2" descr="preencoded.png">
            <a:extLst>
              <a:ext uri="{FF2B5EF4-FFF2-40B4-BE49-F238E27FC236}">
                <a16:creationId xmlns:a16="http://schemas.microsoft.com/office/drawing/2014/main" id="{3737D125-5B14-D714-BA7A-C99EEC7B55BA}"/>
              </a:ext>
            </a:extLst>
          </p:cNvPr>
          <p:cNvPicPr>
            <a:picLocks noChangeAspect="1"/>
          </p:cNvPicPr>
          <p:nvPr/>
        </p:nvPicPr>
        <p:blipFill>
          <a:blip r:embed="rId5"/>
          <a:stretch>
            <a:fillRect/>
          </a:stretch>
        </p:blipFill>
        <p:spPr>
          <a:xfrm>
            <a:off x="398388" y="2888305"/>
            <a:ext cx="474523" cy="474523"/>
          </a:xfrm>
          <a:prstGeom prst="rect">
            <a:avLst/>
          </a:prstGeom>
        </p:spPr>
      </p:pic>
      <p:pic>
        <p:nvPicPr>
          <p:cNvPr id="11" name="Image 3" descr="preencoded.png">
            <a:extLst>
              <a:ext uri="{FF2B5EF4-FFF2-40B4-BE49-F238E27FC236}">
                <a16:creationId xmlns:a16="http://schemas.microsoft.com/office/drawing/2014/main" id="{E9FEA94D-4F5F-1E84-38AE-F385CDC60AE5}"/>
              </a:ext>
            </a:extLst>
          </p:cNvPr>
          <p:cNvPicPr>
            <a:picLocks noChangeAspect="1"/>
          </p:cNvPicPr>
          <p:nvPr/>
        </p:nvPicPr>
        <p:blipFill>
          <a:blip r:embed="rId6"/>
          <a:stretch>
            <a:fillRect/>
          </a:stretch>
        </p:blipFill>
        <p:spPr>
          <a:xfrm>
            <a:off x="406832" y="3651239"/>
            <a:ext cx="512574" cy="512574"/>
          </a:xfrm>
          <a:prstGeom prst="rect">
            <a:avLst/>
          </a:prstGeom>
        </p:spPr>
      </p:pic>
    </p:spTree>
    <p:extLst>
      <p:ext uri="{BB962C8B-B14F-4D97-AF65-F5344CB8AC3E}">
        <p14:creationId xmlns:p14="http://schemas.microsoft.com/office/powerpoint/2010/main" val="1525605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99B88-630F-5E9A-6D82-07981B37C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C6E6D-1041-459F-3371-E8041F7E699B}"/>
              </a:ext>
            </a:extLst>
          </p:cNvPr>
          <p:cNvSpPr>
            <a:spLocks noGrp="1"/>
          </p:cNvSpPr>
          <p:nvPr>
            <p:ph type="title"/>
          </p:nvPr>
        </p:nvSpPr>
        <p:spPr>
          <a:xfrm>
            <a:off x="0" y="365125"/>
            <a:ext cx="12188952" cy="1325563"/>
          </a:xfrm>
        </p:spPr>
        <p:txBody>
          <a:bodyPr vert="horz" lIns="91440" tIns="45720" rIns="91440" bIns="45720" rtlCol="0" anchor="ctr">
            <a:normAutofit/>
          </a:bodyPr>
          <a:lstStyle/>
          <a:p>
            <a:pPr algn="ctr"/>
            <a:r>
              <a:rPr lang="en-US" sz="4800" kern="1200" dirty="0">
                <a:solidFill>
                  <a:schemeClr val="tx1"/>
                </a:solidFill>
                <a:latin typeface="+mj-lt"/>
                <a:ea typeface="+mj-ea"/>
                <a:cs typeface="+mj-cs"/>
              </a:rPr>
              <a:t>Helpful Additional Tools</a:t>
            </a:r>
          </a:p>
        </p:txBody>
      </p:sp>
      <p:sp>
        <p:nvSpPr>
          <p:cNvPr id="3" name="Title 3">
            <a:extLst>
              <a:ext uri="{FF2B5EF4-FFF2-40B4-BE49-F238E27FC236}">
                <a16:creationId xmlns:a16="http://schemas.microsoft.com/office/drawing/2014/main" id="{A7DC8369-20D6-18E7-664B-5CA679430B2A}"/>
              </a:ext>
            </a:extLst>
          </p:cNvPr>
          <p:cNvSpPr txBox="1">
            <a:spLocks/>
          </p:cNvSpPr>
          <p:nvPr/>
        </p:nvSpPr>
        <p:spPr>
          <a:xfrm>
            <a:off x="6288589" y="1930826"/>
            <a:ext cx="5660524" cy="4330273"/>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marL="342900" indent="-342900">
              <a:buFont typeface="Arial" panose="020B0604020202020204" pitchFamily="34" charset="0"/>
              <a:buChar char="•"/>
            </a:pPr>
            <a:r>
              <a:rPr lang="en-US" sz="2400" dirty="0">
                <a:solidFill>
                  <a:schemeClr val="accent1"/>
                </a:solidFill>
                <a:latin typeface="+mn-lt"/>
                <a:hlinkClick r:id="rId3">
                  <a:extLst>
                    <a:ext uri="{A12FA001-AC4F-418D-AE19-62706E023703}">
                      <ahyp:hlinkClr xmlns:ahyp="http://schemas.microsoft.com/office/drawing/2018/hyperlinkcolor" val="tx"/>
                    </a:ext>
                  </a:extLst>
                </a:hlinkClick>
              </a:rPr>
              <a:t>https://data-witches.com/power-bi-licensing-calculator/</a:t>
            </a:r>
            <a:br>
              <a:rPr lang="en-US" sz="2400" dirty="0">
                <a:solidFill>
                  <a:schemeClr val="accent1"/>
                </a:solidFill>
                <a:latin typeface="+mn-lt"/>
              </a:rPr>
            </a:br>
            <a:endParaRPr lang="en-US" sz="2400" dirty="0">
              <a:solidFill>
                <a:schemeClr val="accent1"/>
              </a:solidFill>
              <a:latin typeface="+mn-lt"/>
            </a:endParaRPr>
          </a:p>
          <a:p>
            <a:pPr marL="342900" indent="-342900">
              <a:buFont typeface="Arial" panose="020B0604020202020204" pitchFamily="34" charset="0"/>
              <a:buChar char="•"/>
            </a:pPr>
            <a:r>
              <a:rPr lang="en-US" sz="2400" dirty="0">
                <a:solidFill>
                  <a:schemeClr val="accent1"/>
                </a:solidFill>
                <a:latin typeface="+mn-lt"/>
                <a:hlinkClick r:id="rId4">
                  <a:extLst>
                    <a:ext uri="{A12FA001-AC4F-418D-AE19-62706E023703}">
                      <ahyp:hlinkClr xmlns:ahyp="http://schemas.microsoft.com/office/drawing/2018/hyperlinkcolor" val="tx"/>
                    </a:ext>
                  </a:extLst>
                </a:hlinkClick>
              </a:rPr>
              <a:t>Microsoft Fabric Licensing: An Ultimate Guide – RADACAD</a:t>
            </a:r>
            <a:br>
              <a:rPr lang="en-US" sz="2400" dirty="0">
                <a:solidFill>
                  <a:schemeClr val="accent1"/>
                </a:solidFill>
                <a:latin typeface="+mn-lt"/>
              </a:rPr>
            </a:br>
            <a:endParaRPr lang="en-US" sz="2400" dirty="0">
              <a:solidFill>
                <a:schemeClr val="accent1"/>
              </a:solidFill>
              <a:latin typeface="+mn-lt"/>
            </a:endParaRPr>
          </a:p>
          <a:p>
            <a:pPr marL="342900" indent="-342900">
              <a:buFont typeface="Arial" panose="020B0604020202020204" pitchFamily="34" charset="0"/>
              <a:buChar char="•"/>
            </a:pPr>
            <a:r>
              <a:rPr lang="en-US" sz="2400" dirty="0">
                <a:solidFill>
                  <a:schemeClr val="accent1"/>
                </a:solidFill>
                <a:latin typeface="+mn-lt"/>
                <a:hlinkClick r:id="rId5">
                  <a:extLst>
                    <a:ext uri="{A12FA001-AC4F-418D-AE19-62706E023703}">
                      <ahyp:hlinkClr xmlns:ahyp="http://schemas.microsoft.com/office/drawing/2018/hyperlinkcolor" val="tx"/>
                    </a:ext>
                  </a:extLst>
                </a:hlinkClick>
              </a:rPr>
              <a:t>https://www.tigeranalytics.com/perspectives/blog/a-comprehensive-guide-to-pricing-and-licensing-on-microsoft-fabric/</a:t>
            </a:r>
            <a:r>
              <a:rPr lang="en-US" sz="2400" dirty="0">
                <a:solidFill>
                  <a:schemeClr val="accent1"/>
                </a:solidFill>
                <a:latin typeface="+mn-lt"/>
              </a:rPr>
              <a:t> </a:t>
            </a:r>
          </a:p>
        </p:txBody>
      </p:sp>
      <p:pic>
        <p:nvPicPr>
          <p:cNvPr id="6" name="Picture 5">
            <a:extLst>
              <a:ext uri="{FF2B5EF4-FFF2-40B4-BE49-F238E27FC236}">
                <a16:creationId xmlns:a16="http://schemas.microsoft.com/office/drawing/2014/main" id="{97CC20F5-6CA2-D94E-C370-39050B769D55}"/>
              </a:ext>
            </a:extLst>
          </p:cNvPr>
          <p:cNvPicPr>
            <a:picLocks noChangeAspect="1"/>
          </p:cNvPicPr>
          <p:nvPr/>
        </p:nvPicPr>
        <p:blipFill>
          <a:blip r:embed="rId6"/>
          <a:stretch>
            <a:fillRect/>
          </a:stretch>
        </p:blipFill>
        <p:spPr>
          <a:xfrm>
            <a:off x="676070" y="1930826"/>
            <a:ext cx="5227344" cy="3246012"/>
          </a:xfrm>
          <a:prstGeom prst="rect">
            <a:avLst/>
          </a:prstGeom>
        </p:spPr>
      </p:pic>
    </p:spTree>
    <p:extLst>
      <p:ext uri="{BB962C8B-B14F-4D97-AF65-F5344CB8AC3E}">
        <p14:creationId xmlns:p14="http://schemas.microsoft.com/office/powerpoint/2010/main" val="2258732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D9787-8F77-2DFC-DB0D-CC71B9FA3E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B447C29-A3AB-2142-CAE6-3683A512DDB0}"/>
              </a:ext>
            </a:extLst>
          </p:cNvPr>
          <p:cNvPicPr>
            <a:picLocks noChangeAspect="1"/>
          </p:cNvPicPr>
          <p:nvPr/>
        </p:nvPicPr>
        <p:blipFill>
          <a:blip r:embed="rId3"/>
          <a:stretch>
            <a:fillRect/>
          </a:stretch>
        </p:blipFill>
        <p:spPr>
          <a:xfrm>
            <a:off x="4356289" y="1913467"/>
            <a:ext cx="3594700" cy="4459926"/>
          </a:xfrm>
          <a:prstGeom prst="rect">
            <a:avLst/>
          </a:prstGeom>
        </p:spPr>
      </p:pic>
      <p:sp>
        <p:nvSpPr>
          <p:cNvPr id="8" name="Title 1">
            <a:extLst>
              <a:ext uri="{FF2B5EF4-FFF2-40B4-BE49-F238E27FC236}">
                <a16:creationId xmlns:a16="http://schemas.microsoft.com/office/drawing/2014/main" id="{4C5BD97D-5FDB-3327-ED46-A8A8222E2FC4}"/>
              </a:ext>
            </a:extLst>
          </p:cNvPr>
          <p:cNvSpPr>
            <a:spLocks noGrp="1"/>
          </p:cNvSpPr>
          <p:nvPr>
            <p:ph type="title"/>
          </p:nvPr>
        </p:nvSpPr>
        <p:spPr>
          <a:xfrm>
            <a:off x="0" y="365125"/>
            <a:ext cx="12188952" cy="1325563"/>
          </a:xfrm>
        </p:spPr>
        <p:txBody>
          <a:bodyPr vert="horz" lIns="91440" tIns="45720" rIns="91440" bIns="45720" rtlCol="0" anchor="ctr">
            <a:normAutofit/>
          </a:bodyPr>
          <a:lstStyle/>
          <a:p>
            <a:pPr algn="ctr"/>
            <a:r>
              <a:rPr lang="en-US" sz="4800" dirty="0"/>
              <a:t>Questions?</a:t>
            </a:r>
            <a:endParaRPr lang="en-US" sz="4800" kern="1200" dirty="0">
              <a:solidFill>
                <a:schemeClr val="tx1"/>
              </a:solidFill>
              <a:latin typeface="+mj-lt"/>
              <a:ea typeface="+mj-ea"/>
              <a:cs typeface="+mj-cs"/>
            </a:endParaRPr>
          </a:p>
        </p:txBody>
      </p:sp>
    </p:spTree>
    <p:extLst>
      <p:ext uri="{BB962C8B-B14F-4D97-AF65-F5344CB8AC3E}">
        <p14:creationId xmlns:p14="http://schemas.microsoft.com/office/powerpoint/2010/main" val="2265447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9C578-1F08-216A-5403-706BD3D85303}"/>
              </a:ext>
            </a:extLst>
          </p:cNvPr>
          <p:cNvSpPr>
            <a:spLocks noGrp="1"/>
          </p:cNvSpPr>
          <p:nvPr>
            <p:ph type="title"/>
          </p:nvPr>
        </p:nvSpPr>
        <p:spPr>
          <a:xfrm>
            <a:off x="1246739" y="330974"/>
            <a:ext cx="10197494" cy="1099457"/>
          </a:xfrm>
        </p:spPr>
        <p:txBody>
          <a:bodyPr>
            <a:noAutofit/>
          </a:bodyPr>
          <a:lstStyle/>
          <a:p>
            <a:r>
              <a:rPr lang="en-US" sz="3200" dirty="0"/>
              <a:t>Don’t forget to connect, thanks for listening!</a:t>
            </a:r>
          </a:p>
        </p:txBody>
      </p:sp>
      <p:graphicFrame>
        <p:nvGraphicFramePr>
          <p:cNvPr id="53" name="Content Placeholder 2">
            <a:extLst>
              <a:ext uri="{FF2B5EF4-FFF2-40B4-BE49-F238E27FC236}">
                <a16:creationId xmlns:a16="http://schemas.microsoft.com/office/drawing/2014/main" id="{3C5312A1-6D86-AB24-BBF8-296AC20E4D4A}"/>
              </a:ext>
            </a:extLst>
          </p:cNvPr>
          <p:cNvGraphicFramePr>
            <a:graphicFrameLocks noGrp="1"/>
          </p:cNvGraphicFramePr>
          <p:nvPr>
            <p:ph idx="1"/>
            <p:extLst>
              <p:ext uri="{D42A27DB-BD31-4B8C-83A1-F6EECF244321}">
                <p14:modId xmlns:p14="http://schemas.microsoft.com/office/powerpoint/2010/main" val="425638681"/>
              </p:ext>
            </p:extLst>
          </p:nvPr>
        </p:nvGraphicFramePr>
        <p:xfrm>
          <a:off x="4466024" y="1430431"/>
          <a:ext cx="7601596" cy="52081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5E3BFC27-6733-8963-13C2-165A3C03425F}"/>
              </a:ext>
            </a:extLst>
          </p:cNvPr>
          <p:cNvSpPr txBox="1">
            <a:spLocks/>
          </p:cNvSpPr>
          <p:nvPr/>
        </p:nvSpPr>
        <p:spPr>
          <a:xfrm>
            <a:off x="808001" y="2165955"/>
            <a:ext cx="2493297" cy="623180"/>
          </a:xfrm>
          <a:prstGeom prst="rect">
            <a:avLst/>
          </a:prstGeom>
        </p:spPr>
        <p:txBody>
          <a:bodyPr vert="horz" lIns="91440" tIns="45720" rIns="91440" bIns="45720" rtlCol="0" anchor="t">
            <a:normAutofit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a:solidFill>
                  <a:schemeClr val="tx1"/>
                </a:solidFill>
              </a:rPr>
              <a:t>GitHub</a:t>
            </a:r>
          </a:p>
        </p:txBody>
      </p:sp>
      <p:pic>
        <p:nvPicPr>
          <p:cNvPr id="4" name="Picture 3">
            <a:extLst>
              <a:ext uri="{FF2B5EF4-FFF2-40B4-BE49-F238E27FC236}">
                <a16:creationId xmlns:a16="http://schemas.microsoft.com/office/drawing/2014/main" id="{F9368141-E5EF-4BB5-7A12-57480E4EC457}"/>
              </a:ext>
            </a:extLst>
          </p:cNvPr>
          <p:cNvPicPr>
            <a:picLocks noChangeAspect="1"/>
          </p:cNvPicPr>
          <p:nvPr/>
        </p:nvPicPr>
        <p:blipFill>
          <a:blip r:embed="rId8"/>
          <a:stretch>
            <a:fillRect/>
          </a:stretch>
        </p:blipFill>
        <p:spPr>
          <a:xfrm>
            <a:off x="451700" y="2789135"/>
            <a:ext cx="3205900" cy="3205900"/>
          </a:xfrm>
          <a:prstGeom prst="rect">
            <a:avLst/>
          </a:prstGeom>
        </p:spPr>
      </p:pic>
    </p:spTree>
    <p:extLst>
      <p:ext uri="{BB962C8B-B14F-4D97-AF65-F5344CB8AC3E}">
        <p14:creationId xmlns:p14="http://schemas.microsoft.com/office/powerpoint/2010/main" val="2435802848"/>
      </p:ext>
    </p:extLst>
  </p:cSld>
  <p:clrMapOvr>
    <a:masterClrMapping/>
  </p:clrMapOvr>
</p:sld>
</file>

<file path=ppt/theme/theme1.xml><?xml version="1.0" encoding="utf-8"?>
<a:theme xmlns:a="http://schemas.openxmlformats.org/drawingml/2006/main" name="Accessible Theme">
  <a:themeElements>
    <a:clrScheme name="Custom 1">
      <a:dk1>
        <a:sysClr val="windowText" lastClr="000000"/>
      </a:dk1>
      <a:lt1>
        <a:sysClr val="window" lastClr="FFFFFF"/>
      </a:lt1>
      <a:dk2>
        <a:srgbClr val="4D671B"/>
      </a:dk2>
      <a:lt2>
        <a:srgbClr val="EBEBEB"/>
      </a:lt2>
      <a:accent1>
        <a:srgbClr val="2A5010"/>
      </a:accent1>
      <a:accent2>
        <a:srgbClr val="2A5010"/>
      </a:accent2>
      <a:accent3>
        <a:srgbClr val="E6B91E"/>
      </a:accent3>
      <a:accent4>
        <a:srgbClr val="E76618"/>
      </a:accent4>
      <a:accent5>
        <a:srgbClr val="C42F1A"/>
      </a:accent5>
      <a:accent6>
        <a:srgbClr val="918655"/>
      </a:accent6>
      <a:hlink>
        <a:srgbClr val="99CA3C"/>
      </a:hlink>
      <a:folHlink>
        <a:srgbClr val="B9D181"/>
      </a:folHlink>
    </a:clrScheme>
    <a:fontScheme name="Dyslexic Readable">
      <a:majorFont>
        <a:latin typeface="Atkinson Hyperlegible"/>
        <a:ea typeface=""/>
        <a:cs typeface=""/>
      </a:majorFont>
      <a:minorFont>
        <a:latin typeface="Atkinson Hyperlegib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 Theme" id="{10875AD4-5CAD-4872-B4F2-FE61D414DF08}" vid="{29D82CBB-C483-4E97-ACEB-BAAA2D7D27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B28B1FF-B783-4735-8B92-54E899FCF9CC}">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de999e9-4172-4c67-9dfb-7a2bdf2ec9fe" xsi:nil="true"/>
    <lcf76f155ced4ddcb4097134ff3c332f xmlns="597c0f75-850a-4631-bfec-0dfc22554463">
      <Terms xmlns="http://schemas.microsoft.com/office/infopath/2007/PartnerControls"/>
    </lcf76f155ced4ddcb4097134ff3c332f>
    <Owner xmlns="597c0f75-850a-4631-bfec-0dfc22554463">
      <UserInfo>
        <DisplayName/>
        <AccountId xsi:nil="true"/>
        <AccountType/>
      </UserInfo>
    </Owner>
    <AreaofExpertise xmlns="597c0f75-850a-4631-bfec-0dfc22554463" xsi:nil="true"/>
    <ModuleID xmlns="597c0f75-850a-4631-bfec-0dfc22554463">N/S</ModuleID>
    <_Flow_SignoffStatus xmlns="597c0f75-850a-4631-bfec-0dfc22554463" xsi:nil="true"/>
    <Archive xmlns="597c0f75-850a-4631-bfec-0dfc22554463">false</Archiv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497A3D7617504B977B8187B9BC83AE" ma:contentTypeVersion="21" ma:contentTypeDescription="Create a new document." ma:contentTypeScope="" ma:versionID="150874b74f4caff4db47f7a2c40fbc04">
  <xsd:schema xmlns:xsd="http://www.w3.org/2001/XMLSchema" xmlns:xs="http://www.w3.org/2001/XMLSchema" xmlns:p="http://schemas.microsoft.com/office/2006/metadata/properties" xmlns:ns2="2de999e9-4172-4c67-9dfb-7a2bdf2ec9fe" xmlns:ns3="597c0f75-850a-4631-bfec-0dfc22554463" targetNamespace="http://schemas.microsoft.com/office/2006/metadata/properties" ma:root="true" ma:fieldsID="73f62a5a3b6dcadfd6ecee10f71c01f1" ns2:_="" ns3:_="">
    <xsd:import namespace="2de999e9-4172-4c67-9dfb-7a2bdf2ec9fe"/>
    <xsd:import namespace="597c0f75-850a-4631-bfec-0dfc2255446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lcf76f155ced4ddcb4097134ff3c332f" minOccurs="0"/>
                <xsd:element ref="ns2:TaxCatchAll" minOccurs="0"/>
                <xsd:element ref="ns3:MediaServiceSearchProperties" minOccurs="0"/>
                <xsd:element ref="ns3:MediaServiceObjectDetectorVersions" minOccurs="0"/>
                <xsd:element ref="ns3:_Flow_SignoffStatus" minOccurs="0"/>
                <xsd:element ref="ns3:MediaServiceDateTaken" minOccurs="0"/>
                <xsd:element ref="ns3:MediaLengthInSeconds" minOccurs="0"/>
                <xsd:element ref="ns3:MediaServiceLocation" minOccurs="0"/>
                <xsd:element ref="ns3:AreaofExpertise" minOccurs="0"/>
                <xsd:element ref="ns3:Owner" minOccurs="0"/>
                <xsd:element ref="ns3:ModuleID" minOccurs="0"/>
                <xsd:element ref="ns3:Archiv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e999e9-4172-4c67-9dfb-7a2bdf2ec9f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7" nillable="true" ma:displayName="Taxonomy Catch All Column" ma:hidden="true" ma:list="{3ee17c9e-5d82-41ff-9f8e-3f5a1f7119a8}" ma:internalName="TaxCatchAll" ma:showField="CatchAllData" ma:web="2de999e9-4172-4c67-9dfb-7a2bdf2ec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97c0f75-850a-4631-bfec-0dfc2255446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3beb978-957d-46a2-9a24-771190ada31c"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AreaofExpertise" ma:index="24" nillable="true" ma:displayName="Area of Expertise" ma:description="Specify the Area of Expertise relevant to this content." ma:format="Dropdown" ma:internalName="AreaofExpertise">
      <xsd:complexType>
        <xsd:complexContent>
          <xsd:extension base="dms:MultiChoice">
            <xsd:sequence>
              <xsd:element name="Value" maxOccurs="unbounded" minOccurs="0" nillable="true">
                <xsd:simpleType>
                  <xsd:restriction base="dms:Choice">
                    <xsd:enumeration value="Analytics &amp; BI"/>
                    <xsd:enumeration value="Process Improvement &amp; Automation"/>
                    <xsd:enumeration value="Data Platforms &amp; Architecture"/>
                    <xsd:enumeration value="Consulting Excellence"/>
                    <xsd:enumeration value="Customer Relationships"/>
                    <xsd:enumeration value="Developing Others"/>
                    <xsd:enumeration value="P3 Know How"/>
                  </xsd:restriction>
                </xsd:simpleType>
              </xsd:element>
            </xsd:sequence>
          </xsd:extension>
        </xsd:complexContent>
      </xsd:complexType>
    </xsd:element>
    <xsd:element name="Owner" ma:index="25" nillable="true" ma:displayName="Owner" ma:description="Typically the person who created it" ma:format="Dropdown" ma:list="UserInfo" ma:SharePointGroup="0"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oduleID" ma:index="26" nillable="true" ma:displayName="Module ID" ma:default="N/S" ma:description="e.g. 2Q24-001&#10;Use to group content - e.g. if a module includes a video and and article, they can both have the same module number to be grouped together." ma:format="Dropdown" ma:internalName="ModuleID">
      <xsd:simpleType>
        <xsd:restriction base="dms:Text">
          <xsd:maxLength value="255"/>
        </xsd:restriction>
      </xsd:simpleType>
    </xsd:element>
    <xsd:element name="Archive" ma:index="27" nillable="true" ma:displayName="Archive" ma:default="0" ma:format="Dropdown" ma:internalName="Archiv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4F7A3F-3798-4938-AB09-6FE2A4B878A4}">
  <ds:schemaRefs>
    <ds:schemaRef ds:uri="http://purl.org/dc/dcmitype/"/>
    <ds:schemaRef ds:uri="http://schemas.microsoft.com/office/2006/metadata/properties"/>
    <ds:schemaRef ds:uri="http://schemas.microsoft.com/office/2006/documentManagement/types"/>
    <ds:schemaRef ds:uri="http://schemas.microsoft.com/office/infopath/2007/PartnerControls"/>
    <ds:schemaRef ds:uri="2de999e9-4172-4c67-9dfb-7a2bdf2ec9fe"/>
    <ds:schemaRef ds:uri="http://schemas.openxmlformats.org/package/2006/metadata/core-properties"/>
    <ds:schemaRef ds:uri="http://purl.org/dc/elements/1.1/"/>
    <ds:schemaRef ds:uri="597c0f75-850a-4631-bfec-0dfc22554463"/>
    <ds:schemaRef ds:uri="http://www.w3.org/XML/1998/namespace"/>
    <ds:schemaRef ds:uri="http://purl.org/dc/terms/"/>
  </ds:schemaRefs>
</ds:datastoreItem>
</file>

<file path=customXml/itemProps2.xml><?xml version="1.0" encoding="utf-8"?>
<ds:datastoreItem xmlns:ds="http://schemas.openxmlformats.org/officeDocument/2006/customXml" ds:itemID="{30AF728A-9689-42E9-946C-DC0C31BDD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e999e9-4172-4c67-9dfb-7a2bdf2ec9fe"/>
    <ds:schemaRef ds:uri="597c0f75-850a-4631-bfec-0dfc225544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B9ED252-A91E-4C11-82AF-AC9C14ABA5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 Theme</Template>
  <TotalTime>3319</TotalTime>
  <Words>2818</Words>
  <Application>Microsoft Office PowerPoint</Application>
  <PresentationFormat>Widescreen</PresentationFormat>
  <Paragraphs>401</Paragraphs>
  <Slides>26</Slides>
  <Notes>25</Notes>
  <HiddenSlides>0</HiddenSlides>
  <MMClips>0</MMClips>
  <ScaleCrop>false</ScaleCrop>
  <HeadingPairs>
    <vt:vector size="8" baseType="variant">
      <vt:variant>
        <vt:lpstr>Fonts Used</vt:lpstr>
      </vt:variant>
      <vt:variant>
        <vt:i4>9</vt:i4>
      </vt:variant>
      <vt:variant>
        <vt:lpstr>Theme</vt:lpstr>
      </vt:variant>
      <vt:variant>
        <vt:i4>1</vt:i4>
      </vt:variant>
      <vt:variant>
        <vt:lpstr>Slide Titles</vt:lpstr>
      </vt:variant>
      <vt:variant>
        <vt:i4>26</vt:i4>
      </vt:variant>
      <vt:variant>
        <vt:lpstr>Custom Shows</vt:lpstr>
      </vt:variant>
      <vt:variant>
        <vt:i4>1</vt:i4>
      </vt:variant>
    </vt:vector>
  </HeadingPairs>
  <TitlesOfParts>
    <vt:vector size="37" baseType="lpstr">
      <vt:lpstr>Aptos</vt:lpstr>
      <vt:lpstr>Arial</vt:lpstr>
      <vt:lpstr>Atkinson Hyperlegible</vt:lpstr>
      <vt:lpstr>Calibri</vt:lpstr>
      <vt:lpstr>Georgia</vt:lpstr>
      <vt:lpstr>Inter UI</vt:lpstr>
      <vt:lpstr>Space Grotesk</vt:lpstr>
      <vt:lpstr>Space Grotesk Light</vt:lpstr>
      <vt:lpstr>Space Grotesk Medium</vt:lpstr>
      <vt:lpstr>Accessible Theme</vt:lpstr>
      <vt:lpstr>Decoding Fabric Licensing</vt:lpstr>
      <vt:lpstr>About Me ~ Kristyna Ferris</vt:lpstr>
      <vt:lpstr>Welcome to Fabric Licensing  sometimes the Microsoft Learn documents are not enough </vt:lpstr>
      <vt:lpstr>Microsoft Fabric Licensing Key Concepts 1</vt:lpstr>
      <vt:lpstr>Microsoft Fabric Licensing Key Concepts 2</vt:lpstr>
      <vt:lpstr>PowerPoint Presentation</vt:lpstr>
      <vt:lpstr>PowerPoint Presentation</vt:lpstr>
      <vt:lpstr>PowerPoint Presentation</vt:lpstr>
      <vt:lpstr>PowerPoint Presentation</vt:lpstr>
      <vt:lpstr>Fabric Capacity Pricing</vt:lpstr>
      <vt:lpstr>Breakeven Points</vt:lpstr>
      <vt:lpstr>Picking out a Fabric SKU</vt:lpstr>
      <vt:lpstr>How Do Reservations Work?</vt:lpstr>
      <vt:lpstr>How-To Purchase Capacity Reservation </vt:lpstr>
      <vt:lpstr>What’s the Right Option for You?</vt:lpstr>
      <vt:lpstr>What’s the Right Option for You?</vt:lpstr>
      <vt:lpstr>Licensing Scenario Personas &amp; Workspace Types</vt:lpstr>
      <vt:lpstr>Licensing Example 1  No ETL, Small User Base</vt:lpstr>
      <vt:lpstr>Licensing Example 2  No ETL, Small User Base, PPU Workspaces Needed</vt:lpstr>
      <vt:lpstr>Licensing Example 3  No ETL, Large User Base</vt:lpstr>
      <vt:lpstr>Licensing Example 4  Small ETL, Small User Base</vt:lpstr>
      <vt:lpstr>Licensing Example 5  Larger ETL, Small User Base</vt:lpstr>
      <vt:lpstr>Licensing Example 6  Larger ETL, Large User Base</vt:lpstr>
      <vt:lpstr>Helpful Additional Tools</vt:lpstr>
      <vt:lpstr>Questions?</vt:lpstr>
      <vt:lpstr>Don’t forget to connect, thanks for listening!</vt:lpstr>
      <vt:lpstr>Conf Specific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Bernard</dc:creator>
  <cp:lastModifiedBy>Kristyna Ferris</cp:lastModifiedBy>
  <cp:revision>185</cp:revision>
  <dcterms:created xsi:type="dcterms:W3CDTF">2024-07-02T16:04:35Z</dcterms:created>
  <dcterms:modified xsi:type="dcterms:W3CDTF">2026-08-27T17:55:23Z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0x010100AA497A3D7617504B977B8187B9BC83AE</vt:lpwstr>
  </property>
  <property fmtid="{D5CDD505-2E9C-101B-9397-08002B2CF9AE}" pid="3" name="MediaServiceImageTags">
    <vt:lpwstr/>
  </property>
</Properties>
</file>