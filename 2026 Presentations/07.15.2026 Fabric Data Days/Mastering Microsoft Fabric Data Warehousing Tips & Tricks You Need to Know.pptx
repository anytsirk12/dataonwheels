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8"/>
  </p:notesMasterIdLst>
  <p:sldIdLst>
    <p:sldId id="417" r:id="rId2"/>
    <p:sldId id="300" r:id="rId3"/>
    <p:sldId id="405" r:id="rId4"/>
    <p:sldId id="416" r:id="rId5"/>
    <p:sldId id="410" r:id="rId6"/>
    <p:sldId id="413" r:id="rId7"/>
    <p:sldId id="414" r:id="rId8"/>
    <p:sldId id="415" r:id="rId9"/>
    <p:sldId id="409" r:id="rId10"/>
    <p:sldId id="418" r:id="rId11"/>
    <p:sldId id="406" r:id="rId12"/>
    <p:sldId id="407" r:id="rId13"/>
    <p:sldId id="408" r:id="rId14"/>
    <p:sldId id="2147482362" r:id="rId15"/>
    <p:sldId id="403" r:id="rId16"/>
    <p:sldId id="2147482361" r:id="rId17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1704B-41E3-4591-9B20-468239B64D06}" v="1" dt="2026-07-15T08:59:44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2494" autoAdjust="0"/>
  </p:normalViewPr>
  <p:slideViewPr>
    <p:cSldViewPr snapToGrid="0">
      <p:cViewPr varScale="1">
        <p:scale>
          <a:sx n="102" d="100"/>
          <a:sy n="102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yna Ferris" userId="86aeac9f-971e-413b-9f78-ace434bd0a60" providerId="ADAL" clId="{BB1FBCEE-720A-4BC8-B896-5F1AD7000908}"/>
    <pc:docChg chg="undo custSel addSld delSld modSld sldOrd modShowInfo">
      <pc:chgData name="Kristyna Ferris" userId="86aeac9f-971e-413b-9f78-ace434bd0a60" providerId="ADAL" clId="{BB1FBCEE-720A-4BC8-B896-5F1AD7000908}" dt="2026-07-15T09:54:15.082" v="909" actId="20577"/>
      <pc:docMkLst>
        <pc:docMk/>
      </pc:docMkLst>
      <pc:sldChg chg="add del ord">
        <pc:chgData name="Kristyna Ferris" userId="86aeac9f-971e-413b-9f78-ace434bd0a60" providerId="ADAL" clId="{BB1FBCEE-720A-4BC8-B896-5F1AD7000908}" dt="2026-07-15T08:57:40.700" v="536"/>
        <pc:sldMkLst>
          <pc:docMk/>
          <pc:sldMk cId="657121596" sldId="403"/>
        </pc:sldMkLst>
      </pc:sldChg>
      <pc:sldChg chg="modSp mod">
        <pc:chgData name="Kristyna Ferris" userId="86aeac9f-971e-413b-9f78-ace434bd0a60" providerId="ADAL" clId="{BB1FBCEE-720A-4BC8-B896-5F1AD7000908}" dt="2026-07-15T08:59:28.571" v="538" actId="404"/>
        <pc:sldMkLst>
          <pc:docMk/>
          <pc:sldMk cId="1200374705" sldId="406"/>
        </pc:sldMkLst>
        <pc:spChg chg="mod">
          <ac:chgData name="Kristyna Ferris" userId="86aeac9f-971e-413b-9f78-ace434bd0a60" providerId="ADAL" clId="{BB1FBCEE-720A-4BC8-B896-5F1AD7000908}" dt="2026-07-15T08:55:35.517" v="495" actId="404"/>
          <ac:spMkLst>
            <pc:docMk/>
            <pc:sldMk cId="1200374705" sldId="406"/>
            <ac:spMk id="2" creationId="{25BB4C0D-B3DA-74E6-FF8C-1C6D476F5325}"/>
          </ac:spMkLst>
        </pc:spChg>
        <pc:spChg chg="mod">
          <ac:chgData name="Kristyna Ferris" userId="86aeac9f-971e-413b-9f78-ace434bd0a60" providerId="ADAL" clId="{BB1FBCEE-720A-4BC8-B896-5F1AD7000908}" dt="2026-07-15T08:59:28.571" v="538" actId="404"/>
          <ac:spMkLst>
            <pc:docMk/>
            <pc:sldMk cId="1200374705" sldId="406"/>
            <ac:spMk id="7" creationId="{FF1A9F65-94E0-A5EB-7C47-6BF8C5F3F5CE}"/>
          </ac:spMkLst>
        </pc:spChg>
      </pc:sldChg>
      <pc:sldChg chg="modSp mod">
        <pc:chgData name="Kristyna Ferris" userId="86aeac9f-971e-413b-9f78-ace434bd0a60" providerId="ADAL" clId="{BB1FBCEE-720A-4BC8-B896-5F1AD7000908}" dt="2026-07-15T08:59:21.583" v="537" actId="404"/>
        <pc:sldMkLst>
          <pc:docMk/>
          <pc:sldMk cId="3112785830" sldId="407"/>
        </pc:sldMkLst>
        <pc:spChg chg="mod">
          <ac:chgData name="Kristyna Ferris" userId="86aeac9f-971e-413b-9f78-ace434bd0a60" providerId="ADAL" clId="{BB1FBCEE-720A-4BC8-B896-5F1AD7000908}" dt="2026-07-15T08:55:31.204" v="493" actId="404"/>
          <ac:spMkLst>
            <pc:docMk/>
            <pc:sldMk cId="3112785830" sldId="407"/>
            <ac:spMk id="2" creationId="{4C6E412E-61AD-0C19-8AA4-5C887F9614FE}"/>
          </ac:spMkLst>
        </pc:spChg>
        <pc:spChg chg="mod">
          <ac:chgData name="Kristyna Ferris" userId="86aeac9f-971e-413b-9f78-ace434bd0a60" providerId="ADAL" clId="{BB1FBCEE-720A-4BC8-B896-5F1AD7000908}" dt="2026-07-15T08:59:21.583" v="537" actId="404"/>
          <ac:spMkLst>
            <pc:docMk/>
            <pc:sldMk cId="3112785830" sldId="407"/>
            <ac:spMk id="7" creationId="{A4C93F26-EAEE-1F9D-ADF9-EC4584DD1305}"/>
          </ac:spMkLst>
        </pc:spChg>
      </pc:sldChg>
      <pc:sldChg chg="modSp mod">
        <pc:chgData name="Kristyna Ferris" userId="86aeac9f-971e-413b-9f78-ace434bd0a60" providerId="ADAL" clId="{BB1FBCEE-720A-4BC8-B896-5F1AD7000908}" dt="2026-07-15T08:57:18.126" v="529" actId="404"/>
        <pc:sldMkLst>
          <pc:docMk/>
          <pc:sldMk cId="2094379124" sldId="409"/>
        </pc:sldMkLst>
        <pc:spChg chg="mod">
          <ac:chgData name="Kristyna Ferris" userId="86aeac9f-971e-413b-9f78-ace434bd0a60" providerId="ADAL" clId="{BB1FBCEE-720A-4BC8-B896-5F1AD7000908}" dt="2026-07-15T08:55:44.503" v="498" actId="255"/>
          <ac:spMkLst>
            <pc:docMk/>
            <pc:sldMk cId="2094379124" sldId="409"/>
            <ac:spMk id="2" creationId="{AAA381CD-89C7-838A-0659-C77E810AE9FD}"/>
          </ac:spMkLst>
        </pc:spChg>
        <pc:spChg chg="mod">
          <ac:chgData name="Kristyna Ferris" userId="86aeac9f-971e-413b-9f78-ace434bd0a60" providerId="ADAL" clId="{BB1FBCEE-720A-4BC8-B896-5F1AD7000908}" dt="2026-07-15T08:57:18.126" v="529" actId="404"/>
          <ac:spMkLst>
            <pc:docMk/>
            <pc:sldMk cId="2094379124" sldId="409"/>
            <ac:spMk id="7" creationId="{0CE6A1B5-9388-5A40-8149-6D2FB809A73D}"/>
          </ac:spMkLst>
        </pc:spChg>
      </pc:sldChg>
      <pc:sldChg chg="modSp mod">
        <pc:chgData name="Kristyna Ferris" userId="86aeac9f-971e-413b-9f78-ace434bd0a60" providerId="ADAL" clId="{BB1FBCEE-720A-4BC8-B896-5F1AD7000908}" dt="2026-07-15T08:57:07.715" v="528" actId="20577"/>
        <pc:sldMkLst>
          <pc:docMk/>
          <pc:sldMk cId="1845977226" sldId="413"/>
        </pc:sldMkLst>
        <pc:spChg chg="mod">
          <ac:chgData name="Kristyna Ferris" userId="86aeac9f-971e-413b-9f78-ace434bd0a60" providerId="ADAL" clId="{BB1FBCEE-720A-4BC8-B896-5F1AD7000908}" dt="2026-07-15T08:57:07.715" v="528" actId="20577"/>
          <ac:spMkLst>
            <pc:docMk/>
            <pc:sldMk cId="1845977226" sldId="413"/>
            <ac:spMk id="7" creationId="{4839543A-BC35-E5E5-5181-4716694AC731}"/>
          </ac:spMkLst>
        </pc:spChg>
      </pc:sldChg>
      <pc:sldChg chg="delSp modSp mod delDesignElem">
        <pc:chgData name="Kristyna Ferris" userId="86aeac9f-971e-413b-9f78-ace434bd0a60" providerId="ADAL" clId="{BB1FBCEE-720A-4BC8-B896-5F1AD7000908}" dt="2026-07-15T08:55:47.987" v="499" actId="404"/>
        <pc:sldMkLst>
          <pc:docMk/>
          <pc:sldMk cId="3219163276" sldId="415"/>
        </pc:sldMkLst>
        <pc:spChg chg="mod">
          <ac:chgData name="Kristyna Ferris" userId="86aeac9f-971e-413b-9f78-ace434bd0a60" providerId="ADAL" clId="{BB1FBCEE-720A-4BC8-B896-5F1AD7000908}" dt="2026-07-15T08:55:47.987" v="499" actId="404"/>
          <ac:spMkLst>
            <pc:docMk/>
            <pc:sldMk cId="3219163276" sldId="415"/>
            <ac:spMk id="2" creationId="{2DD901EE-0160-08AD-3C95-46E0D00FD02F}"/>
          </ac:spMkLst>
        </pc:spChg>
        <pc:spChg chg="mod">
          <ac:chgData name="Kristyna Ferris" userId="86aeac9f-971e-413b-9f78-ace434bd0a60" providerId="ADAL" clId="{BB1FBCEE-720A-4BC8-B896-5F1AD7000908}" dt="2026-07-15T08:55:18.127" v="487" actId="20577"/>
          <ac:spMkLst>
            <pc:docMk/>
            <pc:sldMk cId="3219163276" sldId="415"/>
            <ac:spMk id="7" creationId="{4A29A05F-0406-8C04-D509-44A18AD9FD56}"/>
          </ac:spMkLst>
        </pc:spChg>
      </pc:sldChg>
      <pc:sldChg chg="modSp mod">
        <pc:chgData name="Kristyna Ferris" userId="86aeac9f-971e-413b-9f78-ace434bd0a60" providerId="ADAL" clId="{BB1FBCEE-720A-4BC8-B896-5F1AD7000908}" dt="2026-07-15T08:57:25.373" v="530" actId="404"/>
        <pc:sldMkLst>
          <pc:docMk/>
          <pc:sldMk cId="3814770436" sldId="418"/>
        </pc:sldMkLst>
        <pc:spChg chg="mod">
          <ac:chgData name="Kristyna Ferris" userId="86aeac9f-971e-413b-9f78-ace434bd0a60" providerId="ADAL" clId="{BB1FBCEE-720A-4BC8-B896-5F1AD7000908}" dt="2026-07-15T08:57:25.373" v="530" actId="404"/>
          <ac:spMkLst>
            <pc:docMk/>
            <pc:sldMk cId="3814770436" sldId="418"/>
            <ac:spMk id="7" creationId="{6755344E-EE86-05E5-538A-13809E852CD7}"/>
          </ac:spMkLst>
        </pc:spChg>
      </pc:sldChg>
      <pc:sldChg chg="addSp delSp modSp add mod ord modNotesTx">
        <pc:chgData name="Kristyna Ferris" userId="86aeac9f-971e-413b-9f78-ace434bd0a60" providerId="ADAL" clId="{BB1FBCEE-720A-4BC8-B896-5F1AD7000908}" dt="2026-07-15T09:54:15.082" v="909" actId="20577"/>
        <pc:sldMkLst>
          <pc:docMk/>
          <pc:sldMk cId="1529651311" sldId="2147482362"/>
        </pc:sldMkLst>
        <pc:spChg chg="mod">
          <ac:chgData name="Kristyna Ferris" userId="86aeac9f-971e-413b-9f78-ace434bd0a60" providerId="ADAL" clId="{BB1FBCEE-720A-4BC8-B896-5F1AD7000908}" dt="2026-07-15T08:59:41.376" v="551" actId="20577"/>
          <ac:spMkLst>
            <pc:docMk/>
            <pc:sldMk cId="1529651311" sldId="2147482362"/>
            <ac:spMk id="2" creationId="{AB0EB2CE-6D90-DEE9-D3F7-A48F576DD49D}"/>
          </ac:spMkLst>
        </pc:spChg>
        <pc:spChg chg="add del mod">
          <ac:chgData name="Kristyna Ferris" userId="86aeac9f-971e-413b-9f78-ace434bd0a60" providerId="ADAL" clId="{BB1FBCEE-720A-4BC8-B896-5F1AD7000908}" dt="2026-07-15T09:54:15.082" v="909" actId="20577"/>
          <ac:spMkLst>
            <pc:docMk/>
            <pc:sldMk cId="1529651311" sldId="2147482362"/>
            <ac:spMk id="7" creationId="{80CAD4EC-025D-0466-0F8E-A052F8DB7D23}"/>
          </ac:spMkLst>
        </pc:spChg>
        <pc:picChg chg="del">
          <ac:chgData name="Kristyna Ferris" userId="86aeac9f-971e-413b-9f78-ace434bd0a60" providerId="ADAL" clId="{BB1FBCEE-720A-4BC8-B896-5F1AD7000908}" dt="2026-07-15T08:59:44.763" v="552" actId="478"/>
          <ac:picMkLst>
            <pc:docMk/>
            <pc:sldMk cId="1529651311" sldId="2147482362"/>
            <ac:picMk id="3074" creationId="{1380EA78-46D3-2139-C28C-67291E95BE5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hyperlink" Target="https://dataonwheels.wordpress.com/" TargetMode="External"/><Relationship Id="rId5" Type="http://schemas.openxmlformats.org/officeDocument/2006/relationships/image" Target="../media/image23.svg"/><Relationship Id="rId4" Type="http://schemas.microsoft.com/office/2007/relationships/hdphoto" Target="../media/hdphoto1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ataonwheels.wordpress.com/" TargetMode="External"/><Relationship Id="rId1" Type="http://schemas.openxmlformats.org/officeDocument/2006/relationships/image" Target="../media/image21.svg"/><Relationship Id="rId5" Type="http://schemas.openxmlformats.org/officeDocument/2006/relationships/image" Target="../media/image23.svg"/><Relationship Id="rId4" Type="http://schemas.microsoft.com/office/2007/relationships/hdphoto" Target="../media/hdphoto1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C9186-53B8-48DE-BF73-99C92B55F469}" type="doc">
      <dgm:prSet loTypeId="urn:microsoft.com/office/officeart/2005/8/layout/vList3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A741F06-3CEC-4081-A5C1-4646B2999E0E}">
      <dgm:prSet custT="1"/>
      <dgm:spPr/>
      <dgm:t>
        <a:bodyPr anchor="ctr"/>
        <a:lstStyle/>
        <a:p>
          <a:pPr algn="r"/>
          <a:r>
            <a:rPr lang="en-US" sz="2400" dirty="0"/>
            <a:t>     </a:t>
          </a:r>
          <a:r>
            <a:rPr lang="en-US" sz="20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dirty="0"/>
        </a:p>
      </dgm:t>
    </dgm:pt>
    <dgm:pt modelId="{CA9E987D-4CED-408C-8214-EB14792CAD7A}" type="parTrans" cxnId="{F1615DFE-2AC1-40E3-95A7-719EEB961071}">
      <dgm:prSet/>
      <dgm:spPr/>
      <dgm:t>
        <a:bodyPr/>
        <a:lstStyle/>
        <a:p>
          <a:endParaRPr lang="en-US"/>
        </a:p>
      </dgm:t>
    </dgm:pt>
    <dgm:pt modelId="{3F65FFCB-2E14-484E-8FC4-3EF9E02677A5}" type="sibTrans" cxnId="{F1615DFE-2AC1-40E3-95A7-719EEB961071}">
      <dgm:prSet/>
      <dgm:spPr/>
      <dgm:t>
        <a:bodyPr/>
        <a:lstStyle/>
        <a:p>
          <a:endParaRPr lang="en-US"/>
        </a:p>
      </dgm:t>
    </dgm:pt>
    <dgm:pt modelId="{11D0A9B0-4F99-450C-A393-AAD54CC7D57B}">
      <dgm:prSet custT="1"/>
      <dgm:spPr/>
      <dgm:t>
        <a:bodyPr anchor="ctr"/>
        <a:lstStyle/>
        <a:p>
          <a:pPr algn="r"/>
          <a:r>
            <a:rPr lang="en-US" sz="2800" dirty="0"/>
            <a:t>   kristyna@dataonwheels.com</a:t>
          </a:r>
        </a:p>
      </dgm:t>
    </dgm:pt>
    <dgm:pt modelId="{D41CEB21-EBD6-47BB-93D7-B72EFBAB65B5}" type="parTrans" cxnId="{3F5EFE0B-4E51-45B0-B616-45D1E0AAD1A6}">
      <dgm:prSet/>
      <dgm:spPr/>
      <dgm:t>
        <a:bodyPr/>
        <a:lstStyle/>
        <a:p>
          <a:endParaRPr lang="en-US"/>
        </a:p>
      </dgm:t>
    </dgm:pt>
    <dgm:pt modelId="{E26448A3-5BA9-4D94-ACDC-6F845B6978B8}" type="sibTrans" cxnId="{3F5EFE0B-4E51-45B0-B616-45D1E0AAD1A6}">
      <dgm:prSet/>
      <dgm:spPr/>
      <dgm:t>
        <a:bodyPr/>
        <a:lstStyle/>
        <a:p>
          <a:endParaRPr lang="en-US"/>
        </a:p>
      </dgm:t>
    </dgm:pt>
    <dgm:pt modelId="{361231F2-7620-401E-B7B2-504A39FE9428}">
      <dgm:prSet custT="1"/>
      <dgm:spPr/>
      <dgm:t>
        <a:bodyPr/>
        <a:lstStyle/>
        <a:p>
          <a:r>
            <a:rPr lang="en-US" sz="2800" dirty="0"/>
            <a:t>@data_dragoness</a:t>
          </a:r>
        </a:p>
      </dgm:t>
    </dgm:pt>
    <dgm:pt modelId="{B6BE5CFA-0405-4CA0-A317-68124E78F770}" type="parTrans" cxnId="{FA4AFA78-33A1-4D5C-A316-CC74E84CAF36}">
      <dgm:prSet/>
      <dgm:spPr/>
      <dgm:t>
        <a:bodyPr/>
        <a:lstStyle/>
        <a:p>
          <a:endParaRPr lang="en-US"/>
        </a:p>
      </dgm:t>
    </dgm:pt>
    <dgm:pt modelId="{A2F560F2-8FB5-4EF1-93CC-39928A0172E4}" type="sibTrans" cxnId="{FA4AFA78-33A1-4D5C-A316-CC74E84CAF36}">
      <dgm:prSet/>
      <dgm:spPr/>
      <dgm:t>
        <a:bodyPr/>
        <a:lstStyle/>
        <a:p>
          <a:endParaRPr lang="en-US"/>
        </a:p>
      </dgm:t>
    </dgm:pt>
    <dgm:pt modelId="{C08BFA66-9B75-4031-B345-700AC29B8191}" type="pres">
      <dgm:prSet presAssocID="{831C9186-53B8-48DE-BF73-99C92B55F469}" presName="linearFlow" presStyleCnt="0">
        <dgm:presLayoutVars>
          <dgm:dir/>
          <dgm:resizeHandles val="exact"/>
        </dgm:presLayoutVars>
      </dgm:prSet>
      <dgm:spPr/>
    </dgm:pt>
    <dgm:pt modelId="{BC29B2E5-8B22-4FD5-95F5-9B2717FBFF02}" type="pres">
      <dgm:prSet presAssocID="{361231F2-7620-401E-B7B2-504A39FE9428}" presName="composite" presStyleCnt="0"/>
      <dgm:spPr/>
    </dgm:pt>
    <dgm:pt modelId="{90975B01-8C93-40D1-9B05-BEEC17814EE0}" type="pres">
      <dgm:prSet presAssocID="{361231F2-7620-401E-B7B2-504A39FE9428}" presName="imgShp" presStyleLbl="fgImgPlace1" presStyleIdx="0" presStyleCnt="3" custLinFactX="-13850" custLinFactNeighborX="-100000" custLinFactNeighborY="298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row outline"/>
        </a:ext>
      </dgm:extLst>
    </dgm:pt>
    <dgm:pt modelId="{98D19BCF-6FD4-4E0D-A5EB-2EFCE077C912}" type="pres">
      <dgm:prSet presAssocID="{361231F2-7620-401E-B7B2-504A39FE9428}" presName="txShp" presStyleLbl="node1" presStyleIdx="0" presStyleCnt="3" custScaleX="150376" custLinFactNeighborX="899" custLinFactNeighborY="10665">
        <dgm:presLayoutVars>
          <dgm:bulletEnabled val="1"/>
        </dgm:presLayoutVars>
      </dgm:prSet>
      <dgm:spPr/>
    </dgm:pt>
    <dgm:pt modelId="{7F645754-F307-424E-975B-0EE5BEB2BB9A}" type="pres">
      <dgm:prSet presAssocID="{A2F560F2-8FB5-4EF1-93CC-39928A0172E4}" presName="spacing" presStyleCnt="0"/>
      <dgm:spPr/>
    </dgm:pt>
    <dgm:pt modelId="{8C18EA9B-8166-4E2E-96A8-0F5658B698BD}" type="pres">
      <dgm:prSet presAssocID="{1A741F06-3CEC-4081-A5C1-4646B2999E0E}" presName="composite" presStyleCnt="0"/>
      <dgm:spPr/>
    </dgm:pt>
    <dgm:pt modelId="{9C365CB5-B72D-40DB-8732-528E8FDA5750}" type="pres">
      <dgm:prSet presAssocID="{1A741F06-3CEC-4081-A5C1-4646B2999E0E}" presName="imgShp" presStyleLbl="fgImgPlace1" presStyleIdx="1" presStyleCnt="3" custScaleX="80563" custScaleY="71874" custLinFactNeighborX="-19334" custLinFactNeighborY="-524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</dgm:spPr>
    </dgm:pt>
    <dgm:pt modelId="{51BD5739-4267-4BED-BB3F-56D801D622EA}" type="pres">
      <dgm:prSet presAssocID="{1A741F06-3CEC-4081-A5C1-4646B2999E0E}" presName="txShp" presStyleLbl="node1" presStyleIdx="1" presStyleCnt="3" custScaleX="150376" custLinFactNeighborX="11144" custLinFactNeighborY="-524">
        <dgm:presLayoutVars>
          <dgm:bulletEnabled val="1"/>
        </dgm:presLayoutVars>
      </dgm:prSet>
      <dgm:spPr/>
    </dgm:pt>
    <dgm:pt modelId="{8F5CB601-C35E-4D1F-9CD2-CB07F342EFA5}" type="pres">
      <dgm:prSet presAssocID="{3F65FFCB-2E14-484E-8FC4-3EF9E02677A5}" presName="spacing" presStyleCnt="0"/>
      <dgm:spPr/>
    </dgm:pt>
    <dgm:pt modelId="{2A621669-F974-486F-B0CC-D5279C1A8993}" type="pres">
      <dgm:prSet presAssocID="{11D0A9B0-4F99-450C-A393-AAD54CC7D57B}" presName="composite" presStyleCnt="0"/>
      <dgm:spPr/>
    </dgm:pt>
    <dgm:pt modelId="{7495D3D5-9185-4FC6-99EF-F6D4AFA7B3DC}" type="pres">
      <dgm:prSet presAssocID="{11D0A9B0-4F99-450C-A393-AAD54CC7D57B}" presName="imgShp" presStyleLbl="fgImgPlace1" presStyleIdx="2" presStyleCnt="3" custLinFactX="-9219" custLinFactNeighborX="-100000" custLinFactNeighborY="3010"/>
      <dgm:spPr>
        <a:xfrm>
          <a:off x="0" y="3731483"/>
          <a:ext cx="1434053" cy="14340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 outline"/>
        </a:ext>
      </dgm:extLst>
    </dgm:pt>
    <dgm:pt modelId="{36DCB59B-7B0E-4CC8-B732-4523363D854A}" type="pres">
      <dgm:prSet presAssocID="{11D0A9B0-4F99-450C-A393-AAD54CC7D57B}" presName="txShp" presStyleLbl="node1" presStyleIdx="2" presStyleCnt="3" custScaleX="148443">
        <dgm:presLayoutVars>
          <dgm:bulletEnabled val="1"/>
        </dgm:presLayoutVars>
      </dgm:prSet>
      <dgm:spPr/>
    </dgm:pt>
  </dgm:ptLst>
  <dgm:cxnLst>
    <dgm:cxn modelId="{3F5EFE0B-4E51-45B0-B616-45D1E0AAD1A6}" srcId="{831C9186-53B8-48DE-BF73-99C92B55F469}" destId="{11D0A9B0-4F99-450C-A393-AAD54CC7D57B}" srcOrd="2" destOrd="0" parTransId="{D41CEB21-EBD6-47BB-93D7-B72EFBAB65B5}" sibTransId="{E26448A3-5BA9-4D94-ACDC-6F845B6978B8}"/>
    <dgm:cxn modelId="{FF10A413-67B3-40E9-A658-956F4DAFBCDF}" type="presOf" srcId="{11D0A9B0-4F99-450C-A393-AAD54CC7D57B}" destId="{36DCB59B-7B0E-4CC8-B732-4523363D854A}" srcOrd="0" destOrd="0" presId="urn:microsoft.com/office/officeart/2005/8/layout/vList3"/>
    <dgm:cxn modelId="{634AA32A-33B7-46B2-B40E-BEB039B75FE0}" type="presOf" srcId="{1A741F06-3CEC-4081-A5C1-4646B2999E0E}" destId="{51BD5739-4267-4BED-BB3F-56D801D622EA}" srcOrd="0" destOrd="0" presId="urn:microsoft.com/office/officeart/2005/8/layout/vList3"/>
    <dgm:cxn modelId="{FA4AFA78-33A1-4D5C-A316-CC74E84CAF36}" srcId="{831C9186-53B8-48DE-BF73-99C92B55F469}" destId="{361231F2-7620-401E-B7B2-504A39FE9428}" srcOrd="0" destOrd="0" parTransId="{B6BE5CFA-0405-4CA0-A317-68124E78F770}" sibTransId="{A2F560F2-8FB5-4EF1-93CC-39928A0172E4}"/>
    <dgm:cxn modelId="{57BD8F7C-EA18-4EB9-BF59-3A9D43780502}" type="presOf" srcId="{361231F2-7620-401E-B7B2-504A39FE9428}" destId="{98D19BCF-6FD4-4E0D-A5EB-2EFCE077C912}" srcOrd="0" destOrd="0" presId="urn:microsoft.com/office/officeart/2005/8/layout/vList3"/>
    <dgm:cxn modelId="{1373BEF1-7F24-4A09-B6DF-9256A58FA283}" type="presOf" srcId="{831C9186-53B8-48DE-BF73-99C92B55F469}" destId="{C08BFA66-9B75-4031-B345-700AC29B8191}" srcOrd="0" destOrd="0" presId="urn:microsoft.com/office/officeart/2005/8/layout/vList3"/>
    <dgm:cxn modelId="{F1615DFE-2AC1-40E3-95A7-719EEB961071}" srcId="{831C9186-53B8-48DE-BF73-99C92B55F469}" destId="{1A741F06-3CEC-4081-A5C1-4646B2999E0E}" srcOrd="1" destOrd="0" parTransId="{CA9E987D-4CED-408C-8214-EB14792CAD7A}" sibTransId="{3F65FFCB-2E14-484E-8FC4-3EF9E02677A5}"/>
    <dgm:cxn modelId="{C1C5AD4A-1AC0-4C0D-9B20-58E02EFD4A00}" type="presParOf" srcId="{C08BFA66-9B75-4031-B345-700AC29B8191}" destId="{BC29B2E5-8B22-4FD5-95F5-9B2717FBFF02}" srcOrd="0" destOrd="0" presId="urn:microsoft.com/office/officeart/2005/8/layout/vList3"/>
    <dgm:cxn modelId="{E859314D-23E5-4580-853C-1676F1D7398D}" type="presParOf" srcId="{BC29B2E5-8B22-4FD5-95F5-9B2717FBFF02}" destId="{90975B01-8C93-40D1-9B05-BEEC17814EE0}" srcOrd="0" destOrd="0" presId="urn:microsoft.com/office/officeart/2005/8/layout/vList3"/>
    <dgm:cxn modelId="{884B07B0-7303-4493-A181-6BC8F2D207F7}" type="presParOf" srcId="{BC29B2E5-8B22-4FD5-95F5-9B2717FBFF02}" destId="{98D19BCF-6FD4-4E0D-A5EB-2EFCE077C912}" srcOrd="1" destOrd="0" presId="urn:microsoft.com/office/officeart/2005/8/layout/vList3"/>
    <dgm:cxn modelId="{D4DF6AF7-1AB0-4C55-9046-2A6D1790F9C7}" type="presParOf" srcId="{C08BFA66-9B75-4031-B345-700AC29B8191}" destId="{7F645754-F307-424E-975B-0EE5BEB2BB9A}" srcOrd="1" destOrd="0" presId="urn:microsoft.com/office/officeart/2005/8/layout/vList3"/>
    <dgm:cxn modelId="{4E203AE4-7FF1-4D9C-BD94-D32CD9E355C3}" type="presParOf" srcId="{C08BFA66-9B75-4031-B345-700AC29B8191}" destId="{8C18EA9B-8166-4E2E-96A8-0F5658B698BD}" srcOrd="2" destOrd="0" presId="urn:microsoft.com/office/officeart/2005/8/layout/vList3"/>
    <dgm:cxn modelId="{5AB81220-F5F6-4140-A3A3-C8713A41951D}" type="presParOf" srcId="{8C18EA9B-8166-4E2E-96A8-0F5658B698BD}" destId="{9C365CB5-B72D-40DB-8732-528E8FDA5750}" srcOrd="0" destOrd="0" presId="urn:microsoft.com/office/officeart/2005/8/layout/vList3"/>
    <dgm:cxn modelId="{79C43560-9ACA-4A2A-96ED-75A871BFA21B}" type="presParOf" srcId="{8C18EA9B-8166-4E2E-96A8-0F5658B698BD}" destId="{51BD5739-4267-4BED-BB3F-56D801D622EA}" srcOrd="1" destOrd="0" presId="urn:microsoft.com/office/officeart/2005/8/layout/vList3"/>
    <dgm:cxn modelId="{7CE7B8C4-3237-4058-B9D3-DA45CC7BEB7A}" type="presParOf" srcId="{C08BFA66-9B75-4031-B345-700AC29B8191}" destId="{8F5CB601-C35E-4D1F-9CD2-CB07F342EFA5}" srcOrd="3" destOrd="0" presId="urn:microsoft.com/office/officeart/2005/8/layout/vList3"/>
    <dgm:cxn modelId="{D7896E66-067E-4D69-B63D-C76089134A54}" type="presParOf" srcId="{C08BFA66-9B75-4031-B345-700AC29B8191}" destId="{2A621669-F974-486F-B0CC-D5279C1A8993}" srcOrd="4" destOrd="0" presId="urn:microsoft.com/office/officeart/2005/8/layout/vList3"/>
    <dgm:cxn modelId="{5A6CCE06-C29A-4244-9178-F1107D263CFB}" type="presParOf" srcId="{2A621669-F974-486F-B0CC-D5279C1A8993}" destId="{7495D3D5-9185-4FC6-99EF-F6D4AFA7B3DC}" srcOrd="0" destOrd="0" presId="urn:microsoft.com/office/officeart/2005/8/layout/vList3"/>
    <dgm:cxn modelId="{103D00E4-EE2D-41E7-A78E-1E4EABB71AC6}" type="presParOf" srcId="{2A621669-F974-486F-B0CC-D5279C1A8993}" destId="{36DCB59B-7B0E-4CC8-B732-4523363D854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9BCF-6FD4-4E0D-A5EB-2EFCE077C912}">
      <dsp:nvSpPr>
        <dsp:cNvPr id="0" name=""/>
        <dsp:cNvSpPr/>
      </dsp:nvSpPr>
      <dsp:spPr>
        <a:xfrm rot="10800000">
          <a:off x="-1" y="155392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@data_dragoness</a:t>
          </a:r>
        </a:p>
      </dsp:txBody>
      <dsp:txXfrm rot="10800000">
        <a:off x="361835" y="155392"/>
        <a:ext cx="7239763" cy="1447346"/>
      </dsp:txXfrm>
    </dsp:sp>
    <dsp:sp modelId="{90975B01-8C93-40D1-9B05-BEEC17814EE0}">
      <dsp:nvSpPr>
        <dsp:cNvPr id="0" name=""/>
        <dsp:cNvSpPr/>
      </dsp:nvSpPr>
      <dsp:spPr>
        <a:xfrm>
          <a:off x="0" y="44265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1BD5739-4267-4BED-BB3F-56D801D622EA}">
      <dsp:nvSpPr>
        <dsp:cNvPr id="0" name=""/>
        <dsp:cNvSpPr/>
      </dsp:nvSpPr>
      <dsp:spPr>
        <a:xfrm rot="10800000">
          <a:off x="-1" y="1872839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91440" rIns="170688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    </a:t>
          </a:r>
          <a:r>
            <a:rPr lang="en-US" sz="2000" kern="120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kern="1200" dirty="0"/>
        </a:p>
      </dsp:txBody>
      <dsp:txXfrm rot="10800000">
        <a:off x="361835" y="1872839"/>
        <a:ext cx="7239763" cy="1447346"/>
      </dsp:txXfrm>
    </dsp:sp>
    <dsp:sp modelId="{9C365CB5-B72D-40DB-8732-528E8FDA5750}">
      <dsp:nvSpPr>
        <dsp:cNvPr id="0" name=""/>
        <dsp:cNvSpPr/>
      </dsp:nvSpPr>
      <dsp:spPr>
        <a:xfrm>
          <a:off x="410424" y="2076380"/>
          <a:ext cx="1166026" cy="104026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DCB59B-7B0E-4CC8-B732-4523363D854A}">
      <dsp:nvSpPr>
        <dsp:cNvPr id="0" name=""/>
        <dsp:cNvSpPr/>
      </dsp:nvSpPr>
      <dsp:spPr>
        <a:xfrm rot="10800000">
          <a:off x="48855" y="3759814"/>
          <a:ext cx="7503884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kristyna@dataonwheels.com</a:t>
          </a:r>
        </a:p>
      </dsp:txBody>
      <dsp:txXfrm rot="10800000">
        <a:off x="410691" y="3759814"/>
        <a:ext cx="7142048" cy="1447346"/>
      </dsp:txXfrm>
    </dsp:sp>
    <dsp:sp modelId="{7495D3D5-9185-4FC6-99EF-F6D4AFA7B3DC}">
      <dsp:nvSpPr>
        <dsp:cNvPr id="0" name=""/>
        <dsp:cNvSpPr/>
      </dsp:nvSpPr>
      <dsp:spPr>
        <a:xfrm>
          <a:off x="0" y="3760848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50083-49E5-4F69-BD52-1AB86C4CCD2D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C13D3-B291-44D2-95AA-8F8B205FD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font.com/open-dyslexic.font?psize=x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fabric.microsoft.com/de-AT/blog/streamlining-data-management-with-collation-settings-in-microsoft-fabric-warehouse-sql-analytics-endpoint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Open-Dyslexic Font | dafont.com</a:t>
            </a:r>
            <a:endParaRPr lang="en-US" dirty="0"/>
          </a:p>
          <a:p>
            <a:r>
              <a:rPr lang="en-US" dirty="0"/>
              <a:t>Download the font from </a:t>
            </a:r>
            <a:r>
              <a:rPr lang="en-US" dirty="0">
                <a:hlinkClick r:id="rId3"/>
              </a:rPr>
              <a:t>Open-Dyslexic Font | dafont.com</a:t>
            </a:r>
            <a:endParaRPr lang="en-US" dirty="0"/>
          </a:p>
          <a:p>
            <a:r>
              <a:rPr lang="en-US" dirty="0"/>
              <a:t>Extract the files</a:t>
            </a:r>
          </a:p>
          <a:p>
            <a:r>
              <a:rPr lang="en-US" dirty="0"/>
              <a:t>Go to computer settings &gt; personalization &gt; fonts and drop in the files</a:t>
            </a:r>
          </a:p>
          <a:p>
            <a:r>
              <a:rPr lang="en-US" dirty="0"/>
              <a:t>Navigate to Power Point Master Slide</a:t>
            </a:r>
          </a:p>
          <a:p>
            <a:r>
              <a:rPr lang="en-US" dirty="0"/>
              <a:t>Change the font to use Open Dyslexic for the headers and body</a:t>
            </a:r>
          </a:p>
          <a:p>
            <a:r>
              <a:rPr lang="en-US" dirty="0"/>
              <a:t>Done!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89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0B43-1677-CD56-CB7D-E0F3FD28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3F8B1-6F32-102F-58BD-C75C9EB28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3485B-397D-07B1-4701-B85F693FD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42446-80CE-4BF8-9B51-0F07AF18B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67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0914-BF22-4D49-E65B-6C8561F3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66A98-0777-7AC4-5D2B-0861B673B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B047A-D142-5910-1774-BE0D94F3C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20099-B5D5-47F7-6C21-385FA72AD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7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EB2F-3BAE-E12E-A63E-CECF7103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9778F-DF93-9E5C-365E-E729C5512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1498B-59F5-0D90-B9A2-33810BB09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0CADE-C9F2-B212-9102-69B55AF7A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31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7689-E98D-F94A-0567-FBB184A7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98094-703B-5E89-3C42-B5C2084E1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1B4C3-AEC3-12F5-D397-37EFE0DB4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19686-CA86-00A9-60A4-F6167AC45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82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23DD-914A-3283-BA6D-09A0362E3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4C756-C957-0FF8-8266-11D73D2A2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CD6D8-E47A-B4B1-28CB-D61AE5A64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1BBA-7AF6-DA05-CC5E-896F59B9B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7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D354-017B-3001-510C-05AACE7E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36A7A-7F23-D9CA-CDAD-E2B9C184A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32EAA-B0F7-90ED-CD8D-767AF4D14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8C4F6-1AAB-334F-59E8-BFC69B22A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33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961B-965B-C804-071F-23D8B82A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58CBE-00E1-0D54-0A8B-EB51F619F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6587B-8CE4-FB4F-5900-93679F012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TO SET UP SERVER REGISTRATIONS IN SSMS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B07AC-47C6-37A1-9541-9C7585D21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03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29DF8-7D1A-5FD0-6C34-5EDBA1B2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C1D11-B8A2-C39C-74EA-C14166C79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CAF4E-D37E-F9C1-D276-014888086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Streamlining Data Management with Workspace Collation Settings in Microsoft Fabric Warehouse and SQL Endpoint | Microsoft Fabric-Blog | Microsoft Fabric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C8E11-DC7C-B9AC-E41A-0AA73E28D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30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FAD9-4290-8F97-31F9-1372EA89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C6DE5-DDAB-A6EC-05FE-ABA8C2D62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7DE90-6D6E-BCC0-F130-0F6D2BEC8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DMV = </a:t>
            </a:r>
            <a:r>
              <a:rPr lang="en-US"/>
              <a:t>dynamic management 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8B281-C995-95DE-780B-000B6E064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26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82E31-5184-EAD1-BCFB-22E1AF9F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7E2EF-E766-C3BC-E90D-23038A6B9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E7073-D52B-698B-D3F4-D884C5812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Permissions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An Admin has permissions to execute all three DMVs (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sys.dm_exec_connections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sys.dm_exec_sessions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sys.dm_exec_requests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) to see their own and others' information within a workspace.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A Member, Contributor, and Viewer can execute 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sys.dm_exec_sessions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 and 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sys.dm_exec_requests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 and see their own results within the warehouse, but does not have permission to execute 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sys.dm_exec_connections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Only an Admin has permission to run the KILL command.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233C6-B623-F4C3-6CB5-0C5F99DAB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85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B780-E437-1B57-51FD-D7E7EC37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3EF1D-0469-1C89-C979-47F2B6D40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762F2-D624-1DCB-92C8-6FCFEEE22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C50B-FF8A-B306-A184-E1D66D056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44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13FA-8642-AD14-CA9C-86CA812A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AEFB7-179A-2741-BB8C-7DEAF7913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B7F62-CE03-9BBD-57C4-BC0C5022C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2857B-5F67-0331-41FE-D35FEE2E9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58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BF4F-5256-E8BB-B7F3-994A7BCA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94768-6D14-3D8E-0D76-9A0562017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D3F4F-888F-C0CA-3210-32ADFED2D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15C86-813C-CF46-DD82-1C7E543BF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8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936B-A28C-1A96-2381-A23072DF1D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8032-CBC2-17AF-8475-0D33CAB70B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EBB5-F1E4-119A-DD99-CE9E784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F3E4-6AED-C2C1-22CD-6DDF37FF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7511-ADC3-08D3-1C96-595B954D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2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8FE2-1D11-C9BB-4769-50F159D3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0C1D-8C1D-E41D-896E-AFEDECCA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D424-5FE7-A9C9-0449-0A770C3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0E69-3B14-7DDA-99FF-908BA5F6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A6B6-7DB8-CBA4-FA58-5B136CED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0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A54C-E0BB-9B2A-671F-D82E225B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87F9-6B3C-D7A8-E1DC-115DE531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942B-25D8-59D9-AB2A-662BD452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6278-764A-0F92-7100-CBDA0E72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3A11-2135-7C94-3D70-D4463174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60A3-3D76-B6EB-ED61-B6A187F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76AA-8BFE-18BF-422A-C954F62FF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A4C6-D0DE-F4E8-9F3F-710B6FDF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27C0-DD26-DFA5-E0C9-559B12F0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E5FC7-F4B0-AED8-BE74-4688FD70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00CAD-E7B9-6EEA-F476-FAF9D19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497B-CD00-1E21-D503-C48003C5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A4DA8-C321-24CF-2130-972E5AF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5477-42D0-8931-1243-28CEDE8C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A838D-5752-53BB-C302-81B5A57B4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D6A8A-FD6A-FAF8-3349-721185380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40C4D-1EEC-4B8B-60D2-CE53F489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6F80-8361-624D-BE87-0E4C703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5192-C85F-66B8-F7F5-946B1181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9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3F1-0C8A-BB78-70BE-BEF5C51A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65667-B36F-ABE7-D0C2-FED12A44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C30D-B797-0348-2377-952FA3C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C6FAB-F92A-9A45-3823-03213ED9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4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6E47C-A774-A701-1858-FDDDFEE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9C858-D4F6-0CF3-682C-3AC192F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9881C-16D8-60B0-A68D-3908D2AE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4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326-0548-4D72-9AD7-829ED81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A056-63B4-541B-2EAA-3918E38B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13B2-8F9F-76CB-24A6-B8E68CF8F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FFE3D-B9AD-70A9-CAC2-4780DFF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5816-0555-80E6-A6C3-DF4B7B2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9928-5761-43BB-1133-6AAC630F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0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D3C7-1E53-0AA0-2FFF-D31088CF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0A5E-EFB3-B7A4-0C90-89522A1DD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92035-1084-4AC5-BA26-CE4F8F86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00CD-18DD-749A-86D4-152CA9C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7A577-5634-E4A1-F9BE-AB24F83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39290-53C2-44F4-7123-42262B3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B169-1BEB-4423-E532-5842DE8C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F9D34-67D8-4706-993C-2BC74A00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5E2C-C6C4-F9E5-72CC-58544437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BECA-9F8E-C9F3-088C-BF7C26A5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3473-F376-ABA2-DF25-4732CA36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4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6FF99-3A97-0EDC-F194-43D6D0A8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26A4F-DA34-5362-3A56-A7BBAB76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44A2-C13B-43C4-D44B-340EB55F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3F04-3778-D19D-1A5A-314AB038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8A62-3E12-37BA-8280-A1E4C4DE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81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 Lis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7188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4F4E837-B477-25CB-E59D-D51511D0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47242" cy="41148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1120EEF-FE29-542E-B62F-FBA1DF0DA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46D13B-7DBD-2DFF-345B-C42514F67D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29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Partnership/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A5785-D0A1-3155-049E-3E6B065C8B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D4AF3-2440-4267-15A6-29BC874FF2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8433" y="2239343"/>
            <a:ext cx="9209905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9EA8E350-8FE0-C635-CEA4-E67702C20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07" t="-4663" r="8607" b="86478"/>
          <a:stretch/>
        </p:blipFill>
        <p:spPr>
          <a:xfrm>
            <a:off x="0" y="5735637"/>
            <a:ext cx="12192000" cy="1122363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064F56-7EE7-8C33-462D-DCEF0BE3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34" y="1839641"/>
            <a:ext cx="2813330" cy="365125"/>
          </a:xfrm>
          <a:prstGeom prst="rect">
            <a:avLst/>
          </a:prstGeom>
        </p:spPr>
        <p:txBody>
          <a:bodyPr lIns="0"/>
          <a:lstStyle>
            <a:lvl1pPr>
              <a:defRPr b="0" i="0">
                <a:solidFill>
                  <a:schemeClr val="accent1"/>
                </a:solidFill>
                <a:latin typeface="Space Grotesk" pitchFamily="2" charset="77"/>
              </a:defRPr>
            </a:lvl1pPr>
          </a:lstStyle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7893F2CA-7CEB-500D-6636-67665110625B}"/>
              </a:ext>
            </a:extLst>
          </p:cNvPr>
          <p:cNvSpPr txBox="1">
            <a:spLocks/>
          </p:cNvSpPr>
          <p:nvPr/>
        </p:nvSpPr>
        <p:spPr>
          <a:xfrm>
            <a:off x="2875125" y="5093068"/>
            <a:ext cx="218804" cy="365125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accent1"/>
                </a:solidFill>
                <a:latin typeface="Space Grotesk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83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cons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 b="0" i="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5300034-1C70-8F94-8152-2D872C0B4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1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97387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97387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28C2E57-6B66-2EDE-A231-33EE4C6664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38659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CF29EB2-553C-147C-7F22-A927426166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38659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4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4A9869-93B2-2F80-EC16-5348A9B0CE24}"/>
              </a:ext>
            </a:extLst>
          </p:cNvPr>
          <p:cNvCxnSpPr>
            <a:cxnSpLocks/>
          </p:cNvCxnSpPr>
          <p:nvPr/>
        </p:nvCxnSpPr>
        <p:spPr>
          <a:xfrm flipH="1">
            <a:off x="8137071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00000">
                  <a:schemeClr val="tx2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84633D0-2796-3674-9847-05217F066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799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42C60FC7-5D5B-4280-5EA2-E07CBDDC52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7071" y="23661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237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Icons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/>
        </p:nvCxnSpPr>
        <p:spPr>
          <a:xfrm flipH="1">
            <a:off x="838200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5300034-1C70-8F94-8152-2D872C0B4D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1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97387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97387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28C2E57-6B66-2EDE-A231-33EE4C6664E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38659" y="2605088"/>
            <a:ext cx="31988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CF29EB2-553C-147C-7F22-A927426166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38659" y="3632200"/>
            <a:ext cx="31988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84633D0-2796-3674-9847-05217F066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799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42C60FC7-5D5B-4280-5EA2-E07CBDDC52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7071" y="2353407"/>
            <a:ext cx="513618" cy="5136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27A0ACAE-1B01-F61E-9BBE-4F974D6B82F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  <a:prstGeom prst="rect">
            <a:avLst/>
          </a:prstGeo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49201C-BE26-0FE5-82A9-CA5F7D003F5F}"/>
              </a:ext>
            </a:extLst>
          </p:cNvPr>
          <p:cNvCxnSpPr>
            <a:cxnSpLocks/>
          </p:cNvCxnSpPr>
          <p:nvPr/>
        </p:nvCxnSpPr>
        <p:spPr>
          <a:xfrm flipH="1">
            <a:off x="4495799" y="3521462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A535BD-1E42-29C4-9A38-42ACFD0663D1}"/>
              </a:ext>
            </a:extLst>
          </p:cNvPr>
          <p:cNvCxnSpPr>
            <a:cxnSpLocks/>
          </p:cNvCxnSpPr>
          <p:nvPr/>
        </p:nvCxnSpPr>
        <p:spPr>
          <a:xfrm flipH="1">
            <a:off x="8137071" y="3529486"/>
            <a:ext cx="3200400" cy="0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656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919D-F591-6F57-9A52-45A82132CF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C3678-136B-4BE3-A41D-B160452A91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313EF0-0C68-7F83-268F-B4EE9602537D}"/>
              </a:ext>
            </a:extLst>
          </p:cNvPr>
          <p:cNvCxnSpPr>
            <a:cxnSpLocks/>
          </p:cNvCxnSpPr>
          <p:nvPr/>
        </p:nvCxnSpPr>
        <p:spPr>
          <a:xfrm flipH="1" flipV="1">
            <a:off x="838200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27A0ACAE-1B01-F61E-9BBE-4F974D6B82F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  <a:prstGeom prst="rect">
            <a:avLst/>
          </a:prstGeo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29">
            <a:extLst>
              <a:ext uri="{FF2B5EF4-FFF2-40B4-BE49-F238E27FC236}">
                <a16:creationId xmlns:a16="http://schemas.microsoft.com/office/drawing/2014/main" id="{5A507428-CA05-067B-1CD3-11F25B1682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D067527-C4F7-8075-1C76-31F6461A819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00491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06BE312-02AC-3AB8-BE70-EB304F73793C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00491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55305C-E303-08CD-27B2-2923661E6819}"/>
              </a:ext>
            </a:extLst>
          </p:cNvPr>
          <p:cNvCxnSpPr>
            <a:cxnSpLocks/>
          </p:cNvCxnSpPr>
          <p:nvPr/>
        </p:nvCxnSpPr>
        <p:spPr>
          <a:xfrm flipH="1" flipV="1">
            <a:off x="30033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73B36A-D817-F94F-9277-49776BDA05D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13851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98B28E0-58F9-E14C-B4E4-9CB8DB376A69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13851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CC8B13-6CE4-13D7-DCF1-50A0FD93EB9D}"/>
              </a:ext>
            </a:extLst>
          </p:cNvPr>
          <p:cNvCxnSpPr>
            <a:cxnSpLocks/>
          </p:cNvCxnSpPr>
          <p:nvPr/>
        </p:nvCxnSpPr>
        <p:spPr>
          <a:xfrm flipH="1" flipV="1">
            <a:off x="513693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B0BF586-CBE6-ABDD-67A1-3A6AEF97281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282629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FB0F3C7D-7321-AFED-48C5-24F69A1669C7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7282629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562D21-4C31-797F-92D7-700DED4A645E}"/>
              </a:ext>
            </a:extLst>
          </p:cNvPr>
          <p:cNvCxnSpPr>
            <a:cxnSpLocks/>
          </p:cNvCxnSpPr>
          <p:nvPr/>
        </p:nvCxnSpPr>
        <p:spPr>
          <a:xfrm flipH="1" flipV="1">
            <a:off x="7281041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8012A17-E353-8938-22FA-3EA49D3114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447760" y="2338397"/>
            <a:ext cx="1903412" cy="823912"/>
          </a:xfrm>
          <a:prstGeom prst="rect">
            <a:avLst/>
          </a:prstGeom>
        </p:spPr>
        <p:txBody>
          <a:bodyPr lIns="0" tIns="0" bIns="0" anchor="b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Title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0ABEDEB6-178F-F4F5-CFFE-2C6199857F68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447760" y="3365509"/>
            <a:ext cx="1903412" cy="20574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</a:t>
            </a:r>
            <a:r>
              <a:rPr lang="en-US" dirty="0"/>
              <a:t> </a:t>
            </a:r>
            <a:r>
              <a:rPr lang="en-US" dirty="0" err="1"/>
              <a:t>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CF2F9D-53F4-AA57-73A2-63866B50D116}"/>
              </a:ext>
            </a:extLst>
          </p:cNvPr>
          <p:cNvCxnSpPr>
            <a:cxnSpLocks/>
          </p:cNvCxnSpPr>
          <p:nvPr/>
        </p:nvCxnSpPr>
        <p:spPr>
          <a:xfrm flipH="1" flipV="1">
            <a:off x="9446172" y="3254771"/>
            <a:ext cx="1905000" cy="8024"/>
          </a:xfrm>
          <a:prstGeom prst="line">
            <a:avLst/>
          </a:prstGeom>
          <a:ln w="19050">
            <a:gradFill>
              <a:gsLst>
                <a:gs pos="0">
                  <a:schemeClr val="bg2"/>
                </a:gs>
                <a:gs pos="100000">
                  <a:schemeClr val="tx1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48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8600"/>
            <a:ext cx="5257800" cy="1828799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45062FF-2E9A-87D2-17A5-9C6FDFBB5D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238" y="1143000"/>
            <a:ext cx="5465762" cy="4559969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05F4A7-3BAB-95AF-02B9-0F2D8213B7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57858" y="2596994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57859" y="2979647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3CB6BF-1C08-8CB4-CD16-5D148A5C112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-158620" y="2793290"/>
            <a:ext cx="1171744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15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F992088-131E-8890-C67F-7B7266CA399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57858" y="3788121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943D6F3-F48B-C789-556E-E841DEA64E8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1257859" y="4170774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5FDA803-361A-5347-6DCB-47EB903F458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-176381" y="3984417"/>
            <a:ext cx="1325911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30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671B1A-B0C7-B253-736F-ABD6DBF267C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257858" y="4979247"/>
            <a:ext cx="3901975" cy="42895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60CD164-D678-A78B-B985-B79D61B8FBB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1257859" y="5361900"/>
            <a:ext cx="4620431" cy="63767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B88C2F-DEB0-551C-F214-DE099A3A078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-158620" y="5175543"/>
            <a:ext cx="1308149" cy="1066630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7200" b="1" spc="-30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31B5BFF-91E9-CFA8-0A41-2D761022FDE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29">
            <a:extLst>
              <a:ext uri="{FF2B5EF4-FFF2-40B4-BE49-F238E27FC236}">
                <a16:creationId xmlns:a16="http://schemas.microsoft.com/office/drawing/2014/main" id="{9F5E5A31-F52A-BB8E-23CB-7AA74BBA448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50B-F664-A8EA-3D76-9CB48A743F91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989388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90" y="620872"/>
            <a:ext cx="8449491" cy="1027445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105F4A7-3BAB-95AF-02B9-0F2D8213B7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74515" y="1946215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3CB6BF-1C08-8CB4-CD16-5D148A5C112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554891" y="2047591"/>
            <a:ext cx="654170" cy="309632"/>
          </a:xfrm>
          <a:prstGeom prst="rect">
            <a:avLst/>
          </a:prstGeom>
        </p:spPr>
        <p:txBody>
          <a:bodyPr lIns="0" t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31B5BFF-91E9-CFA8-0A41-2D761022FDE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29">
            <a:extLst>
              <a:ext uri="{FF2B5EF4-FFF2-40B4-BE49-F238E27FC236}">
                <a16:creationId xmlns:a16="http://schemas.microsoft.com/office/drawing/2014/main" id="{9F5E5A31-F52A-BB8E-23CB-7AA74BBA448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50B-F664-A8EA-3D76-9CB48A743F91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AC3937B-8387-C36E-4336-B1B4D1F1C3C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2374515" y="2511687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EA35BCB-921E-7BB6-8FE5-8D026D00D4BB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554891" y="259752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91ABE57-3685-636E-69CD-71CA2EB96A7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374515" y="3063199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E247DE7-2E4E-A3B7-F301-2AA18D40CA04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554891" y="315521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DB9AE65-FAF1-7118-2F64-7A99C0DA509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374515" y="3614711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8AF796-A7D2-63C0-3125-C63F3DAA7AF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554890" y="3712909"/>
            <a:ext cx="654171" cy="30963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C96A97B-0ECD-C592-95EE-BE10DD46F05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374515" y="4166223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4170A4-007E-6618-EF68-18924E4A712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554890" y="4258852"/>
            <a:ext cx="654171" cy="31979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67351FB-D92D-4C43-D63C-956448F067F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2374515" y="4697564"/>
            <a:ext cx="4991993" cy="42895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Callout Text Goes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C6A0E7E-D03C-3A0D-0C4C-75D94CCF507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554890" y="4790193"/>
            <a:ext cx="654171" cy="319791"/>
          </a:xfrm>
          <a:prstGeom prst="rect">
            <a:avLst/>
          </a:prstGeom>
        </p:spPr>
        <p:txBody>
          <a:bodyPr lIns="0" t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15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2998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3AD636-376F-F676-6A8D-3EDE4E869F90}"/>
              </a:ext>
            </a:extLst>
          </p:cNvPr>
          <p:cNvSpPr/>
          <p:nvPr/>
        </p:nvSpPr>
        <p:spPr>
          <a:xfrm>
            <a:off x="8839200" y="0"/>
            <a:ext cx="335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8600"/>
            <a:ext cx="5257800" cy="1828799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045062FF-2E9A-87D2-17A5-9C6FDFBB5D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238" y="1480930"/>
            <a:ext cx="5101327" cy="4065105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849" y="2550693"/>
            <a:ext cx="5233151" cy="3152275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lvl="0"/>
            <a:endParaRPr lang="en-US" dirty="0"/>
          </a:p>
        </p:txBody>
      </p:sp>
      <p:sp>
        <p:nvSpPr>
          <p:cNvPr id="4" name="Slide Number Placeholder 28">
            <a:extLst>
              <a:ext uri="{FF2B5EF4-FFF2-40B4-BE49-F238E27FC236}">
                <a16:creationId xmlns:a16="http://schemas.microsoft.com/office/drawing/2014/main" id="{65BD9209-71AA-E282-C46F-2F9E068C9E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376BCAA8-8730-C56E-D398-058D215EBF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993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 Sc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53AD636-376F-F676-6A8D-3EDE4E869F90}"/>
              </a:ext>
            </a:extLst>
          </p:cNvPr>
          <p:cNvSpPr/>
          <p:nvPr/>
        </p:nvSpPr>
        <p:spPr>
          <a:xfrm>
            <a:off x="6140010" y="0"/>
            <a:ext cx="605199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20EB32-A56E-67B5-93A1-392B67B4F8B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850" y="2924375"/>
            <a:ext cx="4573578" cy="2416071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4" name="Slide Number Placeholder 28">
            <a:extLst>
              <a:ext uri="{FF2B5EF4-FFF2-40B4-BE49-F238E27FC236}">
                <a16:creationId xmlns:a16="http://schemas.microsoft.com/office/drawing/2014/main" id="{65BD9209-71AA-E282-C46F-2F9E068C9E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29">
            <a:extLst>
              <a:ext uri="{FF2B5EF4-FFF2-40B4-BE49-F238E27FC236}">
                <a16:creationId xmlns:a16="http://schemas.microsoft.com/office/drawing/2014/main" id="{376BCAA8-8730-C56E-D398-058D215EBF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CF5F177-6AAB-74D9-C357-13D38F92C2DC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843520" y="2924375"/>
            <a:ext cx="4573578" cy="2416071"/>
          </a:xfrm>
          <a:prstGeom prst="rect">
            <a:avLst/>
          </a:prstGeom>
        </p:spPr>
        <p:txBody>
          <a:bodyPr lIns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consectr</a:t>
            </a:r>
            <a:r>
              <a:rPr lang="en-US" dirty="0"/>
              <a:t> ad </a:t>
            </a:r>
            <a:r>
              <a:rPr lang="en-US" dirty="0" err="1"/>
              <a:t>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D6E5D8-C34F-5146-A88D-DA045D19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0"/>
            <a:ext cx="5212203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D327D0-CA7F-E525-7915-08EB934CB1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2650" y="2286001"/>
            <a:ext cx="4554538" cy="439589"/>
          </a:xfr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1D3655D-0E01-751A-C4AD-D72B543EF8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38607" y="2286001"/>
            <a:ext cx="4554538" cy="439589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9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 List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7188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4F4E837-B477-25CB-E59D-D51511D02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47242" cy="41148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BBD459-1C0D-AEC2-6EAB-6FE0EB31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1120EEF-FE29-542E-B62F-FBA1DF0DA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74EE49F3-7BD7-7BFF-32D1-B625565C5B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FEE7E-FB78-B03C-5313-1A7D5CBF0C5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pic>
        <p:nvPicPr>
          <p:cNvPr id="6" name="Picture 5" descr="A purple circle with black background&#10;&#10;Description automatically generated">
            <a:extLst>
              <a:ext uri="{FF2B5EF4-FFF2-40B4-BE49-F238E27FC236}">
                <a16:creationId xmlns:a16="http://schemas.microsoft.com/office/drawing/2014/main" id="{252F1E04-5DF4-B8A4-988B-4D5B8DAA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53" r="50000" b="-4546"/>
          <a:stretch/>
        </p:blipFill>
        <p:spPr>
          <a:xfrm>
            <a:off x="10431745" y="0"/>
            <a:ext cx="1760256" cy="19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39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1634-63E5-256F-6266-31D044AE9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7927" y="1425646"/>
            <a:ext cx="8156144" cy="2819918"/>
          </a:xfrm>
        </p:spPr>
        <p:txBody>
          <a:bodyPr lIns="0" anchor="t">
            <a:noAutofit/>
          </a:bodyPr>
          <a:lstStyle>
            <a:lvl1pPr algn="ctr">
              <a:lnSpc>
                <a:spcPts val="4200"/>
              </a:lnSpc>
              <a:defRPr sz="2800" b="0" i="0">
                <a:latin typeface="Space Grotesk Light" pitchFamily="2" charset="77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</a:t>
            </a:r>
            <a:r>
              <a:rPr lang="en-US"/>
              <a:t> mod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</a:t>
            </a:r>
            <a:br>
              <a:rPr lang="en-US"/>
            </a:br>
            <a:r>
              <a:rPr lang="en-US"/>
              <a:t>lorem ipsum dolor sit.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AFB58B-9F77-814B-EDBA-7B461F3B1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24B00F1-4190-E031-9689-223964E5C2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114" y="4628929"/>
            <a:ext cx="4515771" cy="417271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 b="1" i="0"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 algn="ctr">
              <a:buNone/>
              <a:defRPr b="0" i="0">
                <a:latin typeface="Space Grotesk Medium" pitchFamily="2" charset="77"/>
              </a:defRPr>
            </a:lvl2pPr>
            <a:lvl3pPr marL="914400" indent="0" algn="ctr">
              <a:buNone/>
              <a:defRPr b="0" i="0">
                <a:latin typeface="Space Grotesk Medium" pitchFamily="2" charset="77"/>
              </a:defRPr>
            </a:lvl3pPr>
            <a:lvl4pPr marL="1371600" indent="0" algn="ctr">
              <a:buNone/>
              <a:defRPr b="0" i="0">
                <a:latin typeface="Space Grotesk Medium" pitchFamily="2" charset="77"/>
              </a:defRPr>
            </a:lvl4pPr>
            <a:lvl5pPr marL="1828800" indent="0" algn="ctr">
              <a:buNone/>
              <a:defRPr b="0" i="0">
                <a:latin typeface="Space Grotesk Medium" pitchFamily="2" charset="77"/>
              </a:defRPr>
            </a:lvl5pPr>
          </a:lstStyle>
          <a:p>
            <a:pPr lvl="0"/>
            <a:r>
              <a:rPr lang="en-US"/>
              <a:t>Mike </a:t>
            </a:r>
            <a:r>
              <a:rPr lang="en-US" err="1"/>
              <a:t>Miskell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F76892D-E924-8B0C-E8C4-DD08E7208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4326" y="5046284"/>
            <a:ext cx="9063347" cy="417271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 algn="ctr">
              <a:buNone/>
              <a:defRPr b="0" i="0">
                <a:latin typeface="Space Grotesk Medium" pitchFamily="2" charset="77"/>
              </a:defRPr>
            </a:lvl2pPr>
            <a:lvl3pPr marL="914400" indent="0" algn="ctr">
              <a:buNone/>
              <a:defRPr b="0" i="0">
                <a:latin typeface="Space Grotesk Medium" pitchFamily="2" charset="77"/>
              </a:defRPr>
            </a:lvl3pPr>
            <a:lvl4pPr marL="1371600" indent="0" algn="ctr">
              <a:buNone/>
              <a:defRPr b="0" i="0">
                <a:latin typeface="Space Grotesk Medium" pitchFamily="2" charset="77"/>
              </a:defRPr>
            </a:lvl4pPr>
            <a:lvl5pPr marL="1828800" indent="0" algn="ctr">
              <a:buNone/>
              <a:defRPr b="0" i="0">
                <a:latin typeface="Space Grotesk Medium" pitchFamily="2" charset="77"/>
              </a:defRPr>
            </a:lvl5pPr>
          </a:lstStyle>
          <a:p>
            <a:pPr lvl="0"/>
            <a:r>
              <a:rPr lang="en-US"/>
              <a:t>Director of Process Improvement, Kaman Technologies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D815CA7-35D6-8AB4-5240-F3C304B96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8350" y="751357"/>
            <a:ext cx="495300" cy="406400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B82E34AD-0CE2-C9B2-31C3-19DA8FCCF26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E9175CC3-84C8-DEDC-C100-B8F789588EB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42C2B-666C-EFE8-9BD8-2D1F4DB80AFA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864357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Blue">
    <p:bg>
      <p:bgPr>
        <a:gradFill>
          <a:gsLst>
            <a:gs pos="100000">
              <a:schemeClr val="accent2"/>
            </a:gs>
            <a:gs pos="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8813F25-85A1-B5C2-7D2C-A001E9B90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38409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3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6D76-2D50-E120-487A-422FCBFD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8E61C-DA98-2545-49D2-98F1279C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72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Orange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CD45233-B771-E7B0-4029-2404C7CB9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42906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35000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6D76-2D50-E120-487A-422FCBFD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74FD8-7056-8316-E120-B6C9474B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29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Light">
    <p:bg>
      <p:bgPr>
        <a:gradFill>
          <a:gsLst>
            <a:gs pos="100000">
              <a:schemeClr val="bg2">
                <a:lumMod val="75000"/>
              </a:schemeClr>
            </a:gs>
            <a:gs pos="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37AC1CE-E20D-80BD-9F01-7FE84DC9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900" y="1219200"/>
            <a:ext cx="10464800" cy="3559175"/>
          </a:xfrm>
        </p:spPr>
        <p:txBody>
          <a:bodyPr lIns="0" anchor="b">
            <a:noAutofit/>
          </a:bodyPr>
          <a:lstStyle>
            <a:lvl1pPr marL="0" indent="0">
              <a:lnSpc>
                <a:spcPct val="80000"/>
              </a:lnSpc>
              <a:tabLst/>
              <a:defRPr sz="20000">
                <a:solidFill>
                  <a:schemeClr val="bg1">
                    <a:alpha val="69096"/>
                  </a:schemeClr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B79F84-DB3D-50DC-B44D-D76CC321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59225"/>
            <a:ext cx="9537700" cy="150018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ts val="4600"/>
              </a:lnSpc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EEC0A-AB31-66A3-D3F4-20732E59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98739" y="546088"/>
            <a:ext cx="1855061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37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E3876F-C624-2E08-9CC5-F736C0191B7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222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01404FB-5DA1-8F62-9D35-22037631E03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222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326A8D08-9F14-4A4C-32DF-6C9BBCDBDA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4347" y="4319199"/>
            <a:ext cx="447611" cy="44761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AE66CA-D4EE-2E12-B2FB-B74908BFE6EC}"/>
              </a:ext>
            </a:extLst>
          </p:cNvPr>
          <p:cNvCxnSpPr>
            <a:cxnSpLocks/>
          </p:cNvCxnSpPr>
          <p:nvPr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3DD1B15-1F89-D692-96DF-15C1A83CCE4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519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B7FB43-7EC8-AC76-0A14-9E127743078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519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76B0C2-3052-DD16-45A9-7663A2CD150A}"/>
              </a:ext>
            </a:extLst>
          </p:cNvPr>
          <p:cNvCxnSpPr>
            <a:cxnSpLocks/>
          </p:cNvCxnSpPr>
          <p:nvPr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B48EFF02-6B39-3CE9-E7D1-AE9BDEC0A0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47" y="4319195"/>
            <a:ext cx="447615" cy="44761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9309B4-304A-FC0D-8549-80591AD1CE64}"/>
              </a:ext>
            </a:extLst>
          </p:cNvPr>
          <p:cNvCxnSpPr>
            <a:cxnSpLocks/>
          </p:cNvCxnSpPr>
          <p:nvPr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63B3056-5701-ED0F-13B7-F2662F97FC3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084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EF08A56E-B343-F409-94C2-D32AAB44CAB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6084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99A15F-CAF8-027F-0AEC-393C05604CE8}"/>
              </a:ext>
            </a:extLst>
          </p:cNvPr>
          <p:cNvCxnSpPr>
            <a:cxnSpLocks/>
          </p:cNvCxnSpPr>
          <p:nvPr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21447A28-4F4E-3BE3-B526-E0056E7CC7C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0548" y="4319195"/>
            <a:ext cx="447614" cy="44761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3402BA-C0B0-8B2F-7684-DE3E3868959C}"/>
              </a:ext>
            </a:extLst>
          </p:cNvPr>
          <p:cNvCxnSpPr>
            <a:cxnSpLocks/>
          </p:cNvCxnSpPr>
          <p:nvPr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080C401E-9045-93F2-5170-7B6C98B108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CA7A8BCD-C0B1-5332-2D40-AAF18AF26AC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70619-9FC4-2DA6-C0D0-F26356E616A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562800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080C401E-9045-93F2-5170-7B6C98B1083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29">
            <a:extLst>
              <a:ext uri="{FF2B5EF4-FFF2-40B4-BE49-F238E27FC236}">
                <a16:creationId xmlns:a16="http://schemas.microsoft.com/office/drawing/2014/main" id="{CA7A8BCD-C0B1-5332-2D40-AAF18AF26AC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70619-9FC4-2DA6-C0D0-F26356E616A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4FA993-AF88-43C3-4262-94824BAEB8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8046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F1B4C1E7-3C8D-84C7-4790-EA403C711D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3596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3D04D9F-6CD3-302B-64DB-FCA545F0F7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333500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F9177777-54E4-A27E-C0D5-414E23E5C7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967951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096665B-8BF1-74D0-C489-A84DF1B67EF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1474" y="2752725"/>
            <a:ext cx="2408238" cy="3651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37C32106-2C44-EC83-580E-3437E547CC1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521379" y="3222625"/>
            <a:ext cx="2408238" cy="1406525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2pPr>
            <a:lvl3pPr marL="9144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3pPr>
            <a:lvl4pPr marL="13716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4pPr>
            <a:lvl5pPr marL="1828800" indent="0">
              <a:lnSpc>
                <a:spcPts val="1800"/>
              </a:lnSpc>
              <a:buNone/>
              <a:defRPr sz="1200">
                <a:solidFill>
                  <a:schemeClr val="tx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494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54E4-6EDB-9CEB-7F28-50E7E38B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28601"/>
            <a:ext cx="10515600" cy="1371600"/>
          </a:xfrm>
        </p:spPr>
        <p:txBody>
          <a:bodyPr lIns="0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DE6AB5-6AE0-82CE-AD34-3A98094FEAE4}"/>
              </a:ext>
            </a:extLst>
          </p:cNvPr>
          <p:cNvCxnSpPr>
            <a:cxnSpLocks/>
          </p:cNvCxnSpPr>
          <p:nvPr/>
        </p:nvCxnSpPr>
        <p:spPr>
          <a:xfrm>
            <a:off x="45424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AE66CA-D4EE-2E12-B2FB-B74908BFE6EC}"/>
              </a:ext>
            </a:extLst>
          </p:cNvPr>
          <p:cNvCxnSpPr>
            <a:cxnSpLocks/>
          </p:cNvCxnSpPr>
          <p:nvPr/>
        </p:nvCxnSpPr>
        <p:spPr>
          <a:xfrm>
            <a:off x="45424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99000">
                  <a:schemeClr val="accent2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76B0C2-3052-DD16-45A9-7663A2CD150A}"/>
              </a:ext>
            </a:extLst>
          </p:cNvPr>
          <p:cNvCxnSpPr>
            <a:cxnSpLocks/>
          </p:cNvCxnSpPr>
          <p:nvPr/>
        </p:nvCxnSpPr>
        <p:spPr>
          <a:xfrm>
            <a:off x="8721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9309B4-304A-FC0D-8549-80591AD1CE64}"/>
              </a:ext>
            </a:extLst>
          </p:cNvPr>
          <p:cNvCxnSpPr>
            <a:cxnSpLocks/>
          </p:cNvCxnSpPr>
          <p:nvPr/>
        </p:nvCxnSpPr>
        <p:spPr>
          <a:xfrm>
            <a:off x="8721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5"/>
                </a:gs>
                <a:gs pos="99000">
                  <a:schemeClr val="accent4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99A15F-CAF8-027F-0AEC-393C05604CE8}"/>
              </a:ext>
            </a:extLst>
          </p:cNvPr>
          <p:cNvCxnSpPr>
            <a:cxnSpLocks/>
          </p:cNvCxnSpPr>
          <p:nvPr/>
        </p:nvCxnSpPr>
        <p:spPr>
          <a:xfrm>
            <a:off x="8428623" y="3632200"/>
            <a:ext cx="0" cy="162560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3402BA-C0B0-8B2F-7684-DE3E3868959C}"/>
              </a:ext>
            </a:extLst>
          </p:cNvPr>
          <p:cNvCxnSpPr>
            <a:cxnSpLocks/>
          </p:cNvCxnSpPr>
          <p:nvPr/>
        </p:nvCxnSpPr>
        <p:spPr>
          <a:xfrm>
            <a:off x="8428623" y="2605088"/>
            <a:ext cx="0" cy="2008701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3600000" scaled="0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3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77251CC7-8E29-039C-A6D8-7C5C486B205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B220CB8F-120A-D1C0-14B2-ACB6D91707F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25F10-F4CA-B63D-3569-016E594138DB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698F64B-3862-30A3-D836-B3463E7CE5F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222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64E264-FDEB-F5E6-7B88-BC7B3D16766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0519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AC59146-238B-BEBE-3705-C54F9A71618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08463" y="2858217"/>
            <a:ext cx="2747474" cy="317654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A4B4726-7E07-7429-1A91-D02B1506B42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7222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25C54291-D958-A5E1-3A43-1113F06C6D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4348" y="4293801"/>
            <a:ext cx="473008" cy="47300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723920E-E523-F9FB-EF40-F5A9BBA84DD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10519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44F9ADD-86EC-EB4A-4456-7B81F8A503B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47" y="4293801"/>
            <a:ext cx="473009" cy="47300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7C85689-BDCE-A429-0E8B-9D209B69CF45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608463" y="3466599"/>
            <a:ext cx="2747474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15BD811D-F86E-82B2-5B8C-158BB47AB44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0548" y="4293801"/>
            <a:ext cx="473008" cy="47300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01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- Orange">
    <p:bg>
      <p:bgPr>
        <a:gradFill>
          <a:gsLst>
            <a:gs pos="0">
              <a:schemeClr val="accent5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5A-A02C-A127-36B6-64E0CEA50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0" y="1649412"/>
            <a:ext cx="10464800" cy="3559175"/>
          </a:xfrm>
        </p:spPr>
        <p:txBody>
          <a:bodyPr lIns="0" tIns="0" bIns="0" anchor="ctr">
            <a:noAutofit/>
          </a:bodyPr>
          <a:lstStyle>
            <a:lvl1pPr marL="0" indent="0" algn="ctr">
              <a:lnSpc>
                <a:spcPct val="80000"/>
              </a:lnSpc>
              <a:tabLst/>
              <a:defRPr sz="25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$13M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58BBB-F991-FE84-98AF-E584FF9D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805B73C6-0408-52BF-0A99-C3B5EC96D45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A9EC891C-FE08-69E7-A815-4A4490E7EEE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4AC09-B816-EB80-FC26-ED5BE9BC6424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473530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- Light">
    <p:bg>
      <p:bgPr>
        <a:gradFill>
          <a:gsLst>
            <a:gs pos="100000">
              <a:schemeClr val="bg2">
                <a:lumMod val="75000"/>
              </a:schemeClr>
            </a:gs>
            <a:gs pos="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C5A-A02C-A127-36B6-64E0CEA50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0" y="1649412"/>
            <a:ext cx="10464800" cy="3559175"/>
          </a:xfrm>
        </p:spPr>
        <p:txBody>
          <a:bodyPr lIns="0" tIns="0" bIns="0" anchor="ctr">
            <a:noAutofit/>
          </a:bodyPr>
          <a:lstStyle>
            <a:lvl1pPr marL="0" indent="0" algn="ctr">
              <a:lnSpc>
                <a:spcPct val="80000"/>
              </a:lnSpc>
              <a:tabLst/>
              <a:defRPr sz="25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$13M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58BBB-F991-FE84-98AF-E584FF9D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2B2733D5-9AAF-64AC-2413-AE7580A79D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558800" y="6264275"/>
            <a:ext cx="279400" cy="365125"/>
          </a:xfrm>
        </p:spPr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9F9099D8-0766-AA1C-CE96-E7114787FB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82210" y="6264275"/>
            <a:ext cx="4554218" cy="365125"/>
          </a:xfrm>
        </p:spPr>
        <p:txBody>
          <a:bodyPr/>
          <a:lstStyle/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0ABEF-5300-57A8-7D1F-A79B33E06121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29328985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907D1E-10D7-5D0C-B02D-0A49F809A6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0"/>
            <a:ext cx="296779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AD486-BB6E-4F73-F19D-2D62D81726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63790" y="0"/>
            <a:ext cx="312821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4C2D4-77DF-4445-3005-1D0D212039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11" y="0"/>
            <a:ext cx="312821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AF998-DAC6-320A-7C2A-DE5FA1C7F3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36231" y="0"/>
            <a:ext cx="296779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99000">
                <a:schemeClr val="accent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3DD1B15-1F89-D692-96DF-15C1A83CCE4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9939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7B7FB43-7EC8-AC76-0A14-9E127743078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9939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C6032DA-FF80-88C3-2E14-1B874B3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9AB83B-3970-AA58-5E5A-9FB4D6E2E6D9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09939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3D24C33-3C7E-EC7B-E277-8FDC091E975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469708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64DA85F-9085-2E52-C671-86CC8901922B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469708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9B2E82-1E78-8C35-F5BA-628C6B92828E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3469708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485C90F-3AE9-352D-14C8-3473FC59EFA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419206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7B8F4AE-B6DA-CB07-CFD5-196177AD9FB6}"/>
              </a:ext>
            </a:extLst>
          </p:cNvPr>
          <p:cNvSpPr>
            <a:spLocks noGrp="1"/>
          </p:cNvSpPr>
          <p:nvPr>
            <p:ph sz="half" idx="33" hasCustomPrompt="1"/>
          </p:nvPr>
        </p:nvSpPr>
        <p:spPr>
          <a:xfrm>
            <a:off x="6441508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918C8E5-B32F-30DB-1A2F-FBD93C9A782D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6441508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905B0-1F7A-3098-3D87-B4D0C46DEEA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401277" y="2716252"/>
            <a:ext cx="2292816" cy="509121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38F0F01-8CA0-322D-FD81-5A3BAA3B2DA9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9401277" y="3253488"/>
            <a:ext cx="2292816" cy="68327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Space Grotesk Medium" pitchFamily="2" charset="77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5DEC288-D3AB-E659-AF92-FAC2AD0187D8}"/>
              </a:ext>
            </a:extLst>
          </p:cNvPr>
          <p:cNvSpPr>
            <a:spLocks noGrp="1"/>
          </p:cNvSpPr>
          <p:nvPr>
            <p:ph sz="half" idx="37" hasCustomPrompt="1"/>
          </p:nvPr>
        </p:nvSpPr>
        <p:spPr>
          <a:xfrm>
            <a:off x="9401277" y="3951320"/>
            <a:ext cx="2292816" cy="68327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/>
                </a:solidFill>
                <a:latin typeface="Inter UI" panose="020B0502030000000004" pitchFamily="34" charset="0"/>
                <a:ea typeface="Inter UI" panose="020B0502030000000004" pitchFamily="34" charset="0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100">
                <a:solidFill>
                  <a:schemeClr val="tx1"/>
                </a:solidFill>
              </a:defRPr>
            </a:lvl3pPr>
            <a:lvl4pPr marL="1371600" indent="0">
              <a:buNone/>
              <a:defRPr sz="1100">
                <a:solidFill>
                  <a:schemeClr val="tx1"/>
                </a:solidFill>
              </a:defRPr>
            </a:lvl4pPr>
            <a:lvl5pPr marL="182880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consectur</a:t>
            </a:r>
            <a:endParaRPr lang="en-US" dirty="0"/>
          </a:p>
        </p:txBody>
      </p:sp>
      <p:sp>
        <p:nvSpPr>
          <p:cNvPr id="2" name="Slide Number Placeholder 28">
            <a:extLst>
              <a:ext uri="{FF2B5EF4-FFF2-40B4-BE49-F238E27FC236}">
                <a16:creationId xmlns:a16="http://schemas.microsoft.com/office/drawing/2014/main" id="{3F3DCBD3-8820-D724-EEA9-9FC57E8E303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558800" y="6264275"/>
            <a:ext cx="279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29">
            <a:extLst>
              <a:ext uri="{FF2B5EF4-FFF2-40B4-BE49-F238E27FC236}">
                <a16:creationId xmlns:a16="http://schemas.microsoft.com/office/drawing/2014/main" id="{F75EB40D-C290-1A00-A30A-209415A36DC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882210" y="6264275"/>
            <a:ext cx="4554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Data On Wheels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BB7E62-83FD-FA61-4E49-3B99F77A837E}"/>
              </a:ext>
            </a:extLst>
          </p:cNvPr>
          <p:cNvCxnSpPr/>
          <p:nvPr/>
        </p:nvCxnSpPr>
        <p:spPr>
          <a:xfrm>
            <a:off x="3132221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9E524-D6E2-1C64-420B-D281ADA4C1D8}"/>
              </a:ext>
            </a:extLst>
          </p:cNvPr>
          <p:cNvCxnSpPr/>
          <p:nvPr/>
        </p:nvCxnSpPr>
        <p:spPr>
          <a:xfrm>
            <a:off x="6098445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6DA8CF-AE55-D0E1-C112-E1756297E0C6}"/>
              </a:ext>
            </a:extLst>
          </p:cNvPr>
          <p:cNvCxnSpPr/>
          <p:nvPr/>
        </p:nvCxnSpPr>
        <p:spPr>
          <a:xfrm>
            <a:off x="906466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035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48307F-569A-ACEB-7613-0AB60345B8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335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B398FF-4608-3C59-217C-6A40D9115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36201" y="6365323"/>
            <a:ext cx="1117599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D4A0-1063-2432-FE10-22E229854B0F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tx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1014722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1017E3D-D397-2D38-6EEC-C7BC987C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36204" y="6365323"/>
            <a:ext cx="1117593" cy="184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7D4A0-1063-2432-FE10-22E229854B0F}"/>
              </a:ext>
            </a:extLst>
          </p:cNvPr>
          <p:cNvSpPr txBox="1"/>
          <p:nvPr/>
        </p:nvSpPr>
        <p:spPr>
          <a:xfrm>
            <a:off x="8254297" y="6334990"/>
            <a:ext cx="1847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0" i="0" dirty="0">
                <a:solidFill>
                  <a:schemeClr val="bg1"/>
                </a:solidFill>
                <a:latin typeface="Space Grotesk Light" pitchFamily="2" charset="77"/>
              </a:rPr>
              <a:t>P3ADAPTIVE.COM</a:t>
            </a:r>
          </a:p>
        </p:txBody>
      </p:sp>
    </p:spTree>
    <p:extLst>
      <p:ext uri="{BB962C8B-B14F-4D97-AF65-F5344CB8AC3E}">
        <p14:creationId xmlns:p14="http://schemas.microsoft.com/office/powerpoint/2010/main" val="46481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1EDD6-DF08-D054-8CB4-B5219E9F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2819-8CF0-6ED2-8F6B-1CEE1EF5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0FD5-D308-B238-09AE-9D3F591D9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24AB6-689F-4D94-89E3-667E6F78A9F8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640B5-0807-F9FE-DC39-61BF57B64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On Wheels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B08E-A102-F055-7747-2596A0391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D349C-6C77-4145-8ACB-E361179CA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4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144">
          <p15:clr>
            <a:srgbClr val="F26B43"/>
          </p15:clr>
        </p15:guide>
        <p15:guide id="5" orient="horz" pos="720">
          <p15:clr>
            <a:srgbClr val="F26B43"/>
          </p15:clr>
        </p15:guide>
        <p15:guide id="6" pos="7152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00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4176">
          <p15:clr>
            <a:srgbClr val="F26B43"/>
          </p15:clr>
        </p15:guide>
        <p15:guide id="11" orient="horz" pos="3096">
          <p15:clr>
            <a:srgbClr val="F26B43"/>
          </p15:clr>
        </p15:guide>
        <p15:guide id="12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onwheels.wordpress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kristyna-ferris-dataonwheel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2E92-41AE-89A9-2018-F418DEE61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39" y="417576"/>
            <a:ext cx="11956774" cy="1249394"/>
          </a:xfrm>
        </p:spPr>
        <p:txBody>
          <a:bodyPr anchor="ctr">
            <a:noAutofit/>
          </a:bodyPr>
          <a:lstStyle/>
          <a:p>
            <a:r>
              <a:rPr lang="en-US" sz="4000" dirty="0"/>
              <a:t>Tips &amp; Tricks for Mastering Microsoft Fabric Data Warehousing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14C2-A141-3245-72A9-BB4B623F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809541"/>
            <a:ext cx="10909643" cy="687406"/>
          </a:xfrm>
        </p:spPr>
        <p:txBody>
          <a:bodyPr anchor="ctr"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Kristyna Ferris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9A7372B-6050-7F78-4076-7DE2A915198E}"/>
              </a:ext>
            </a:extLst>
          </p:cNvPr>
          <p:cNvSpPr txBox="1">
            <a:spLocks/>
          </p:cNvSpPr>
          <p:nvPr/>
        </p:nvSpPr>
        <p:spPr>
          <a:xfrm>
            <a:off x="557711" y="5937593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cs typeface="Arial" panose="020B0604020202020204" pitchFamily="34" charset="0"/>
              </a:rPr>
              <a:t>Fun Fact: this font is dyslexic friendly! Ask me how to use it for free after the session.</a:t>
            </a:r>
          </a:p>
        </p:txBody>
      </p:sp>
      <p:pic>
        <p:nvPicPr>
          <p:cNvPr id="5" name="Picture 4" descr="A road with bushes and trees in the background&#10;&#10;AI-generated content may be incorrect.">
            <a:extLst>
              <a:ext uri="{FF2B5EF4-FFF2-40B4-BE49-F238E27FC236}">
                <a16:creationId xmlns:a16="http://schemas.microsoft.com/office/drawing/2014/main" id="{8571DAF0-309F-67E3-135A-34C5AFC73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4" b="24271"/>
          <a:stretch>
            <a:fillRect/>
          </a:stretch>
        </p:blipFill>
        <p:spPr>
          <a:xfrm>
            <a:off x="7388" y="3543300"/>
            <a:ext cx="12190476" cy="221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7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5125"/>
            <a:ext cx="5435144" cy="128325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Me ~ Kristyna Ferris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06B51-3439-9831-D29B-A4B16405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6" r="5406"/>
          <a:stretch/>
        </p:blipFill>
        <p:spPr>
          <a:xfrm>
            <a:off x="458525" y="857692"/>
            <a:ext cx="4478416" cy="5021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26FB5-B0F0-A0DD-57F2-76101BA66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60" y="1873905"/>
            <a:ext cx="7048670" cy="489868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100" dirty="0"/>
              <a:t>Microsoft MVP, Data Platform &amp; Fabric</a:t>
            </a:r>
            <a:br>
              <a:rPr lang="en-US" sz="2100" dirty="0"/>
            </a:br>
            <a:r>
              <a:rPr lang="en-US" sz="2100" dirty="0"/>
              <a:t>Solution Architect, P3 Adaptive</a:t>
            </a:r>
            <a:br>
              <a:rPr lang="en-US" sz="2100" dirty="0"/>
            </a:br>
            <a:r>
              <a:rPr lang="en-US" sz="2100" dirty="0"/>
              <a:t>Lexington Data Tech Group co-organizer </a:t>
            </a:r>
            <a:br>
              <a:rPr lang="en-US" sz="2100" dirty="0"/>
            </a:br>
            <a:r>
              <a:rPr lang="en-US" sz="2100" dirty="0" err="1"/>
              <a:t>DataOnWheels</a:t>
            </a:r>
            <a:r>
              <a:rPr lang="en-US" sz="2100" dirty="0"/>
              <a:t> Author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/>
              <a:t>Blog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https://dataonwheels.wordpress.com/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LinkedIn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0" i="0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https://www.linkedin.com/in/kristyna-ferris-dataonwheels/</a:t>
            </a:r>
            <a:br>
              <a:rPr lang="en-US" sz="2000" b="0" i="0" dirty="0">
                <a:effectLst/>
              </a:rPr>
            </a:b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Twitter &amp; Bluesky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@data_dragoness</a:t>
            </a:r>
          </a:p>
        </p:txBody>
      </p:sp>
    </p:spTree>
    <p:extLst>
      <p:ext uri="{BB962C8B-B14F-4D97-AF65-F5344CB8AC3E}">
        <p14:creationId xmlns:p14="http://schemas.microsoft.com/office/powerpoint/2010/main" val="118755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5D0FF-1A55-E74E-023C-E0386E1F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EF39-7DBF-5077-134A-0BD6BCF0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What is a Fabric Data Warehouse?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B278E-3CA7-3D53-9FA5-53A048960050}"/>
              </a:ext>
            </a:extLst>
          </p:cNvPr>
          <p:cNvSpPr txBox="1"/>
          <p:nvPr/>
        </p:nvSpPr>
        <p:spPr>
          <a:xfrm>
            <a:off x="5076298" y="2090172"/>
            <a:ext cx="68109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Lake-Centric Architecture 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Built on a distributed processing engine within </a:t>
            </a:r>
            <a:r>
              <a:rPr lang="en-US" sz="2400" dirty="0" err="1"/>
              <a:t>OneLake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Supports open Delta-Parquet formats which enables </a:t>
            </a:r>
            <a:r>
              <a:rPr lang="en-US" sz="2400" b="1" dirty="0"/>
              <a:t>ACID</a:t>
            </a:r>
            <a:r>
              <a:rPr lang="en-US" sz="2400" dirty="0"/>
              <a:t> transactions and seamless interoperability across Fabric workloads </a:t>
            </a:r>
          </a:p>
          <a:p>
            <a:endParaRPr lang="en-US" sz="2400" dirty="0"/>
          </a:p>
        </p:txBody>
      </p:sp>
      <p:pic>
        <p:nvPicPr>
          <p:cNvPr id="1029" name="Picture 5" descr="Generated image">
            <a:extLst>
              <a:ext uri="{FF2B5EF4-FFF2-40B4-BE49-F238E27FC236}">
                <a16:creationId xmlns:a16="http://schemas.microsoft.com/office/drawing/2014/main" id="{B53F332F-8C64-2FCD-D558-1C502DCAE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03" y="1955430"/>
            <a:ext cx="3818488" cy="38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87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963B-FAD4-087C-D040-F203BB75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34247-D591-4F49-FC67-EEC7360F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What is a Fabric Data Warehouse?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A6C8F-5CDF-0F7E-5BC7-7501C6FC23A1}"/>
              </a:ext>
            </a:extLst>
          </p:cNvPr>
          <p:cNvSpPr txBox="1"/>
          <p:nvPr/>
        </p:nvSpPr>
        <p:spPr>
          <a:xfrm>
            <a:off x="1781666" y="1825034"/>
            <a:ext cx="98038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ACID ?</a:t>
            </a:r>
          </a:p>
          <a:p>
            <a:endParaRPr lang="en-US" sz="2400" dirty="0"/>
          </a:p>
          <a:p>
            <a:r>
              <a:rPr lang="en-US" sz="2400" b="1" dirty="0"/>
              <a:t>A</a:t>
            </a:r>
            <a:r>
              <a:rPr lang="en-US" sz="2400" dirty="0"/>
              <a:t>tomicity - transactions must complete fully or not at all.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C</a:t>
            </a:r>
            <a:r>
              <a:rPr lang="en-US" sz="2400" dirty="0"/>
              <a:t>onsistency – database is in a valid state before &amp; after transaction. If a transaction violates integrity rules, it is not committed.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I</a:t>
            </a:r>
            <a:r>
              <a:rPr lang="en-US" sz="2400" dirty="0"/>
              <a:t>solation – concurrent transactions do not interfere with each other.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D</a:t>
            </a:r>
            <a:r>
              <a:rPr lang="en-US" sz="2400" dirty="0"/>
              <a:t>urability – once a transaction is committed, its effects are permanent and saved to a non-volatile storage. </a:t>
            </a:r>
          </a:p>
        </p:txBody>
      </p:sp>
    </p:spTree>
    <p:extLst>
      <p:ext uri="{BB962C8B-B14F-4D97-AF65-F5344CB8AC3E}">
        <p14:creationId xmlns:p14="http://schemas.microsoft.com/office/powerpoint/2010/main" val="401909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841BE-C265-6189-E37F-27EF96D6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B7A1-13F7-8ECD-0468-994CB20E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What is a Fabric Data Warehouse?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35DA578F-54C9-E146-2245-8B50A5C4D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36" y="2362749"/>
            <a:ext cx="3270849" cy="327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C8529A3B-A4FB-28BD-A3B6-F3F4B27F6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051" y="2362749"/>
            <a:ext cx="3270849" cy="327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A487B4D6-1D65-3365-291F-2B7E55CC9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115" y="2362750"/>
            <a:ext cx="3270849" cy="327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236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12615-D0CA-4844-4DC4-A4DC0EEC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B762-71AF-5017-984B-7453F160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What is a Fabric Data Warehouse?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39543A-BC35-E5E5-5181-4716694AC731}"/>
              </a:ext>
            </a:extLst>
          </p:cNvPr>
          <p:cNvSpPr txBox="1"/>
          <p:nvPr/>
        </p:nvSpPr>
        <p:spPr>
          <a:xfrm>
            <a:off x="5151711" y="2178361"/>
            <a:ext cx="67027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User-Friendly for All Skill Levels </a:t>
            </a:r>
          </a:p>
          <a:p>
            <a:endParaRPr lang="en-US" sz="2400" b="1" dirty="0"/>
          </a:p>
          <a:p>
            <a:endParaRPr lang="en-US" sz="1400" b="1" dirty="0"/>
          </a:p>
          <a:p>
            <a:r>
              <a:rPr lang="en-US" sz="1400" b="1" i="1" dirty="0"/>
              <a:t>The Big Selling Point</a:t>
            </a:r>
          </a:p>
          <a:p>
            <a:endParaRPr lang="en-US" sz="2400" dirty="0"/>
          </a:p>
          <a:p>
            <a:r>
              <a:rPr lang="en-US" sz="2000" dirty="0"/>
              <a:t>Designed for a range of users, from citizen developers to DBAs and data engineers, providing an easy-to-use SaaS experience that simplifies data warehousing tasks while offering elements of a deeper customization for more experienced users.</a:t>
            </a:r>
            <a:endParaRPr lang="en-US" dirty="0"/>
          </a:p>
        </p:txBody>
      </p:sp>
      <p:pic>
        <p:nvPicPr>
          <p:cNvPr id="7170" name="Picture 2" descr="Generated image">
            <a:extLst>
              <a:ext uri="{FF2B5EF4-FFF2-40B4-BE49-F238E27FC236}">
                <a16:creationId xmlns:a16="http://schemas.microsoft.com/office/drawing/2014/main" id="{9405DFEA-2249-B7F8-2264-F49EE051A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71" y="1867178"/>
            <a:ext cx="4053623" cy="405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977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6EC01-0C03-5912-44CB-7C6CDD54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CD27-FFBA-EC68-5D1D-E17692A8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800" dirty="0"/>
              <a:t>Sounds </a:t>
            </a:r>
            <a:r>
              <a:rPr lang="en-US" sz="4800" i="1" dirty="0"/>
              <a:t>wonderful</a:t>
            </a:r>
            <a:r>
              <a:rPr lang="en-US" sz="4800" dirty="0"/>
              <a:t> so…what’s the Issue?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 descr="Problems? - Imgflip">
            <a:extLst>
              <a:ext uri="{FF2B5EF4-FFF2-40B4-BE49-F238E27FC236}">
                <a16:creationId xmlns:a16="http://schemas.microsoft.com/office/drawing/2014/main" id="{048B3950-E027-7493-E279-4FE755F36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6"/>
          <a:stretch>
            <a:fillRect/>
          </a:stretch>
        </p:blipFill>
        <p:spPr bwMode="auto">
          <a:xfrm>
            <a:off x="3713226" y="2168934"/>
            <a:ext cx="4762500" cy="372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196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83D93-BAC5-14BC-5679-38339F19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01EE-0160-08AD-3C95-46E0D00FD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The Issues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9A05F-0406-8C04-D509-44A18AD9FD56}"/>
              </a:ext>
            </a:extLst>
          </p:cNvPr>
          <p:cNvSpPr txBox="1"/>
          <p:nvPr/>
        </p:nvSpPr>
        <p:spPr>
          <a:xfrm>
            <a:off x="6096000" y="2187328"/>
            <a:ext cx="59846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800" dirty="0"/>
              <a:t>Case Sensitivity (solved!)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AutoNum type="arabicPeriod"/>
            </a:pPr>
            <a:r>
              <a:rPr lang="en-US" sz="2800" dirty="0"/>
              <a:t>Performance Monitoring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AutoNum type="arabicPeriod"/>
            </a:pPr>
            <a:r>
              <a:rPr lang="en-US" sz="2800" dirty="0"/>
              <a:t>Killing Capacity Murderers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AutoNum type="arabicPeriod"/>
            </a:pPr>
            <a:r>
              <a:rPr lang="en-US" sz="2800" dirty="0"/>
              <a:t>IDENTITY() Gotchas</a:t>
            </a:r>
          </a:p>
        </p:txBody>
      </p:sp>
      <p:pic>
        <p:nvPicPr>
          <p:cNvPr id="5122" name="Picture 2" descr="Meme Creator - Funny Issues? What issues? Meme Generator at MemeCreator ...">
            <a:extLst>
              <a:ext uri="{FF2B5EF4-FFF2-40B4-BE49-F238E27FC236}">
                <a16:creationId xmlns:a16="http://schemas.microsoft.com/office/drawing/2014/main" id="{A710CEDC-0A99-A66A-CBF4-52C476783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69" y="1933265"/>
            <a:ext cx="3654506" cy="414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163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D1188-E29C-49FE-FEA7-761188BBB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81CD-89C7-838A-0659-C77E810AE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Problem 1 – Case Sensitivity (solved!)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6A1B5-9388-5A40-8149-6D2FB809A73D}"/>
              </a:ext>
            </a:extLst>
          </p:cNvPr>
          <p:cNvSpPr txBox="1"/>
          <p:nvPr/>
        </p:nvSpPr>
        <p:spPr>
          <a:xfrm>
            <a:off x="5151711" y="2178361"/>
            <a:ext cx="67027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Fabric data warehouses are </a:t>
            </a:r>
            <a:r>
              <a:rPr lang="en-US" sz="2000" b="1" dirty="0"/>
              <a:t>case sensitive by default </a:t>
            </a:r>
            <a:r>
              <a:rPr lang="en-US" sz="2000" dirty="0"/>
              <a:t>which can lead to errors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Solution – utilize the </a:t>
            </a:r>
            <a:r>
              <a:rPr lang="en-US" sz="2000" b="1" dirty="0"/>
              <a:t>API</a:t>
            </a:r>
            <a:r>
              <a:rPr lang="en-US" sz="2000" dirty="0"/>
              <a:t> to create a case-insensitive warehouse. 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Important note – </a:t>
            </a:r>
            <a:r>
              <a:rPr lang="en-US" sz="2000" b="1" dirty="0"/>
              <a:t>you cannot convert </a:t>
            </a:r>
            <a:r>
              <a:rPr lang="en-US" sz="2000" dirty="0"/>
              <a:t>a warehouse to be case-insensitive. You must create a new one and port data over to it if necessary.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Mystery Fanfare: Cartoon of the Day: Case Sensitive">
            <a:extLst>
              <a:ext uri="{FF2B5EF4-FFF2-40B4-BE49-F238E27FC236}">
                <a16:creationId xmlns:a16="http://schemas.microsoft.com/office/drawing/2014/main" id="{4DE5676F-3961-1E72-0E14-E784FE386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5" y="1778000"/>
            <a:ext cx="428625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379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FC3AC-BA23-509C-7AF0-8AACC249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50D3-F5E0-EF8D-4F47-4A4CE8B91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Success Story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5344E-EE86-05E5-538A-13809E852CD7}"/>
              </a:ext>
            </a:extLst>
          </p:cNvPr>
          <p:cNvSpPr txBox="1"/>
          <p:nvPr/>
        </p:nvSpPr>
        <p:spPr>
          <a:xfrm>
            <a:off x="5151711" y="2178361"/>
            <a:ext cx="67027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 of August, there is a way to set a workspace default collation without a REST API!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Microsoft is always listening, learning, and adapting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Don’t be afraid to speak up and provide feedback, it’s welcomed and encouraged</a:t>
            </a:r>
            <a:endParaRPr lang="en-US" dirty="0"/>
          </a:p>
        </p:txBody>
      </p:sp>
      <p:pic>
        <p:nvPicPr>
          <p:cNvPr id="3" name="Picture 2" descr="I'm so excited Memes - Imgflip">
            <a:extLst>
              <a:ext uri="{FF2B5EF4-FFF2-40B4-BE49-F238E27FC236}">
                <a16:creationId xmlns:a16="http://schemas.microsoft.com/office/drawing/2014/main" id="{363BAA43-04FA-9BF4-95F9-B1F39A5F6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 r="5127" b="9981"/>
          <a:stretch>
            <a:fillRect/>
          </a:stretch>
        </p:blipFill>
        <p:spPr bwMode="auto">
          <a:xfrm>
            <a:off x="722418" y="2072425"/>
            <a:ext cx="3832411" cy="384756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770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00403-1C0A-70B1-F4CE-351A8AE1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4C0D-B3DA-74E6-FF8C-1C6D476F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Problem 2 – Performance Monitoring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A9F65-94E0-A5EB-7C47-6BF8C5F3F5CE}"/>
              </a:ext>
            </a:extLst>
          </p:cNvPr>
          <p:cNvSpPr txBox="1"/>
          <p:nvPr/>
        </p:nvSpPr>
        <p:spPr>
          <a:xfrm>
            <a:off x="4820239" y="2030115"/>
            <a:ext cx="67027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Built-in</a:t>
            </a:r>
            <a:r>
              <a:rPr lang="en-US" sz="2000" dirty="0"/>
              <a:t> performance monitoring leverage DMVs that can be </a:t>
            </a:r>
            <a:r>
              <a:rPr lang="en-US" sz="2000" b="1" dirty="0"/>
              <a:t>slow running </a:t>
            </a:r>
            <a:r>
              <a:rPr lang="en-US" sz="2000" dirty="0"/>
              <a:t>and fail when capacity is overloaded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Solution</a:t>
            </a:r>
            <a:r>
              <a:rPr lang="en-US" sz="2000" dirty="0"/>
              <a:t> – utilize DMVs to build a warehouse </a:t>
            </a:r>
            <a:r>
              <a:rPr lang="en-US" sz="2000" b="1" dirty="0"/>
              <a:t>monitoring tool </a:t>
            </a:r>
            <a:r>
              <a:rPr lang="en-US" sz="2000" dirty="0"/>
              <a:t>that imports data that will still work when capacity is slowing down. 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Important note – this solution is best suited to </a:t>
            </a:r>
            <a:r>
              <a:rPr lang="en-US" sz="2000" b="1" dirty="0"/>
              <a:t>live in a separate capacity </a:t>
            </a:r>
            <a:r>
              <a:rPr lang="en-US" sz="2000" dirty="0"/>
              <a:t>(can even be a pro or PPU workspace) so that it doesn’t slow when the capacity gets throttled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 descr="How to monitor the network performance? : r/networking">
            <a:extLst>
              <a:ext uri="{FF2B5EF4-FFF2-40B4-BE49-F238E27FC236}">
                <a16:creationId xmlns:a16="http://schemas.microsoft.com/office/drawing/2014/main" id="{69333DA4-DEB7-FFAD-41C4-5861B4083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520" y="2693537"/>
            <a:ext cx="2934756" cy="293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37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68241-D797-8A8F-FB51-07847F76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412E-61AD-0C19-8AA4-5C887F96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Problem 3 – Killing those Capacity Murderers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93F26-EAEE-1F9D-ADF9-EC4584DD1305}"/>
              </a:ext>
            </a:extLst>
          </p:cNvPr>
          <p:cNvSpPr txBox="1"/>
          <p:nvPr/>
        </p:nvSpPr>
        <p:spPr>
          <a:xfrm>
            <a:off x="5065336" y="2030115"/>
            <a:ext cx="67027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Rogue queries</a:t>
            </a:r>
            <a:r>
              <a:rPr lang="en-US" sz="2000" dirty="0"/>
              <a:t> can consume excessive resources, potentially crippling warehouse capacity. Unfortunately, the capacity metric app does not contain session IDs necessary to kill long running queries.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Solution – utilize custom monitoring to find session IDs to </a:t>
            </a:r>
            <a:r>
              <a:rPr lang="en-US" sz="2000" b="1" dirty="0"/>
              <a:t>kill when needed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Important note – this solution is best suited to live in a separate capacity (can even be a pro or PPU workspace) so that it doesn’t slow when the capacity gets throttled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074" name="Picture 2" descr="Meme: &quot;YOU UNDERESTIMATE MY CAPACITY&quot; - All Templates - Meme-arsenal.com">
            <a:extLst>
              <a:ext uri="{FF2B5EF4-FFF2-40B4-BE49-F238E27FC236}">
                <a16:creationId xmlns:a16="http://schemas.microsoft.com/office/drawing/2014/main" id="{34A6408A-47B3-97F9-D10E-D8455E7EAD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3" r="17304"/>
          <a:stretch/>
        </p:blipFill>
        <p:spPr bwMode="auto">
          <a:xfrm>
            <a:off x="545217" y="2300140"/>
            <a:ext cx="4275022" cy="373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785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55A7-CBD8-BCD1-8774-7C5D857B2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MO TIME! ... what could possibly go wrong - Disaster Girl Meme Generator">
            <a:extLst>
              <a:ext uri="{FF2B5EF4-FFF2-40B4-BE49-F238E27FC236}">
                <a16:creationId xmlns:a16="http://schemas.microsoft.com/office/drawing/2014/main" id="{F95350F9-3F1A-2227-8D96-BBB118F7ED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5"/>
          <a:stretch/>
        </p:blipFill>
        <p:spPr bwMode="auto">
          <a:xfrm>
            <a:off x="2946268" y="1102666"/>
            <a:ext cx="6555949" cy="465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63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7BECC-D3E0-6E03-98DE-EF9D562D0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B2CE-6D90-DEE9-D3F7-A48F576D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Problem 4 – IDENTITY()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AD4EC-025D-0466-0F8E-A052F8DB7D23}"/>
              </a:ext>
            </a:extLst>
          </p:cNvPr>
          <p:cNvSpPr txBox="1"/>
          <p:nvPr/>
        </p:nvSpPr>
        <p:spPr>
          <a:xfrm>
            <a:off x="1348034" y="1690688"/>
            <a:ext cx="1042002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IDENTITY() in the Data Warehouse is completely different than SQL Server. </a:t>
            </a:r>
          </a:p>
          <a:p>
            <a:endParaRPr lang="en-US" sz="2400" dirty="0"/>
          </a:p>
          <a:p>
            <a:r>
              <a:rPr lang="en-US" sz="2400" dirty="0"/>
              <a:t>Data Warehouse leverages Delta Tables under the hood. This means we cannot have sequential identifiers.</a:t>
            </a:r>
          </a:p>
          <a:p>
            <a:endParaRPr lang="en-US" sz="2400" dirty="0"/>
          </a:p>
          <a:p>
            <a:r>
              <a:rPr lang="en-US" sz="2400" dirty="0"/>
              <a:t>What does this mean for you? </a:t>
            </a:r>
          </a:p>
          <a:p>
            <a:r>
              <a:rPr lang="en-US" sz="2400" dirty="0"/>
              <a:t>No sequential IDs</a:t>
            </a:r>
          </a:p>
          <a:p>
            <a:r>
              <a:rPr lang="en-US" sz="2400" dirty="0"/>
              <a:t>No ability to have a default </a:t>
            </a:r>
            <a:r>
              <a:rPr lang="en-US" sz="2400"/>
              <a:t>NULL value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965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54FFE-67A0-4E18-D0E5-CA3186A4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B658-F3E6-B51A-94DC-0CA95122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/>
              <a:t>Demo Time!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7F46C-7890-573A-CDBF-4FB0A8BE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192" y="1846492"/>
            <a:ext cx="4420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39" y="330974"/>
            <a:ext cx="10197494" cy="1099457"/>
          </a:xfrm>
        </p:spPr>
        <p:txBody>
          <a:bodyPr>
            <a:noAutofit/>
          </a:bodyPr>
          <a:lstStyle/>
          <a:p>
            <a:r>
              <a:rPr lang="en-US" sz="3200" dirty="0"/>
              <a:t>Don’t forget to connect, thanks for listening!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3C5312A1-6D86-AB24-BBF8-296AC20E4D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6024" y="1430431"/>
          <a:ext cx="7601596" cy="520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E3BFC27-6733-8963-13C2-165A3C03425F}"/>
              </a:ext>
            </a:extLst>
          </p:cNvPr>
          <p:cNvSpPr txBox="1">
            <a:spLocks/>
          </p:cNvSpPr>
          <p:nvPr/>
        </p:nvSpPr>
        <p:spPr>
          <a:xfrm>
            <a:off x="1096767" y="2165956"/>
            <a:ext cx="2493297" cy="623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68141-E5EF-4BB5-7A12-57480E4EC4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766" y="2789135"/>
            <a:ext cx="2560833" cy="256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02848"/>
      </p:ext>
    </p:extLst>
  </p:cSld>
  <p:clrMapOvr>
    <a:masterClrMapping/>
  </p:clrMapOvr>
</p:sld>
</file>

<file path=ppt/theme/theme1.xml><?xml version="1.0" encoding="utf-8"?>
<a:theme xmlns:a="http://schemas.openxmlformats.org/drawingml/2006/main" name="Accessible Theme">
  <a:themeElements>
    <a:clrScheme name="Custom 1">
      <a:dk1>
        <a:sysClr val="windowText" lastClr="000000"/>
      </a:dk1>
      <a:lt1>
        <a:sysClr val="window" lastClr="FFFFFF"/>
      </a:lt1>
      <a:dk2>
        <a:srgbClr val="4D671B"/>
      </a:dk2>
      <a:lt2>
        <a:srgbClr val="EBEBEB"/>
      </a:lt2>
      <a:accent1>
        <a:srgbClr val="2A5010"/>
      </a:accent1>
      <a:accent2>
        <a:srgbClr val="2A5010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ustom 1">
      <a:majorFont>
        <a:latin typeface="OpenDyslexic"/>
        <a:ea typeface=""/>
        <a:cs typeface=""/>
      </a:majorFont>
      <a:minorFont>
        <a:latin typeface="OpenDyslexicAl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 Theme" id="{10875AD4-5CAD-4872-B4F2-FE61D414DF08}" vid="{29D82CBB-C483-4E97-ACEB-BAAA2D7D27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Accessible Theme</Template>
  <TotalTime>15963</TotalTime>
  <Words>859</Words>
  <Application>Microsoft Office PowerPoint</Application>
  <PresentationFormat>Widescreen</PresentationFormat>
  <Paragraphs>96</Paragraphs>
  <Slides>16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  <vt:variant>
        <vt:lpstr>Custom Shows</vt:lpstr>
      </vt:variant>
      <vt:variant>
        <vt:i4>1</vt:i4>
      </vt:variant>
    </vt:vector>
  </HeadingPairs>
  <TitlesOfParts>
    <vt:vector size="27" baseType="lpstr">
      <vt:lpstr>Arial</vt:lpstr>
      <vt:lpstr>Calibri</vt:lpstr>
      <vt:lpstr>Inter UI</vt:lpstr>
      <vt:lpstr>OpenDyslexic</vt:lpstr>
      <vt:lpstr>OpenDyslexicAlta</vt:lpstr>
      <vt:lpstr>Segoe UI</vt:lpstr>
      <vt:lpstr>Space Grotesk</vt:lpstr>
      <vt:lpstr>Space Grotesk Light</vt:lpstr>
      <vt:lpstr>Space Grotesk Medium</vt:lpstr>
      <vt:lpstr>Accessible Theme</vt:lpstr>
      <vt:lpstr>Tips &amp; Tricks for Mastering Microsoft Fabric Data Warehousing</vt:lpstr>
      <vt:lpstr>About Me ~ Kristyna Ferris</vt:lpstr>
      <vt:lpstr>What is a Fabric Data Warehouse?</vt:lpstr>
      <vt:lpstr>What is a Fabric Data Warehouse?</vt:lpstr>
      <vt:lpstr>What is a Fabric Data Warehouse?</vt:lpstr>
      <vt:lpstr>What is a Fabric Data Warehouse?</vt:lpstr>
      <vt:lpstr>Sounds wonderful so…what’s the Issue?</vt:lpstr>
      <vt:lpstr>The Issues</vt:lpstr>
      <vt:lpstr>Problem 1 – Case Sensitivity (solved!)</vt:lpstr>
      <vt:lpstr>Success Story</vt:lpstr>
      <vt:lpstr>Problem 2 – Performance Monitoring</vt:lpstr>
      <vt:lpstr>Problem 3 – Killing those Capacity Murderers</vt:lpstr>
      <vt:lpstr>PowerPoint Presentation</vt:lpstr>
      <vt:lpstr>Problem 4 – IDENTITY()</vt:lpstr>
      <vt:lpstr>Demo Time!</vt:lpstr>
      <vt:lpstr>Don’t forget to connect, thanks for listening!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Meets Programmability</dc:title>
  <dc:creator>Kristyna Hughes</dc:creator>
  <cp:lastModifiedBy>Kristyna Ferris</cp:lastModifiedBy>
  <cp:revision>7</cp:revision>
  <dcterms:created xsi:type="dcterms:W3CDTF">2022-08-06T02:37:56Z</dcterms:created>
  <dcterms:modified xsi:type="dcterms:W3CDTF">2026-07-15T09:54:19Z</dcterms:modified>
</cp:coreProperties>
</file>